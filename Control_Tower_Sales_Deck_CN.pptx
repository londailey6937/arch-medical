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510(k) Bridge 控制塔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88"/>
                </a:solidFill>
                <a:latin typeface="Microsoft YaHei"/>
              </a:defRPr>
            </a:pPr>
            <a:r>
              <a:t>首个专为FDA 510(k)医疗器械开发打造的项目管理平台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18个集成标签页  •  三语支持 (EN / 中文 / 한국어)  •  基于角色的访问控制</a:t>
            </a:r>
            <a:br/>
            <a:r>
              <a:t>21 CFR Part 11审计追踪  •  ISO 14971风险管理  •  FDA Q-Sub自动化</a:t>
            </a:r>
            <a:br/>
            <a:r>
              <a:t>实时云同步  •  7个预配置设备模板  •  3个订阅层级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120640"/>
            <a:ext cx="484632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510(k) Bridge  •  俄勒冈州格雷舍姆  •  www.510kbridge.com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痛点：市场上不存在FDA专用的项目管理平台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B233A"/>
                </a:solidFill>
                <a:latin typeface="Microsoft YaHei"/>
              </a:defRPr>
            </a:pPr>
            <a:r>
              <a:t>为什么行业需要控制塔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医疗器械公司使用通用PM工具（Jira、Asana、Monday.com），对FDA法规完全不了解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法规顾问依赖电子表格、邮件和经验知识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没有现有平台能将技术里程碑与FDA法规门控同步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510(k)提交由于文档混乱（DHF/DMR缺口）平均需要6-9个月的返工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企业平均发送2-3次FDA Q-Sub才被接受——每次周期增加$10K-$25K延迟成本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ISO 14971风险管理在独立文档中跟踪，与项目决策脱节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国际团队（中美、韩美通道）缺乏统一的多语言工作空间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竞争格局差距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Greenlight Guru — 专注QMS，非项目管理；无里程碑/门控跟踪；价格昂贵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MasterControl — 企业级QMS；复杂昂贵（$50K+/年）；无510(k)工作流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Jama Connect — 仅需求管理；无预算、风险矩阵或FDA通讯功能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Arena Solutions (PTC) — 专注PLM/BOM；无法规提交工具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Qualio — 以文档为中心的QMS；无双轨制里程碑，无门控系统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▸ Monday.com / Asana — 通用PM；无任何FDA术语或合规功能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这些平台都不能提供从Pre-Sub到FDA许可的集成510(k)项目生命周期，也没有内置的FDA自动化、三语支持和基于角色的治理。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平台架构：5大分组、17个集成标签页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945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945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1. 双轨制里程碑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2. 门控系统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3. 时间线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4. 行动面板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19456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21945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5. 法规跟踪器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6. 风险看板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7. FDA通讯中心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17. 谓词查找器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18. 指导文件搜索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71600"/>
            <a:ext cx="21945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文档管理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21945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2024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8. 文档控制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9. 审计追踪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71600"/>
            <a:ext cx="219456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财务管理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828800"/>
            <a:ext cx="21945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92024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10. 预算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11. 现金/跑道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12. 美国投资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371600"/>
            <a:ext cx="21945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运营管理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828800"/>
            <a:ext cx="21945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2024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13. 资源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14. 供应商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15. 消息板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1124712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B233A"/>
                </a:solidFill>
                <a:latin typeface="Microsoft YaHei"/>
              </a:defRPr>
            </a:pPr>
            <a:r>
              <a:t>跨平台核心能力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三语 (EN/中文/한국어)  •  基于角色的访问控制 (PMP / 技术 / 商务 / 财务)  •  3个订阅层级 ($500–$2,000/月)  •  7个设备模板  •  Supabase云+离线  •  21 CFR Part 11审计追踪  •  设置向导  •  实时协作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1: 双轨制里程碑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dual-track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技术与法规里程碑并行跟踪——唯一能并排展示两个轨道的平台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技术轨道：设计冻结→原型→台架验证→V&amp;V→设计转移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法规轨道：Pre-Sub Q会议→510(k)准备→提交→预期许可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根据项目周期（通常18-23个月）自动生成时间线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状态循环（未开始→进行中→完成/受阻）并完整记录到审计追踪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每个里程碑可分配所有者（技术、法规或商务），确保责任明确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Jira/Asana有任务板但没有技术+法规同步轨道的概念。Greenlight Guru跟踪QMS文档但不跟踪工程里程碑。没有竞品能将原型测试计划与FDA提交时间线关联。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2: 门控系统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gate-system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数字化阶段门控治理——每个门控有基于清单的审查标准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根据项目长度自动生成2-6个门控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门控决策：通过/不通过/有条件——PMP用时间戳记录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技术和商务团队的利益相关者输入纳入门控决策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门控笔记记录讨论要点、条件和承诺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门控状态随标准完成自动更新（未开始→待审查→已批准→受阻）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Stage-Gate®是众所周知的方法论，但没有SaaS工具为医疗器械实施它。通用PM工具需要手动电子表格门控。控制塔的门控系统直接引用510(k)交付物——例如，'DHF完成？'作为与DHF跟踪器链接的实际门控标准。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3: 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timeline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按月整合的项目视图，显示技术+商务活动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影响指标：中性(|)、警告(⚠)、严重(🔴)用于进度风险标识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从设备模板或向导输入自动生成——即时项目骨架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可编辑事件，团队可修改文本和影响级别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事件与双轨制里程碑关联，实现完整可追溯性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为管理层提供整个510(k)项目生命周期的单页视图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MS Project或Monday.com中的甘特图是通用进度条——它们无法区分FDA里程碑和营销活动。控制塔的时间线专为510(k)项目打造，内置FDA术语和影响标记。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4: 行动面板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action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完整任务板：标题、负责人、优先级(高/中/低)、状态(待办/进行中/完成/受阻)、截止日期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门控关联操作——每个任务可引用特定门控(G1、G2等)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DHF文档跟踪器——21 CFR 820.30设计历史文件文档清单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DMR文档跟踪器——21 CFR 820.181设备主记录（12种文档类型）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CAPA日志——纠正与预防措施，与风险看板的风险关联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一个标签页中四个集成子板块：任务+DHF+DMR+CAPA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Greenlight Guru有DHF跟踪但与项目管理任务隔离。Jira有任务板但没有DHF/DMR/CAPA意识。控制塔独特地将任务管理与FDA文档清单结合，并将CAPA直接链接到风险看板中识别的风险。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5: 法规跟踪器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regulatory-tracker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标准合规仪表板，从设备模板自动填充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跟踪IEC 60601-1、IEC 60601-1-2、ISO 10993、ISO 14971、IEC 62304、21 CFR 820、ISO 13485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条款级跟踪——深入到各子条款(如ISO 10993-5、-10)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每个标准0-100%进度条，含状态循环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证据链接——为每个条款附加文档引用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即时显示哪些标准落后，集中团队精力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Qualio和MasterControl跟踪文档合规但不跟踪标准级进度。没有竞品能根据设备类型自动填充适用标准。团队目前在Excel中维护合规矩阵——控制塔消除了那个电子表格并使其实时化。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6: 风险看板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risk-dashboard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完整的ISO 14971风险管理可视化，含严重性×概率矩阵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颜色编码风险等级：绿色(可接受)→黄色(ALARP)→红色(不可接受)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每个风险字段：严重性、概率、控制措施、残余风险、缓解状态、模块、标准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红色风险警报自动在FDA通讯标签页中触发警告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模板预填充风险(每类设备5-8个——如呼吸设备含EMG特定风险)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点击风险ID打开详细编辑器——所有更改记录到审计追踪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大多数公司在Word文档或独立Excel矩阵中跟踪风险。Greenlight Guru有风险管理但与项目时间线脱钩。控制塔的风险看板将风险与CAPA、门控标准和FDA Pre-Sub问题连接——形成闭环风险系统。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7: FDA通讯中心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fda-comm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PMP独占标签页——FDA互动的神经中枢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Q-Sub封面信生成器——5种类型(Pre-Sub会议、书面问题、受控通信等)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导出问题包——从消息板的Pre-Sub问题线程提取，格式化为FDA包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拒绝接受(RTA)清单——17项自检对照FDA接受标准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MDUFA审查时间线——标准510(k)审查的第1天至第90天里程碑跟踪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实质等效(SE)决策流程图——FDA的SE判定逻辑可视化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没有竞品有此功能。没有现有平台能生成FDA Q-Sub封面信、导出Pre-Sub问题包或提供RTA预检。这是控制塔最强的差异化优势——它自动化了最耗时和最容易出错的法规沟通工作流。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文档管理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8: 文档控制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document-control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ISO 13485对齐的文档生命周期：草稿→审核中→已批准→生效→已废弃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自动生成文档控制编号(DCN-REG-001等)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类别：法规、技术、商务、法律、财务、模板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浏览器本地存储保护知识产权+已批准文档可选同步到服务器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源引用链接(GitHub commit、SVN revision等)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里程碑关联——例如R8里程碑触发DHF文档就绪检查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MasterControl和Qualio是完整QMS平台，费用$50K+/年。控制塔以极低成本提供80%的关键文档控制功能，与项目里程碑紧密集成，而不是作为独立系统存在。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文档管理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9: 审计追踪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audit-trail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符合21 CFR Part 11的不可变活动日志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每次更改均记录：时间戳、用户角色、操作类型、目标、旧值→新值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100+种操作类型(里程碑状态、风险字段、门控决策、文档状态、预算条目等)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关键词搜索和操作类型过滤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导出完整历史记录为CSV/JSON，用于法规提交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自动同步到Supabase后端；离线时本地排队——零数据丢失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这是受监管行业的基本要求，但通用PM工具缺少此功能。Jira的审计日志面向IT而非法规。控制塔的审计追踪专为FDA调查人员和认证机构审核员设计，捕获他们期望的确切字段和格式。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财务管理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10: 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budget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按类别的预算对比实际跟踪——从设备模板预填充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类别：原型与材料、测试、法规与法律、人员等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每类字段：计划金额、实际金额、差异(自动计算)、备注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双币种支持：美元/人民币自动切换(7.25×汇率)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随项目演进添加/编辑/删除类别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所有预算变更记录到审计追踪，确保财务问责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通用PM工具要么完全没有预算功能（Jira），要么提供基本的支出跟踪但没有医疗器械特定的成本类别。控制塔预填充与510(k)开发阶段匹配的预算类别——测试实验室费用、法规顾问费、生物相容性研究费等。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财务管理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11: 现金/跑道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cash-runway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实时财务健康仪表板：现金余额、月度消耗率、跑道(月数)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跑道颜色编码：绿色(&gt;12个月)、黄色(6-12个月)、红色(&lt;6个月)——即时可见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融资轮次跟踪：管线→已承诺→已收到，含金额和日期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按月消耗历史：实际对比计划支出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可视化消耗历史图表，用于董事会演示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对初创企业至关重要——回答'我们的资金能撑到FDA许可吗？'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财务规划工具（QuickBooks、Xero）不将现金跑道与法规里程碑关联。初创仪表板（Carta、Visible）跟踪消耗但对FDA时间线一无所知。控制塔独特地回答了每个医疗器械创始人都会问的问题：'我的钱能撑到510(k)许可吗？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财务管理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12: 美国投资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us-investment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投资者关系管道：潜在→已联系→洽谈中→条款书→已承诺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投资者档案：类型(VC、天使、战略、PE、政府)、阶段匹配、承诺金额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IR活动记录：会议、演示、尽职调查、条款谈判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活动指标和转化率，评估筹资效果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专为进入美国市场的国际医疗器械公司打造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整合原本散落在电子表格和CRM中的投资者跟踪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CRM工具（HubSpot、Salesforce）跟踪投资者联系但没有医疗器械背景。控制塔提供专业的投资者管道，与510(k)项目并排——创始人可以向投资者准确展示他们在法规流程中的位置。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运营管理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13: 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resource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跨工作流的团队分配和利用率监控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工作流分配：技术、法规、商务、财务(+自定义)的百分比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利用率仪表：绿色(&lt;85%)、黄色(85-100%)、红色(&gt;100%)——防止过劳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团队成员档案：姓名、角色、邮箱、简介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内联编辑——点击百分比实时调整分配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所有分配变更记录到审计追踪，确保人力规划透明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ira或Monday.com的资源管理是基于任务小时的，而非工作流百分比。医疗器械团队经常有身兼多职的工程师（技术+法规）。控制塔的分配模型匹配小型设备团队的实际工作方式——一目了然地显示V&amp;V工程师是否在法规文档方面也过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运营管理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14: 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suppliers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供应商资质审核和PO跟踪——符合21 CFR 820供应商控制要求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状态生命周期：审查中→已合格→活跃→暂停→已拒绝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字段：组件/零件号、交期(天)、PO状态、合同制造里程碑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资质标准：ISO 13485/9001认证、测试报告、业务连续性计划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对510(k)至关重要——FDA期望在QMS中有文档化的供应商资质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与项目里程碑关联——当组件交期威胁门控评审时发出提醒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Arena Solutions (PTC)是完整PLM加BOM管理，但费用$1,000+/席位/年。控制塔提供FDA期望的供应商资质跟踪，无需完整PLM的复杂性——完美适合首次用5-15个供应商构建设备的初创企业。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通讯协作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15: 消息板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pic>
        <p:nvPicPr>
          <p:cNvPr id="7" name="Picture 6" descr="message-board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跨职能线程讨论，含决策和行动跟踪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工作流：技术、法规、商务、财务、Pre-Sub问题、其他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意图标签：讨论、决策、通知、升级——每个对话都有目的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[决策]和[行动]消息前缀，确保可追溯性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Pre-Sub问题工作流：协作编写FDA问题→导出到FDA通讯中心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视图：全部线程、我的项目、决策、管理层——按生命周期过滤(打开/已解决)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lack、Teams和电子邮件是医疗器械决策消亡的地方——关键法规决策埋没在没有可追溯性的聊天流中。控制塔的消息板捕获每个决策的角色归属、时间戳，以及生成行动项的能力——然后将Pre-Sub问题直接导出到FDA通讯中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16: 谓词查找器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基于openFDA的独立SaaS工具——搜索200K+已许可的510(k)设备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按产品代码、申请人、设备名称或K编号搜索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实时FDA数据库查询——始终是最新数据，无过时导出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一键选择谓词设备——直接导入您的510(k)项目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每个结果显示决策编号、许可日期、产品代码和声明链接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免费层级访问——即使没有控制塔订阅也可使用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法规团队目前通过笨重的FDA.gov搜索手动查找510(k)数据库。没有竞品将谓词设备搜索直接集成到510(k)工作流中。控制塔的谓词查找器自动化了510(k)最关键的第一步——识别您的谓词设备——并将其直接链接到项目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法规监管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标签页 17: FDA指导文件搜索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Control Tower 控制塔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价值主张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与510(k)提交相关的FDA指导文件可搜索数据库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按设备类型、主题领域、发布日期和草案/最终状态过滤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快速参考摘要——无需阅读100页PDF即可了解指导适用性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链接到官方FDA.gov源文件，便于在提交中引用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指导收藏夹——保存常用参考文件以便快速访问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▸ 根据设备模板和适用标准自动推荐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竞品差距分析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法规专业人员花费数小时在FDA.gov上搜索相关指导文件。没有竞品平台在项目上下文中索引或呈现FDA指导。控制塔将指导发现置于需要的工作流中——消除了减慢法规策略的标签页切换和手动搜索。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跨平台功能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利益相关者输入与变更请求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9688"/>
                </a:solidFill>
                <a:latin typeface="Microsoft YaHei"/>
              </a:defRPr>
            </a:pPr>
            <a:r>
              <a:t>利益相关者输入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每个门控系统页面上的浮动📥按钮——打开侧面板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技术和商务利益相关者按门控提交结构化输入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字段：门控选择、输入类型(技术/商务/风险/资源/其他)、自由文本备注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PMP在门控详情视图中查看所有提交——按贡献者组织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输入直接纳入门控决策——无需翻找邮件/Slack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确保在门控评审前捕获跨职能意见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9688"/>
                </a:solidFill>
                <a:latin typeface="Microsoft YaHei"/>
              </a:defRPr>
            </a:pPr>
            <a:r>
              <a:t>变更请求工作流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非PMP团队成员可通过结构化变更请求表请求变更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涵盖：里程碑日期、预算调整、风险重新评估、资源重新分配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PMP审查并批准/拒绝，带时间戳、理由和审计追踪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防止未经授权的变更，同时保持团队敏捷性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每个请求和决策都记录在21 CFR Part 11审计追踪中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平衡治理与速度——对受监管产品开发至关重要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846320"/>
            <a:ext cx="11612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为什么重要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没有竞品提供绑定到阶段门控决策的结构化利益相关者输入。在通用PM工具中，利益相关者反馈分散在评论、邮件和会议中，没有可追溯性。控制塔确保每个声音都被听到，每个变更都受治理，每个决策都有审计日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跨平台功能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QMS-Lite 初创企业质量管理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文档控制 (ISO 13485 §4.2.4)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280160"/>
            <a:ext cx="59436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标签页8：文档控制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19072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风险管理 (ISO 14971)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19072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7647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标签页6：风险看板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57984"/>
            <a:ext cx="5029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03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设计与开发控制 (21 CFR 820.30)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157984"/>
            <a:ext cx="59436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20370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标签页1-4：里程碑+行动项+DHF/DMR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CAPA (21 CFR 820.198)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596896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6426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标签页4：行动面板——CAPA日志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35808"/>
            <a:ext cx="5029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81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供应商控制 (21 CFR 820.50)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035808"/>
            <a:ext cx="59436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0815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标签页15：供应商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20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审计追踪 (21 CFR Part 11)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474720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3520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标签页9：审计追踪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13632"/>
            <a:ext cx="5029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59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管理评审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3913632"/>
            <a:ext cx="59436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39593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标签页2：门控系统——门控决策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52544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982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培训记录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4352544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439826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标签页14：资源——团队资质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91456"/>
            <a:ext cx="5029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37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法规提交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4791456"/>
            <a:ext cx="59436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48371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→ 标签页7：FDA通讯中心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03520"/>
            <a:ext cx="116128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33A"/>
                </a:solidFill>
                <a:latin typeface="Microsoft YaHei"/>
              </a:defRPr>
            </a:pPr>
            <a:r>
              <a:t>以初创企业友好的价格获得80% QMS覆盖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初创企业不需要Greenlight Guru ($30K+/年)或MasterControl ($50K+/年)来证明QMS就绪性。控制塔将9个核心QMS要求映射到现有标签页——以极低成本为初创企业提供80% QMS解决方案。非常适合准备首次FDA提交的种子轮公司。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跨平台功能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通知、警报与高管报告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510(k)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9688"/>
                </a:solidFill>
                <a:latin typeface="Microsoft YaHei"/>
              </a:defRPr>
            </a:pPr>
            <a:r>
              <a:t>智能通知与警报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通知栏含5种警报类型：逾期里程碑、门控评审到期、高优先级行动项、预算偏差和红色风险警报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通知铃铛上的徽章计数——一目了然查看未读警报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点击导航：每个警报直接链接到相关标签页和记录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按用户角色可配置的通知偏好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主动警报防止错过截止日期和门控延迟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9688"/>
                </a:solidFill>
                <a:latin typeface="Microsoft YaHei"/>
              </a:defRPr>
            </a:pPr>
            <a:r>
              <a:t>导出报告与就绪性护栏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一键高管报告——整个项目状态的综合HTML导出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涵盖：里程碑进度、门控状态、风险摘要、预算偏差、团队利用率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专业格式，可直接用于董事会演示或投资者更新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包含法规就绪性护栏：3面板系统含11项自动检查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检查项：SE论证强度、性能数据完整性、生物相容性状态、软件文档(IEC 62304)、21 CFR 820设计控制等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自动生成护栏评分，为团队提供提交前信心评级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846320"/>
            <a:ext cx="11612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为什么重要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通用PM工具有基本通知但零法规感知。控制塔的警报具备FDA上下文感知——它知道门控评审何时逾期、红色风险何时缺少缓解措施、Pre-Sub截止日期何时临近。导出报告取代了每月消耗4-8小时的手动PowerPoint状态报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设置向导与7个预配置设备模板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🫁 呼吸设备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呼吸机、CPAP、雾化器</a:t>
            </a:r>
            <a:br/>
            <a:r>
              <a:t>产品代码：BZD, CBK, BTT, 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71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❤️ 心血管设备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心电监护仪、血压设备、支架</a:t>
            </a:r>
            <a:br/>
            <a:r>
              <a:t>产品代码：DRX, DXH, MHX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🦴 骨科设备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关节植入物、器械、</a:t>
            </a:r>
            <a:br/>
            <a:r>
              <a:t>固定装置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371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🧪 IVD体外诊断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74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体外诊断、检测试剂、</a:t>
            </a:r>
            <a:br/>
            <a:r>
              <a:t>分析仪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49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📷 影像设备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X射线、超声波、</a:t>
            </a:r>
            <a:br/>
            <a:r>
              <a:t>MRI附件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657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749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♿ 康复设备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治疗设备、</a:t>
            </a:r>
            <a:br/>
            <a:r>
              <a:t>移动辅助器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49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33A"/>
                </a:solidFill>
                <a:latin typeface="Microsoft YaHei"/>
              </a:defRPr>
            </a:pPr>
            <a:r>
              <a:t>💻 SaMD软件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作为医疗器械的软件</a:t>
            </a:r>
            <a:br/>
            <a:r>
              <a:t>(IEC 62304生命周期)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Microsoft YaHei"/>
              </a:defRPr>
            </a:pPr>
            <a:r>
              <a:t>包含：</a:t>
            </a:r>
            <a:br/>
            <a:r>
              <a:t>• 预填充的风险与标准</a:t>
            </a:r>
            <a:br/>
            <a:r>
              <a:t>• 预算类别</a:t>
            </a:r>
            <a:br/>
            <a:r>
              <a:t>• 时间线与里程碑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每个模板自动填充风险、标准、预算类别、里程碑和时间线——团队在创建项目后几分钟内即可高效工作，而非数周。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基于角色的访问与订阅层级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PMP (项目经理)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53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完全访问所有17个标签页；FDA通讯独占权限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20"/>
            <a:ext cx="22860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47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技术/法规标签页、风险、文档、行动项、资源、消息板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商务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商务里程碑、预算、投资、消息板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228600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36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财务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36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预算、现金/跑道（有限编辑）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233A"/>
                </a:solidFill>
                <a:latin typeface="Microsoft YaHei"/>
              </a:defRPr>
            </a:pPr>
            <a:r>
              <a:t>订阅层级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320040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入门版 — $500/月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2个席位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双轨制、门控、时间线、预算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32004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成长版 — $1,000/月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5个席位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除FDA通讯、美国投资外全部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3200400" cy="5486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规模版 — $2,000/月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10个席位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全部17个标签页含 FDA通讯 + 谓词查找器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竞品对比：控制塔 vs. 替代方案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286000" cy="548640"/>
          </a:xfrm>
          <a:prstGeom prst="rect">
            <a:avLst/>
          </a:prstGeom>
          <a:solidFill>
            <a:srgbClr val="0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88720"/>
            <a:ext cx="164592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216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控制塔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1371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161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Microsoft YaHei"/>
              </a:defRPr>
            </a:pPr>
            <a:r>
              <a:t>Greenlight</a:t>
            </a:r>
            <a:br/>
            <a:r>
              <a:t>Guru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88720"/>
            <a:ext cx="1371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2161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Microsoft YaHei"/>
              </a:defRPr>
            </a:pPr>
            <a:r>
              <a:t>Master</a:t>
            </a:r>
            <a:br/>
            <a: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188720"/>
            <a:ext cx="1371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2161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Microsoft YaHei"/>
              </a:defRPr>
            </a:pPr>
            <a:r>
              <a:t>Jama</a:t>
            </a:r>
            <a:br/>
            <a:r>
              <a:t>Connect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8872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21615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Microsoft YaHei"/>
              </a:defRPr>
            </a:pPr>
            <a:r>
              <a:t>Qualio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188720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216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Microsoft YaHei"/>
              </a:defRPr>
            </a:pPr>
            <a:r>
              <a:t>Monday.com</a:t>
            </a:r>
            <a:br/>
            <a:r>
              <a:t>/ Asana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37360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55648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双轨制里程碑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737360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75564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73736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75564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73736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75564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73736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75564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737360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75564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737360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75564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039112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阶段门控系统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039112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205740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203911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205740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203911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205740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03911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205740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039112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2039112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205740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40864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359152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FDA Q-Sub生成器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2340864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88920" y="235915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34086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235915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34086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06440" y="235915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234086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235915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340864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235915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2340864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235915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2642616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2660904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RTA预检查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2642616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8920" y="266090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264261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266090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264261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06440" y="266090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264261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8040" y="266090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20" y="2642616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9640" y="266090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92640" y="2642616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38360" y="266090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2944368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2962656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谓词查找器 (openFDA)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2944368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8920" y="296265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294436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34840" y="29626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60720" y="294436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06440" y="29626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320" y="294436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78040" y="29626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2944368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9640" y="296265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92640" y="2944368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38360" y="296265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3246120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3264408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FDA指导文件搜索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0" y="3246120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88920" y="326440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89120" y="324612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34840" y="326440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324612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6440" y="326440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32320" y="324612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78040" y="326440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03920" y="3246120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9640" y="326440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92640" y="3246120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38360" y="326440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3547872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3566160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ISO 14971风险看板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0" y="3547872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88920" y="356616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0" y="3547872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34840" y="356616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760720" y="3547872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06440" y="356616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32320" y="3547872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78040" y="356616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03920" y="3547872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49640" y="356616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92640" y="3547872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738360" y="356616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3849624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2920" y="3867912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DHF/DMR跟踪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0" y="3849624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88920" y="3867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389120" y="3849624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434840" y="3867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760720" y="3849624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06440" y="3867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32320" y="3849624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178040" y="3867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503920" y="3849624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549640" y="386791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92640" y="3849624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738360" y="3867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4151376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2920" y="4169664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CAPA管理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43200" y="4151376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788920" y="416966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89120" y="4151376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34840" y="416966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760720" y="4151376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806440" y="416966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132320" y="4151376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178040" y="416966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03920" y="4151376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49640" y="416966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92640" y="4151376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738360" y="416966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4453128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2920" y="4471416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利益相关者门控输入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43200" y="4453128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88920" y="447141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389120" y="4453128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434840" y="447141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760720" y="4453128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806440" y="447141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32320" y="4453128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178040" y="447141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503920" y="4453128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549640" y="447141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692640" y="4453128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738360" y="447141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57200" y="4754880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02920" y="4773168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预算与现金跑道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0" y="4754880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788920" y="477316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389120" y="475488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434840" y="477316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60720" y="475488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06440" y="477316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132320" y="4754880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178040" y="477316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503920" y="4754880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549640" y="477316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692640" y="4754880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738360" y="477316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57200" y="5056632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02920" y="5074920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投资者管道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0" y="5056632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788920" y="507492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389120" y="505663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434840" y="507492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760720" y="505663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806440" y="507492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132320" y="5056632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178040" y="507492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503920" y="5056632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549640" y="507492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692640" y="5056632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738360" y="507492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57200" y="5358384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02920" y="5376672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QMS-Lite (9项要求)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0" y="5358384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788920" y="53766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389120" y="535838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434840" y="537667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760720" y="535838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806440" y="537667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132320" y="5358384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178040" y="537667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503920" y="5358384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549640" y="537667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692640" y="5358384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738360" y="53766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5660136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02920" y="5678424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三语 (EN/中文/한국어)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743200" y="5660136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788920" y="567842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389120" y="566013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434840" y="567842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760720" y="566013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806440" y="567842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132320" y="5660136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178040" y="567842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503920" y="5660136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549640" y="567842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692640" y="5660136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738360" y="567842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57200" y="5961888"/>
            <a:ext cx="2286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502920" y="5980176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21 CFR Part 11审计追踪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743200" y="5961888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788920" y="598017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389120" y="596188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434840" y="598017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760720" y="596188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806440" y="598017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132320" y="5961888"/>
            <a:ext cx="1371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178040" y="598017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⚠️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503920" y="5961888"/>
            <a:ext cx="1188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549640" y="598017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692640" y="5961888"/>
            <a:ext cx="16459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738360" y="598017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3E3E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57200" y="6263640"/>
            <a:ext cx="22860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02920" y="6281928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起价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743200" y="6263640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788920" y="628192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$500/月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389120" y="626364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434840" y="628192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~$1K/月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760720" y="626364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806440" y="628192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~$4K/月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132320" y="6263640"/>
            <a:ext cx="137160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178040" y="628192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~$3K/月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03920" y="6263640"/>
            <a:ext cx="11887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49640" y="628192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~$1K/月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692640" y="6263640"/>
            <a:ext cx="1645920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738360" y="628192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$10/席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为什么选择控制塔？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唯一专为FDA 510(k)医疗器械开发打造的平台。</a:t>
            </a:r>
            <a:br/>
            <a:br/>
            <a:r>
              <a:t>✓  替代6+个独立工具（PM、QMS、风险、财务、投资、通讯）</a:t>
            </a:r>
            <a:br/>
            <a:r>
              <a:t>✓  18个集成标签页，包括谓词查找器和FDA指导文件搜索</a:t>
            </a:r>
            <a:br/>
            <a:r>
              <a:t>✓  自动化FDA Q-Sub生成、RTA预检查和MDUFA时间线跟踪</a:t>
            </a:r>
            <a:br/>
            <a:r>
              <a:t>✓  利益相关者输入、变更请求与法规就绪性护栏</a:t>
            </a:r>
            <a:br/>
            <a:r>
              <a:t>✓  QMS-Lite映射9项核心质量要求——以初创企业价格获得80% QMS</a:t>
            </a:r>
            <a:br/>
            <a:r>
              <a:t>✓  三语支持，服务中美和韩美市场通道</a:t>
            </a:r>
            <a:br/>
            <a:r>
              <a:t>✓  从第一天起具备21 CFR Part 11审计追踪  •  7个设备模板</a:t>
            </a:r>
            <a:br/>
            <a:r>
              <a:t>✓  起价$500/月——比企业QMS平台便宜10倍</a:t>
            </a:r>
            <a:br/>
            <a:br/>
            <a:r>
              <a:t>从Pre-Submission到FDA许可——一个平台，一个团队，一个真实来源。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5669280"/>
            <a:ext cx="484632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97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88"/>
                </a:solidFill>
                <a:latin typeface="Microsoft YaHei"/>
              </a:defRPr>
            </a:pPr>
            <a:r>
              <a:t>510(k) Bridge  •  俄勒冈州格雷舍姆  •  www.510kbridge.com</a:t>
            </a:r>
            <a:br/>
            <a:r>
              <a:t>预约演示  •  info@510kbridge.com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