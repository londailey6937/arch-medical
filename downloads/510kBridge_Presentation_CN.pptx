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38BDF8"/>
                </a:solidFill>
                <a:latin typeface="Calibri"/>
              </a:defRPr>
            </a:pPr>
            <a:r>
              <a:t>510k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中国医疗器械企业</a:t>
            </a:r>
            <a:br/>
            <a:r>
              <a:t>FDA 510(k) 通道管理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Pilot Software LLC（DBA 510k Bridge）· 俄勒冈州 &amp; 上海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Calibri"/>
              </a:defRPr>
            </a:pPr>
            <a:r>
              <a:t>行业挑战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CC"/>
                </a:solidFill>
                <a:latin typeface="Calibri"/>
              </a:defRPr>
            </a:pPr>
            <a:r>
              <a:t>为什么医疗器械企业需要专业的510(k)合作伙伴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3657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🏛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法规复杂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FDA 510(k)流程涉及17+审查标准、100+指导文件和严格的时间要求。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828800"/>
            <a:ext cx="3474720" cy="3657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🌏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跨境复杂性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国际企业需要完成美国实体注册、FDA注册、美国代理人要求和标签合规。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828800"/>
            <a:ext cx="3474720" cy="3657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⏱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时间压力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510(k)平均审查时间130+天。Pre-Sub、RTA筛查或AI/SI问题的延迟可能增加数月。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Calibri"/>
              </a:defRPr>
            </a:pPr>
            <a:r>
              <a:t>如何运作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CC"/>
                </a:solidFill>
                <a:latin typeface="Calibri"/>
              </a:defRPr>
            </a:pPr>
            <a:r>
              <a:t>从初次通话到FDA许可的三个步骤</a:t>
            </a:r>
          </a:p>
        </p:txBody>
      </p:sp>
      <p:sp>
        <p:nvSpPr>
          <p:cNvPr id="4" name="Oval 3"/>
          <p:cNvSpPr/>
          <p:nvPr/>
        </p:nvSpPr>
        <p:spPr>
          <a:xfrm>
            <a:off x="2011680" y="2011680"/>
            <a:ext cx="914400" cy="9144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预约咨询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免费30分钟咨询，评估您的器械、等效器械策略和时间表。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194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5760719" y="2011680"/>
            <a:ext cx="914400" cy="9144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3200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启动 Control Tower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74903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我们为您搭建双语仪表盘，规划里程碑，启动双轨计划。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2194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9509760" y="2011680"/>
            <a:ext cx="914400" cy="9144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200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提交并获得510(k)许可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74903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我们管理每个关卡、文件和FDA互动，直至获得许可。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Calibri"/>
              </a:defRPr>
            </a:pPr>
            <a:r>
              <a:t>服务与定价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474720" cy="24688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📊  Control Tower SaaS</a:t>
            </a:r>
          </a:p>
          <a:p>
            <a:pPr>
              <a:spcBef>
                <a:spcPts val="400"/>
              </a:spcBef>
              <a:defRPr sz="1400" b="1">
                <a:solidFill>
                  <a:srgbClr val="FBBF24"/>
                </a:solidFill>
                <a:latin typeface="Calibri"/>
              </a:defRPr>
            </a:pPr>
            <a:r>
              <a:t>每月$500起</a:t>
            </a:r>
          </a:p>
          <a:p>
            <a:pPr>
              <a:spcBef>
                <a:spcPts val="600"/>
              </a:spcBef>
              <a:defRPr sz="1000">
                <a:solidFill>
                  <a:srgbClr val="BBBBCC"/>
                </a:solidFill>
                <a:latin typeface="Calibri"/>
              </a:defRPr>
            </a:pPr>
            <a:r>
              <a:t>专属仪表盘、双语向导、双轨跟踪、文档管控、实时消息、风险与预算监控。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79" y="1280160"/>
            <a:ext cx="3474720" cy="24688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🏗️  QMS-Lite 轻量版</a:t>
            </a:r>
          </a:p>
          <a:p>
            <a:pPr>
              <a:spcBef>
                <a:spcPts val="400"/>
              </a:spcBef>
              <a:defRPr sz="1400" b="1">
                <a:solidFill>
                  <a:srgbClr val="FBBF24"/>
                </a:solidFill>
                <a:latin typeface="Calibri"/>
              </a:defRPr>
            </a:pPr>
            <a:r>
              <a:t>$200–500/月</a:t>
            </a:r>
          </a:p>
          <a:p>
            <a:pPr>
              <a:spcBef>
                <a:spcPts val="600"/>
              </a:spcBef>
              <a:defRPr sz="1000">
                <a:solidFill>
                  <a:srgbClr val="BBBBCC"/>
                </a:solidFill>
                <a:latin typeface="Calibri"/>
              </a:defRPr>
            </a:pPr>
            <a:r>
              <a:t>符合21 CFR 820和ISO 13485的轻量级QMS。文档控制、CAPA、培训、供应商资质。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280160"/>
            <a:ext cx="3474720" cy="24688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🔍  等效器械查找器</a:t>
            </a:r>
          </a:p>
          <a:p>
            <a:pPr>
              <a:spcBef>
                <a:spcPts val="400"/>
              </a:spcBef>
              <a:defRPr sz="1400" b="1">
                <a:solidFill>
                  <a:srgbClr val="FBBF24"/>
                </a:solidFill>
                <a:latin typeface="Calibri"/>
              </a:defRPr>
            </a:pPr>
            <a:r>
              <a:t>服务包含</a:t>
            </a:r>
          </a:p>
          <a:p>
            <a:pPr>
              <a:spcBef>
                <a:spcPts val="600"/>
              </a:spcBef>
              <a:defRPr sz="1000">
                <a:solidFill>
                  <a:srgbClr val="BBBBCC"/>
                </a:solidFill>
                <a:latin typeface="Calibri"/>
              </a:defRPr>
            </a:pPr>
            <a:r>
              <a:t>AI驱动的openFDA搜索，查找等效器械，实质性等效分析，对比报告。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023360"/>
            <a:ext cx="3474720" cy="24688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⭐  专业项目管理</a:t>
            </a:r>
          </a:p>
          <a:p>
            <a:pPr>
              <a:spcBef>
                <a:spcPts val="400"/>
              </a:spcBef>
              <a:defRPr sz="1400" b="1">
                <a:solidFill>
                  <a:srgbClr val="FBBF24"/>
                </a:solidFill>
                <a:latin typeface="Calibri"/>
              </a:defRPr>
            </a:pPr>
            <a:r>
              <a:t>$10,000–25,000/月</a:t>
            </a:r>
          </a:p>
          <a:p>
            <a:pPr>
              <a:spcBef>
                <a:spcPts val="600"/>
              </a:spcBef>
              <a:defRPr sz="1000">
                <a:solidFill>
                  <a:srgbClr val="BBBBCC"/>
                </a:solidFill>
                <a:latin typeface="Calibri"/>
              </a:defRPr>
            </a:pPr>
            <a:r>
              <a:t>专属PMP项目经理、FDA通信中心、美国代理人、关门评审、法规提交监督。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4023360"/>
            <a:ext cx="3474720" cy="24688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🏛  跨境实体设立追踪器</a:t>
            </a:r>
          </a:p>
          <a:p>
            <a:pPr>
              <a:spcBef>
                <a:spcPts val="400"/>
              </a:spcBef>
              <a:defRPr sz="1400" b="1">
                <a:solidFill>
                  <a:srgbClr val="FBBF24"/>
                </a:solidFill>
                <a:latin typeface="Calibri"/>
              </a:defRPr>
            </a:pPr>
            <a:r>
              <a:t>$1K–5K</a:t>
            </a:r>
          </a:p>
          <a:p>
            <a:pPr>
              <a:spcBef>
                <a:spcPts val="600"/>
              </a:spcBef>
              <a:defRPr sz="1000">
                <a:solidFill>
                  <a:srgbClr val="BBBBCC"/>
                </a:solidFill>
                <a:latin typeface="Calibri"/>
              </a:defRPr>
            </a:pPr>
            <a:r>
              <a:t>特拉华C-Corp、俄勒冈登记、EIN、银行账户、FDA机构注册、美国代理人合规。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4023360"/>
            <a:ext cx="3474720" cy="24688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🚀  企业级</a:t>
            </a:r>
          </a:p>
          <a:p>
            <a:pPr>
              <a:spcBef>
                <a:spcPts val="400"/>
              </a:spcBef>
              <a:defRPr sz="1400" b="1">
                <a:solidFill>
                  <a:srgbClr val="FBBF24"/>
                </a:solidFill>
                <a:latin typeface="Calibri"/>
              </a:defRPr>
            </a:pPr>
            <a:r>
              <a:t>项目定价</a:t>
            </a:r>
          </a:p>
          <a:p>
            <a:pPr>
              <a:spcBef>
                <a:spcPts val="600"/>
              </a:spcBef>
              <a:defRPr sz="1000">
                <a:solidFill>
                  <a:srgbClr val="BBBBCC"/>
                </a:solidFill>
                <a:latin typeface="Calibri"/>
              </a:defRPr>
            </a:pPr>
            <a:r>
              <a:t>全套服务：法规策略、17项RTA自检、SE流程图、美国实体成立、510(k)全流程管理。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Calibri"/>
              </a:defRPr>
            </a:pPr>
            <a:r>
              <a:t>深入了解 Control Tower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CC"/>
                </a:solidFill>
                <a:latin typeface="Calibri"/>
              </a:defRPr>
            </a:pPr>
            <a:r>
              <a:t>16个标签仪表盘管理FDA之旅的每一个方面</a:t>
            </a:r>
          </a:p>
        </p:txBody>
      </p:sp>
      <p:pic>
        <p:nvPicPr>
          <p:cNvPr id="4" name="Picture 3" descr="dual-track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9418320" cy="5886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Calibri"/>
              </a:defRPr>
            </a:pPr>
            <a:r>
              <a:t>深入了解 Control Tower — 核心跟踪</a:t>
            </a:r>
          </a:p>
        </p:txBody>
      </p:sp>
      <p:pic>
        <p:nvPicPr>
          <p:cNvPr id="3" name="Picture 2" descr="dual-track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3566160" cy="2228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双轨道仪表盘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技术和法规里程碑并排跟踪。</a:t>
            </a:r>
          </a:p>
        </p:txBody>
      </p:sp>
      <p:pic>
        <p:nvPicPr>
          <p:cNvPr id="6" name="Picture 5" descr="gate-system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63040"/>
            <a:ext cx="3566160" cy="2228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门控系统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带标准清单的阶段门控评审和通过/不通过决定。</a:t>
            </a:r>
          </a:p>
        </p:txBody>
      </p:sp>
      <p:pic>
        <p:nvPicPr>
          <p:cNvPr id="9" name="Picture 8" descr="risk-dashboard-c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63040"/>
            <a:ext cx="3566160" cy="2228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风险仪表盘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ISO 14971风险矩阵，含严重性、概率和颜色编码。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Calibri"/>
              </a:defRPr>
            </a:pPr>
            <a:r>
              <a:t>深入了解 Control Tower — 文档与合规</a:t>
            </a:r>
          </a:p>
        </p:txBody>
      </p:sp>
      <p:pic>
        <p:nvPicPr>
          <p:cNvPr id="3" name="Picture 2" descr="document-control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3566160" cy="2228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文档控制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符合ISO 13485的生命周期跟踪，含版本历史和审计追溯。</a:t>
            </a:r>
          </a:p>
        </p:txBody>
      </p:sp>
      <p:pic>
        <p:nvPicPr>
          <p:cNvPr id="6" name="Picture 5" descr="audit-trail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63040"/>
            <a:ext cx="3566160" cy="2228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审计追踪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符合21 CFR Part 11——每次更改都有时间戳和详细记录。</a:t>
            </a:r>
          </a:p>
        </p:txBody>
      </p:sp>
      <p:pic>
        <p:nvPicPr>
          <p:cNvPr id="9" name="Picture 8" descr="fda-comms-c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63040"/>
            <a:ext cx="3566160" cy="2228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FDA通讯中心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Q-Sub附信、17项RTA自检、MDUFA时间线、SE流程图。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Calibri"/>
              </a:defRPr>
            </a:pPr>
            <a:r>
              <a:t>深入了解 Control Tower — 运营与财务</a:t>
            </a:r>
          </a:p>
        </p:txBody>
      </p:sp>
      <p:pic>
        <p:nvPicPr>
          <p:cNvPr id="3" name="Picture 2" descr="budget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3566160" cy="2228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预算跟踪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按类别的计划与实际支出及自动差异计算。</a:t>
            </a:r>
          </a:p>
        </p:txBody>
      </p:sp>
      <p:pic>
        <p:nvPicPr>
          <p:cNvPr id="6" name="Picture 5" descr="cash-runway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63040"/>
            <a:ext cx="3566160" cy="2228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资金 / 跑道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燃烧率分析、跑道预测和融资里程碑跟踪。</a:t>
            </a:r>
          </a:p>
        </p:txBody>
      </p:sp>
      <p:pic>
        <p:nvPicPr>
          <p:cNvPr id="9" name="Picture 8" descr="timeline-c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63040"/>
            <a:ext cx="3566160" cy="2228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时间线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甘特图风格的项目时间线，含里程碑和关键路径。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Calibri"/>
              </a:defRPr>
            </a:pPr>
            <a:r>
              <a:t>深入了解 Control Tower — 团队与协作</a:t>
            </a:r>
          </a:p>
        </p:txBody>
      </p:sp>
      <p:pic>
        <p:nvPicPr>
          <p:cNvPr id="3" name="Picture 2" descr="message-board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3566160" cy="2228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消息中心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目标驱动的消息系统，与决策和行动紧密结合。</a:t>
            </a:r>
          </a:p>
        </p:txBody>
      </p:sp>
      <p:pic>
        <p:nvPicPr>
          <p:cNvPr id="6" name="Picture 5" descr="actions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63040"/>
            <a:ext cx="3566160" cy="2228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行动项 / DHF / CAPA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任务板、设计历史文件和纠正预防措施日志。</a:t>
            </a:r>
          </a:p>
        </p:txBody>
      </p:sp>
      <p:pic>
        <p:nvPicPr>
          <p:cNvPr id="9" name="Picture 8" descr="suppliers-c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63040"/>
            <a:ext cx="3566160" cy="2228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供应商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供应商资质、评估评分和文档跟踪。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Calibri"/>
              </a:defRPr>
            </a:pPr>
            <a:r>
              <a:t>独立工具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CC"/>
                </a:solidFill>
                <a:latin typeface="Calibri"/>
              </a:defRPr>
            </a:pPr>
            <a:r>
              <a:t>每次合作都包含强大的研究工具</a:t>
            </a:r>
          </a:p>
        </p:txBody>
      </p:sp>
      <p:pic>
        <p:nvPicPr>
          <p:cNvPr id="4" name="Picture 3" descr="predicate-fi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566160" cy="2228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069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510(k) 等效器械查找器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434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搜索FDA openFDA数据库，AI驱动的实质性等效分析。</a:t>
            </a:r>
          </a:p>
        </p:txBody>
      </p:sp>
      <p:pic>
        <p:nvPicPr>
          <p:cNvPr id="7" name="Picture 6" descr="guidance-d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828800"/>
            <a:ext cx="3566160" cy="2228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0" y="4069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FDA指导文件搜索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43434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搜索600+ CDRH指导文件——按主题、状态、年份筛选。</a:t>
            </a:r>
          </a:p>
        </p:txBody>
      </p:sp>
      <p:pic>
        <p:nvPicPr>
          <p:cNvPr id="10" name="Picture 9" descr="document-control-c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828800"/>
            <a:ext cx="3566160" cy="22288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0" y="4069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QMS-Lite 轻量版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3434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符合21 CFR 820和ISO 13485的轻量级质量管理系统。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Calibri"/>
              </a:defRPr>
            </a:pPr>
            <a:r>
              <a:t>平台亮点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303520" cy="21945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🧙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三语设置向导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9步向导预填充整个项目——英文、中文或韩文。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463040"/>
            <a:ext cx="5303520" cy="21945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🏛️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FDA通信中心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Q-Sub自动化、RTA自检、MDUFA跟踪、SE流程图。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303520" cy="21945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📋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RTA与DHF就绪评估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从DHF和标准跟踪器实时评估就绪状态。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023360"/>
            <a:ext cx="5303520" cy="21945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🌐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跨境实体设立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美国市场准入——特拉华C-Corp、EIN、银行、FDA注册。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Calibri"/>
              </a:defRPr>
            </a:pPr>
            <a:r>
              <a:t>免费资源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645920"/>
            <a:ext cx="2651760" cy="32004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📘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FDA 510(k)通道指南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逐步美国市场准入指南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645920"/>
            <a:ext cx="2651760" cy="32004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📋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服务概览单页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平台和功能一页概览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651760" cy="32004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🎓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PMP课程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免费项目管理课程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645920"/>
            <a:ext cx="2651760" cy="32004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💰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投资融资指南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条款清单、融资轮次、510(k) Bridge策略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Calibri"/>
              </a:defRPr>
            </a:pPr>
            <a:r>
              <a:t>联系我们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CC"/>
                </a:solidFill>
                <a:latin typeface="Calibri"/>
              </a:defRPr>
            </a:pPr>
            <a:r>
              <a:t>预约免费30分钟咨询，讨论您的FDA通道。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3474720"/>
            <a:ext cx="5760720" cy="25603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0" lIns="304800"/>
          <a:lstStyle/>
          <a:p>
            <a:pPr algn="ctr">
              <a:spcBef>
                <a:spcPts val="8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📧  info@510kbridge.com</a:t>
            </a:r>
          </a:p>
          <a:p>
            <a:pPr algn="ctr">
              <a:spcBef>
                <a:spcPts val="8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🌐  510kbridge.com</a:t>
            </a:r>
          </a:p>
          <a:p>
            <a:pPr algn="ctr">
              <a:spcBef>
                <a:spcPts val="8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📍  俄勒冈州，美国 — 服务中国、韩国和美国客户</a:t>
            </a:r>
          </a:p>
          <a:p>
            <a:pPr algn="ctr">
              <a:spcBef>
                <a:spcPts val="8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800"/>
              </a:spcBef>
              <a:defRPr sz="2200" b="1">
                <a:solidFill>
                  <a:srgbClr val="38BDF8"/>
                </a:solidFill>
                <a:latin typeface="Calibri"/>
              </a:defRPr>
            </a:pPr>
            <a:r>
              <a:t>预约咨询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