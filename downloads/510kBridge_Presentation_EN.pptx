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38BDF8"/>
                </a:solidFill>
                <a:latin typeface="Calibri"/>
              </a:defRPr>
            </a:pPr>
            <a:r>
              <a:t>510k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FDA 510(k) Pathway Management</a:t>
            </a:r>
            <a:br/>
            <a:r>
              <a:t>for Medical Device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Pilot Software LLC dba 510k Bridge · Oregon, 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Why medical device companies need a dedicated 510(k)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🏛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Complex Regulation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The FDA 510(k) process involves 17+ review criteria, 100+ guidance documents, and strict timeline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82880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🌏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Cross-Border Complexity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International companies must navigate US entity formation, FDA registration, US Agent requirements, and labeling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474720" cy="3657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⏱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Timeline Pressure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Average 510(k) review takes 130+ days. Delays in Pre-Sub, RTA screening, or AI/SI questions can add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Three steps from first call to FDA clearance</a:t>
            </a:r>
          </a:p>
        </p:txBody>
      </p:sp>
      <p:sp>
        <p:nvSpPr>
          <p:cNvPr id="4" name="Oval 3"/>
          <p:cNvSpPr/>
          <p:nvPr/>
        </p:nvSpPr>
        <p:spPr>
          <a:xfrm>
            <a:off x="2011680" y="2011680"/>
            <a:ext cx="914400" cy="9144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Schedule a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Free 30-minute consultation to assess your device, predicate strategy, and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5760719" y="2011680"/>
            <a:ext cx="914400" cy="9144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Launch Control Tower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7490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We set up your tri-lingual dashboard, map milestones, and kick off the dual-track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194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0" y="2011680"/>
            <a:ext cx="914400" cy="9144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Submit &amp; Clear 510(k)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7490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We manage every gate, document, and FDA interaction through to clearance.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Services &amp; Pricing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 Control Tower SaaS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From $500/mo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Dedicated dashboard, tri-lingual wizard, dual-track tracking, document control, real-time messaging, risk &amp; budget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2801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🏗️  QMS-Lite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$200–500/mo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Lightweight QMS aligned to 21 CFR 820 &amp; ISO 13485. Document control, CAPA, training, supplier qualification.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2801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 Predicate Finder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Included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AI-powered openFDA search for predicate devices, substantial equivalence analysis, comparison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⭐  Professional PM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$10–25K/mo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Dedicated PMP manager, FDA Communications Center, US Agent, gate reviews, regulatory submission oversight.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40233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🏛  Entity Setup Tracker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$1K–5K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Delaware C-Corp, Oregon registration, EIN, bank account, FDA establishment, US Agent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4023360"/>
            <a:ext cx="3474720" cy="24688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 rIns="1524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🚀  Enterprise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Project-based</a:t>
            </a:r>
          </a:p>
          <a:p>
            <a:pPr>
              <a:spcBef>
                <a:spcPts val="600"/>
              </a:spcBef>
              <a:defRPr sz="1000">
                <a:solidFill>
                  <a:srgbClr val="BBBBCC"/>
                </a:solidFill>
                <a:latin typeface="Calibri"/>
              </a:defRPr>
            </a:pPr>
            <a:r>
              <a:t>Full service: regulatory strategy, 17-item RTA self-check, SE flowchart, US entity formation, end-to-end 510(k).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Inside the Control Tower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16-tab dashboard managing every aspect of your FDA journey</a:t>
            </a:r>
          </a:p>
        </p:txBody>
      </p:sp>
      <p:pic>
        <p:nvPicPr>
          <p:cNvPr id="4" name="Picture 3" descr="dual-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Inside the Control Tower — Core Tracking</a:t>
            </a:r>
          </a:p>
        </p:txBody>
      </p:sp>
      <p:pic>
        <p:nvPicPr>
          <p:cNvPr id="3" name="Picture 2" descr="dual-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56616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Dual-Track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Technical and regulatory milestones tracked side by side.</a:t>
            </a:r>
          </a:p>
        </p:txBody>
      </p:sp>
      <p:pic>
        <p:nvPicPr>
          <p:cNvPr id="6" name="Picture 5" descr="gate-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Phase-gate reviews with Go/No-Go decisions and stakeholder inputs.</a:t>
            </a:r>
          </a:p>
        </p:txBody>
      </p:sp>
      <p:pic>
        <p:nvPicPr>
          <p:cNvPr id="9" name="Picture 8" descr="risk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Risk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ISO 14971 risk matrix with severity, probability, and color-coded levels.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Inside the Control Tower — Documents &amp; Compliance</a:t>
            </a:r>
          </a:p>
        </p:txBody>
      </p:sp>
      <p:pic>
        <p:nvPicPr>
          <p:cNvPr id="3" name="Picture 2" descr="document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56616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Document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ISO 13485-aligned lifecycle tracking with version history and audit trail.</a:t>
            </a:r>
          </a:p>
        </p:txBody>
      </p:sp>
      <p:pic>
        <p:nvPicPr>
          <p:cNvPr id="6" name="Picture 5" descr="audit-tr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21 CFR Part 11 compliant — every change timestamped with full detail.</a:t>
            </a:r>
          </a:p>
        </p:txBody>
      </p:sp>
      <p:pic>
        <p:nvPicPr>
          <p:cNvPr id="9" name="Picture 8" descr="fda-com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FDA Communications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Q-Sub cover letters, 17-item RTA self-check, MDUFA timeline, SE flowchart.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Inside the Control Tower — Operations &amp; Finance</a:t>
            </a:r>
          </a:p>
        </p:txBody>
      </p:sp>
      <p:pic>
        <p:nvPicPr>
          <p:cNvPr id="3" name="Picture 2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56616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Budget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Planned vs. actual spend by category with automatic variance calculation.</a:t>
            </a:r>
          </a:p>
        </p:txBody>
      </p:sp>
      <p:pic>
        <p:nvPicPr>
          <p:cNvPr id="6" name="Picture 5" descr="cash-run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Cash / Runway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Burn rate analysis, runway projections, and funding milestone tracking.</a:t>
            </a:r>
          </a:p>
        </p:txBody>
      </p:sp>
      <p:pic>
        <p:nvPicPr>
          <p:cNvPr id="9" name="Picture 8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Gantt-style project timeline with milestones and critical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Calibri"/>
              </a:defRPr>
            </a:pPr>
            <a:r>
              <a:t>Inside the Control Tower — Team &amp; Collaboration</a:t>
            </a:r>
          </a:p>
        </p:txBody>
      </p:sp>
      <p:pic>
        <p:nvPicPr>
          <p:cNvPr id="3" name="Picture 2" descr="message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56616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Message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Purpose-driven messaging tied to decisions, actions, and status updates.</a:t>
            </a:r>
          </a:p>
        </p:txBody>
      </p:sp>
      <p:pic>
        <p:nvPicPr>
          <p:cNvPr id="6" name="Picture 5" descr="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56616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Actions / DHF / CAPA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Task board, Design History File tracker, and Corrective Action log.</a:t>
            </a:r>
          </a:p>
        </p:txBody>
      </p:sp>
      <p:pic>
        <p:nvPicPr>
          <p:cNvPr id="9" name="Picture 8" descr="suppl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Suppliers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Supplier qualification, evaluation scoring, and document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Standalone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Powerful research tools included with every engagement</a:t>
            </a:r>
          </a:p>
        </p:txBody>
      </p:sp>
      <p:pic>
        <p:nvPicPr>
          <p:cNvPr id="4" name="Picture 3" descr="predicate-f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566160" cy="2228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510(k) Predicate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Search FDA's openFDA database by product code, applicant, or K-number. AI-powered substantial equivalence analysis.</a:t>
            </a:r>
          </a:p>
        </p:txBody>
      </p:sp>
      <p:pic>
        <p:nvPicPr>
          <p:cNvPr id="7" name="Picture 6" descr="guidance-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828800"/>
            <a:ext cx="3566160" cy="2228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FDA Guidance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343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Search 600+ CDRH guidance documents — filter by topic, status, year. Direct links to official PDFs.</a:t>
            </a:r>
          </a:p>
        </p:txBody>
      </p:sp>
      <p:pic>
        <p:nvPicPr>
          <p:cNvPr id="10" name="Picture 9" descr="document-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28800"/>
            <a:ext cx="3566160" cy="2228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QMS-Lite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434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Lightweight QMS aligned to 21 CFR 820 and ISO 13485 — document control, CAPA, training, supplier qualification.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Platform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🧙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Tri-lingual Wizard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9-step wizard pre-populates your entire project in EN, 中文, or 한국어.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463040"/>
            <a:ext cx="53035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🏛️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FDA Comms Center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Q-Sub automation, RTA self-check, MDUFA tracking, SE flowchart — one tab.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3035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📋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RTA &amp; DHF Readiness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Real-time readiness scoring from your DHF and Standards trackers.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023360"/>
            <a:ext cx="53035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🌐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Entity Setup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Step-by-step US market entry — Delaware C-Corp, EIN, bank, FDA registration.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Calibri"/>
              </a:defRPr>
            </a:pPr>
            <a:r>
              <a:t>Free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45920"/>
            <a:ext cx="265176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📘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FDA 510(k) Pathway Guide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Step-by-step US market entry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645920"/>
            <a:ext cx="265176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📋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 Overview Fact Sheet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One-page platform &amp; capabilities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65176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🎓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PMP Course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Free project management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645920"/>
            <a:ext cx="265176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177800" rIns="177800"/>
          <a:lstStyle/>
          <a:p>
            <a:pPr algn="ctr">
              <a:defRPr sz="2800"/>
            </a:pPr>
            <a:r>
              <a:t>💰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Investment Guide</a:t>
            </a:r>
          </a:p>
          <a:p>
            <a:pPr algn="ctr">
              <a:spcBef>
                <a:spcPts val="600"/>
              </a:spcBef>
              <a:defRPr sz="1100">
                <a:solidFill>
                  <a:srgbClr val="BBBBCC"/>
                </a:solidFill>
                <a:latin typeface="Calibri"/>
              </a:defRPr>
            </a:pPr>
            <a:r>
              <a:t>Term sheets, funding rounds, 510(k) Bridge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Let's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Schedule a free 30-minute consultation about your FDA pathway.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474720"/>
            <a:ext cx="5760720" cy="2560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 lIns="304800"/>
          <a:lstStyle/>
          <a:p>
            <a:pPr algn="ctr"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📧  info@510kbridge.com</a:t>
            </a:r>
          </a:p>
          <a:p>
            <a:pPr algn="ctr">
              <a:spcBef>
                <a:spcPts val="8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🌐  510kbridge.com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BBBBCC"/>
                </a:solidFill>
                <a:latin typeface="Calibri"/>
              </a:defRPr>
            </a:pPr>
            <a:r>
              <a:t>📍  Oregon, USA — Serving clients in US, China, and Korea</a:t>
            </a:r>
          </a:p>
          <a:p>
            <a:pPr algn="ctr"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2200" b="1">
                <a:solidFill>
                  <a:srgbClr val="38BDF8"/>
                </a:solidFill>
                <a:latin typeface="Calibri"/>
              </a:defRPr>
            </a:pPr>
            <a:r>
              <a:t>Schedule a Consultation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