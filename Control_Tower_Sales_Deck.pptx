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33A"/>
        </a:solidFill>
        <a:effectLst/>
      </p:bgPr>
    </p:bg>
    <p:spTree>
      <p:nvGrpSpPr>
        <p:cNvPr id="1" name=""/>
        <p:cNvGrpSpPr/>
        <p:nvPr/>
      </p:nvGrpSpPr>
      <p:grpSpPr/>
      <p:sp>
        <p:nvSpPr>
          <p:cNvPr id="2" name="TextBox 1"/>
          <p:cNvSpPr txBox="1"/>
          <p:nvPr/>
        </p:nvSpPr>
        <p:spPr>
          <a:xfrm>
            <a:off x="914400" y="1371600"/>
            <a:ext cx="10058400" cy="914400"/>
          </a:xfrm>
          <a:prstGeom prst="rect">
            <a:avLst/>
          </a:prstGeom>
          <a:noFill/>
        </p:spPr>
        <p:txBody>
          <a:bodyPr wrap="square">
            <a:spAutoFit/>
          </a:bodyPr>
          <a:lstStyle/>
          <a:p>
            <a:pPr algn="ctr">
              <a:defRPr sz="4400" b="1">
                <a:solidFill>
                  <a:srgbClr val="FFFFFF"/>
                </a:solidFill>
                <a:latin typeface="Calibri"/>
              </a:defRPr>
            </a:pPr>
            <a:r>
              <a:t>510(k) Bridge Control Tower</a:t>
            </a:r>
          </a:p>
        </p:txBody>
      </p:sp>
      <p:sp>
        <p:nvSpPr>
          <p:cNvPr id="3" name="TextBox 2"/>
          <p:cNvSpPr txBox="1"/>
          <p:nvPr/>
        </p:nvSpPr>
        <p:spPr>
          <a:xfrm>
            <a:off x="914400" y="2377440"/>
            <a:ext cx="10058400" cy="731520"/>
          </a:xfrm>
          <a:prstGeom prst="rect">
            <a:avLst/>
          </a:prstGeom>
          <a:noFill/>
        </p:spPr>
        <p:txBody>
          <a:bodyPr wrap="square">
            <a:spAutoFit/>
          </a:bodyPr>
          <a:lstStyle/>
          <a:p>
            <a:pPr algn="ctr">
              <a:defRPr sz="2200" b="0">
                <a:solidFill>
                  <a:srgbClr val="009688"/>
                </a:solidFill>
                <a:latin typeface="Calibri"/>
              </a:defRPr>
            </a:pPr>
            <a:r>
              <a:t>The First Purpose-Built FDA 510(k) Project Management Platform</a:t>
            </a:r>
          </a:p>
        </p:txBody>
      </p:sp>
      <p:sp>
        <p:nvSpPr>
          <p:cNvPr id="4" name="TextBox 3"/>
          <p:cNvSpPr txBox="1"/>
          <p:nvPr/>
        </p:nvSpPr>
        <p:spPr>
          <a:xfrm>
            <a:off x="1828800" y="3474720"/>
            <a:ext cx="8229600" cy="1371600"/>
          </a:xfrm>
          <a:prstGeom prst="rect">
            <a:avLst/>
          </a:prstGeom>
          <a:noFill/>
        </p:spPr>
        <p:txBody>
          <a:bodyPr wrap="square">
            <a:spAutoFit/>
          </a:bodyPr>
          <a:lstStyle/>
          <a:p>
            <a:pPr algn="ctr">
              <a:defRPr sz="1600" b="0">
                <a:solidFill>
                  <a:srgbClr val="FFFFFF"/>
                </a:solidFill>
                <a:latin typeface="Calibri"/>
              </a:defRPr>
            </a:pPr>
            <a:r>
              <a:t>16 integrated tabs  •  Trilingual (EN / 中文 / 한국어)  •  Role-based access</a:t>
            </a:r>
            <a:br/>
            <a:r>
              <a:t>21 CFR Part 11 audit trail  •  ISO 14971 risk management  •  FDA Q-Sub automation</a:t>
            </a:r>
            <a:br/>
            <a:r>
              <a:t>Real-time cloud sync  •  7 pre-configured device templates  •  3 subscription tiers</a:t>
            </a:r>
          </a:p>
        </p:txBody>
      </p:sp>
      <p:sp>
        <p:nvSpPr>
          <p:cNvPr id="5" name="Rectangle 4"/>
          <p:cNvSpPr/>
          <p:nvPr/>
        </p:nvSpPr>
        <p:spPr>
          <a:xfrm>
            <a:off x="3657600" y="5120640"/>
            <a:ext cx="4846320" cy="274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486400"/>
            <a:ext cx="10058400" cy="457200"/>
          </a:xfrm>
          <a:prstGeom prst="rect">
            <a:avLst/>
          </a:prstGeom>
          <a:noFill/>
        </p:spPr>
        <p:txBody>
          <a:bodyPr wrap="square">
            <a:spAutoFit/>
          </a:bodyPr>
          <a:lstStyle/>
          <a:p>
            <a:pPr algn="ctr">
              <a:defRPr sz="1400" b="0">
                <a:solidFill>
                  <a:srgbClr val="FFFFFF"/>
                </a:solidFill>
                <a:latin typeface="Calibri"/>
              </a:defRPr>
            </a:pPr>
            <a:r>
              <a:t>510(k) Bridge  •  Gresham, Oregon  •  www.510kbridge.com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The Problem: No FDA-Specific Project Management Platform Exists</a:t>
            </a:r>
          </a:p>
        </p:txBody>
      </p:sp>
      <p:sp>
        <p:nvSpPr>
          <p:cNvPr id="4" name="TextBox 3"/>
          <p:cNvSpPr txBox="1"/>
          <p:nvPr/>
        </p:nvSpPr>
        <p:spPr>
          <a:xfrm>
            <a:off x="731520" y="1280160"/>
            <a:ext cx="5303520" cy="5029200"/>
          </a:xfrm>
          <a:prstGeom prst="rect">
            <a:avLst/>
          </a:prstGeom>
          <a:noFill/>
        </p:spPr>
        <p:txBody>
          <a:bodyPr wrap="square">
            <a:spAutoFit/>
          </a:bodyPr>
          <a:lstStyle/>
          <a:p>
            <a:pPr>
              <a:spcAft>
                <a:spcPts val="800"/>
              </a:spcAft>
              <a:defRPr sz="2200" b="1">
                <a:solidFill>
                  <a:srgbClr val="0B233A"/>
                </a:solidFill>
                <a:latin typeface="Calibri"/>
              </a:defRPr>
            </a:pPr>
            <a:r>
              <a:t>Why the Industry Needs Control Tower</a:t>
            </a:r>
          </a:p>
          <a:p>
            <a:pPr>
              <a:spcAft>
                <a:spcPts val="400"/>
              </a:spcAft>
              <a:defRPr sz="1500">
                <a:solidFill>
                  <a:srgbClr val="333333"/>
                </a:solidFill>
                <a:latin typeface="Calibri"/>
              </a:defRPr>
            </a:pPr>
            <a:r>
              <a:t>▸ Medical device companies use generic PM tools (Jira, Asana, Monday.com) that have zero FDA awareness</a:t>
            </a:r>
          </a:p>
          <a:p>
            <a:pPr>
              <a:spcAft>
                <a:spcPts val="400"/>
              </a:spcAft>
              <a:defRPr sz="1500">
                <a:solidFill>
                  <a:srgbClr val="333333"/>
                </a:solidFill>
                <a:latin typeface="Calibri"/>
              </a:defRPr>
            </a:pPr>
            <a:r>
              <a:t>▸ Regulatory consultants rely on spreadsheets, email threads, and tribal knowledge</a:t>
            </a:r>
          </a:p>
          <a:p>
            <a:pPr>
              <a:spcAft>
                <a:spcPts val="400"/>
              </a:spcAft>
              <a:defRPr sz="1500">
                <a:solidFill>
                  <a:srgbClr val="333333"/>
                </a:solidFill>
                <a:latin typeface="Calibri"/>
              </a:defRPr>
            </a:pPr>
            <a:r>
              <a:t>▸ No existing platform connects technical milestones to FDA regulatory gates</a:t>
            </a:r>
          </a:p>
          <a:p>
            <a:pPr>
              <a:spcAft>
                <a:spcPts val="400"/>
              </a:spcAft>
              <a:defRPr sz="1500">
                <a:solidFill>
                  <a:srgbClr val="333333"/>
                </a:solidFill>
                <a:latin typeface="Calibri"/>
              </a:defRPr>
            </a:pPr>
            <a:r>
              <a:t>▸ 510(k) submissions average 6-9 months of rework due to disorganized documentation (DHF/DMR gaps)</a:t>
            </a:r>
          </a:p>
          <a:p>
            <a:pPr>
              <a:spcAft>
                <a:spcPts val="400"/>
              </a:spcAft>
              <a:defRPr sz="1500">
                <a:solidFill>
                  <a:srgbClr val="333333"/>
                </a:solidFill>
                <a:latin typeface="Calibri"/>
              </a:defRPr>
            </a:pPr>
            <a:r>
              <a:t>▸ Companies send 2-3 FDA Q-Sub requests before getting accepted — each cycle costs $10K-$25K in delays</a:t>
            </a:r>
          </a:p>
          <a:p>
            <a:pPr>
              <a:spcAft>
                <a:spcPts val="400"/>
              </a:spcAft>
              <a:defRPr sz="1500">
                <a:solidFill>
                  <a:srgbClr val="333333"/>
                </a:solidFill>
                <a:latin typeface="Calibri"/>
              </a:defRPr>
            </a:pPr>
            <a:r>
              <a:t>▸ ISO 14971 risk management is tracked in standalone documents, disconnected from project decisions</a:t>
            </a:r>
          </a:p>
          <a:p>
            <a:pPr>
              <a:spcAft>
                <a:spcPts val="400"/>
              </a:spcAft>
              <a:defRPr sz="1500">
                <a:solidFill>
                  <a:srgbClr val="333333"/>
                </a:solidFill>
                <a:latin typeface="Calibri"/>
              </a:defRPr>
            </a:pPr>
            <a:r>
              <a:t>▸ International teams (US-China, US-Korea corridors) lack a unified multilingual workspace</a:t>
            </a:r>
          </a:p>
        </p:txBody>
      </p:sp>
      <p:sp>
        <p:nvSpPr>
          <p:cNvPr id="5" name="TextBox 4"/>
          <p:cNvSpPr txBox="1"/>
          <p:nvPr/>
        </p:nvSpPr>
        <p:spPr>
          <a:xfrm>
            <a:off x="6400800" y="1280160"/>
            <a:ext cx="5303520" cy="5029200"/>
          </a:xfrm>
          <a:prstGeom prst="rect">
            <a:avLst/>
          </a:prstGeom>
          <a:noFill/>
        </p:spPr>
        <p:txBody>
          <a:bodyPr wrap="square">
            <a:spAutoFit/>
          </a:bodyPr>
          <a:lstStyle/>
          <a:p>
            <a:pPr>
              <a:spcAft>
                <a:spcPts val="800"/>
              </a:spcAft>
              <a:defRPr sz="2200" b="1">
                <a:solidFill>
                  <a:srgbClr val="E53E3E"/>
                </a:solidFill>
                <a:latin typeface="Calibri"/>
              </a:defRPr>
            </a:pPr>
            <a:r>
              <a:t>Competitive Landscape Gaps</a:t>
            </a:r>
          </a:p>
          <a:p>
            <a:pPr>
              <a:spcAft>
                <a:spcPts val="400"/>
              </a:spcAft>
              <a:defRPr sz="1500">
                <a:solidFill>
                  <a:srgbClr val="333333"/>
                </a:solidFill>
                <a:latin typeface="Calibri"/>
              </a:defRPr>
            </a:pPr>
            <a:r>
              <a:t>▸ Greenlight Guru — QMS-focused, not project management; no milestone/gate tracking; $$$</a:t>
            </a:r>
          </a:p>
          <a:p>
            <a:pPr>
              <a:spcAft>
                <a:spcPts val="400"/>
              </a:spcAft>
              <a:defRPr sz="1500">
                <a:solidFill>
                  <a:srgbClr val="333333"/>
                </a:solidFill>
                <a:latin typeface="Calibri"/>
              </a:defRPr>
            </a:pPr>
            <a:r>
              <a:t>▸ MasterControl — Enterprise QMS; complex, expensive ($50K+/yr); no 510(k) workflow</a:t>
            </a:r>
          </a:p>
          <a:p>
            <a:pPr>
              <a:spcAft>
                <a:spcPts val="400"/>
              </a:spcAft>
              <a:defRPr sz="1500">
                <a:solidFill>
                  <a:srgbClr val="333333"/>
                </a:solidFill>
                <a:latin typeface="Calibri"/>
              </a:defRPr>
            </a:pPr>
            <a:r>
              <a:t>▸ Jama Connect — Requirements management only; no budget, risk matrix, or FDA comms</a:t>
            </a:r>
          </a:p>
          <a:p>
            <a:pPr>
              <a:spcAft>
                <a:spcPts val="400"/>
              </a:spcAft>
              <a:defRPr sz="1500">
                <a:solidFill>
                  <a:srgbClr val="333333"/>
                </a:solidFill>
                <a:latin typeface="Calibri"/>
              </a:defRPr>
            </a:pPr>
            <a:r>
              <a:t>▸ Arena Solutions (PTC) — PLM/BOM-focused; no regulatory submission tools</a:t>
            </a:r>
          </a:p>
          <a:p>
            <a:pPr>
              <a:spcAft>
                <a:spcPts val="400"/>
              </a:spcAft>
              <a:defRPr sz="1500">
                <a:solidFill>
                  <a:srgbClr val="333333"/>
                </a:solidFill>
                <a:latin typeface="Calibri"/>
              </a:defRPr>
            </a:pPr>
            <a:r>
              <a:t>▸ Qualio — Document-centric QMS; no dual-track milestones, no gate system</a:t>
            </a:r>
          </a:p>
          <a:p>
            <a:pPr>
              <a:spcAft>
                <a:spcPts val="400"/>
              </a:spcAft>
              <a:defRPr sz="1500">
                <a:solidFill>
                  <a:srgbClr val="333333"/>
                </a:solidFill>
                <a:latin typeface="Calibri"/>
              </a:defRPr>
            </a:pPr>
            <a:r>
              <a:t>▸ Monday.com / Asana — Generic PM; zero FDA vocabulary or compliance features</a:t>
            </a:r>
          </a:p>
          <a:p>
            <a:pPr>
              <a:spcAft>
                <a:spcPts val="400"/>
              </a:spcAft>
              <a:defRPr sz="1500">
                <a:solidFill>
                  <a:srgbClr val="333333"/>
                </a:solidFill>
                <a:latin typeface="Calibri"/>
              </a:defRPr>
            </a:pPr>
          </a:p>
          <a:p>
            <a:pPr>
              <a:spcAft>
                <a:spcPts val="400"/>
              </a:spcAft>
              <a:defRPr sz="1500">
                <a:solidFill>
                  <a:srgbClr val="333333"/>
                </a:solidFill>
                <a:latin typeface="Calibri"/>
              </a:defRPr>
            </a:pPr>
            <a:r>
              <a:t>None of these platforms provide an integrated 510(k) project lifecycle from Pre-Sub through clearance with built-in FDA automation, trilingual support, and role-based governance.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Platform Architecture: 16 Integrated Tabs in 5 Groups</a:t>
            </a:r>
          </a:p>
        </p:txBody>
      </p:sp>
      <p:sp>
        <p:nvSpPr>
          <p:cNvPr id="4" name="Rectangle 3"/>
          <p:cNvSpPr/>
          <p:nvPr/>
        </p:nvSpPr>
        <p:spPr>
          <a:xfrm>
            <a:off x="457200" y="1371600"/>
            <a:ext cx="2194560" cy="4572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7320"/>
            <a:ext cx="2194560" cy="365760"/>
          </a:xfrm>
          <a:prstGeom prst="rect">
            <a:avLst/>
          </a:prstGeom>
          <a:noFill/>
        </p:spPr>
        <p:txBody>
          <a:bodyPr wrap="square">
            <a:spAutoFit/>
          </a:bodyPr>
          <a:lstStyle/>
          <a:p>
            <a:pPr algn="ctr">
              <a:defRPr sz="1300" b="1">
                <a:solidFill>
                  <a:srgbClr val="FFFFFF"/>
                </a:solidFill>
                <a:latin typeface="Calibri"/>
              </a:defRPr>
            </a:pPr>
            <a:r>
              <a:t>PROGRAM MGMT</a:t>
            </a:r>
          </a:p>
        </p:txBody>
      </p:sp>
      <p:sp>
        <p:nvSpPr>
          <p:cNvPr id="6" name="Rectangle 5"/>
          <p:cNvSpPr/>
          <p:nvPr/>
        </p:nvSpPr>
        <p:spPr>
          <a:xfrm>
            <a:off x="457200" y="1828800"/>
            <a:ext cx="2194560" cy="2743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20240"/>
            <a:ext cx="1920240" cy="2560320"/>
          </a:xfrm>
          <a:prstGeom prst="rect">
            <a:avLst/>
          </a:prstGeom>
          <a:noFill/>
        </p:spPr>
        <p:txBody>
          <a:bodyPr wrap="square">
            <a:spAutoFit/>
          </a:bodyPr>
          <a:lstStyle/>
          <a:p>
            <a:pPr>
              <a:spcAft>
                <a:spcPts val="400"/>
              </a:spcAft>
              <a:defRPr sz="1300">
                <a:solidFill>
                  <a:srgbClr val="333333"/>
                </a:solidFill>
                <a:latin typeface="Calibri"/>
              </a:defRPr>
            </a:pPr>
            <a:r>
              <a:t>1. Dual-Track Milestones</a:t>
            </a:r>
          </a:p>
          <a:p>
            <a:pPr>
              <a:spcAft>
                <a:spcPts val="400"/>
              </a:spcAft>
              <a:defRPr sz="1300">
                <a:solidFill>
                  <a:srgbClr val="333333"/>
                </a:solidFill>
                <a:latin typeface="Calibri"/>
              </a:defRPr>
            </a:pPr>
            <a:r>
              <a:t>2. Gate System</a:t>
            </a:r>
          </a:p>
          <a:p>
            <a:pPr>
              <a:spcAft>
                <a:spcPts val="400"/>
              </a:spcAft>
              <a:defRPr sz="1300">
                <a:solidFill>
                  <a:srgbClr val="333333"/>
                </a:solidFill>
                <a:latin typeface="Calibri"/>
              </a:defRPr>
            </a:pPr>
            <a:r>
              <a:t>3. Timeline</a:t>
            </a:r>
          </a:p>
          <a:p>
            <a:pPr>
              <a:spcAft>
                <a:spcPts val="400"/>
              </a:spcAft>
              <a:defRPr sz="1300">
                <a:solidFill>
                  <a:srgbClr val="333333"/>
                </a:solidFill>
                <a:latin typeface="Calibri"/>
              </a:defRPr>
            </a:pPr>
            <a:r>
              <a:t>4. Actions Panel</a:t>
            </a:r>
          </a:p>
        </p:txBody>
      </p:sp>
      <p:sp>
        <p:nvSpPr>
          <p:cNvPr id="8" name="Rectangle 7"/>
          <p:cNvSpPr/>
          <p:nvPr/>
        </p:nvSpPr>
        <p:spPr>
          <a:xfrm>
            <a:off x="2788920" y="1371600"/>
            <a:ext cx="2194560" cy="4572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1417320"/>
            <a:ext cx="2194560" cy="365760"/>
          </a:xfrm>
          <a:prstGeom prst="rect">
            <a:avLst/>
          </a:prstGeom>
          <a:noFill/>
        </p:spPr>
        <p:txBody>
          <a:bodyPr wrap="square">
            <a:spAutoFit/>
          </a:bodyPr>
          <a:lstStyle/>
          <a:p>
            <a:pPr algn="ctr">
              <a:defRPr sz="1300" b="1">
                <a:solidFill>
                  <a:srgbClr val="FFFFFF"/>
                </a:solidFill>
                <a:latin typeface="Calibri"/>
              </a:defRPr>
            </a:pPr>
            <a:r>
              <a:t>REGULATORY</a:t>
            </a:r>
          </a:p>
        </p:txBody>
      </p:sp>
      <p:sp>
        <p:nvSpPr>
          <p:cNvPr id="10" name="Rectangle 9"/>
          <p:cNvSpPr/>
          <p:nvPr/>
        </p:nvSpPr>
        <p:spPr>
          <a:xfrm>
            <a:off x="2788920" y="1828800"/>
            <a:ext cx="2194560" cy="2743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920240"/>
            <a:ext cx="1920240" cy="2560320"/>
          </a:xfrm>
          <a:prstGeom prst="rect">
            <a:avLst/>
          </a:prstGeom>
          <a:noFill/>
        </p:spPr>
        <p:txBody>
          <a:bodyPr wrap="square">
            <a:spAutoFit/>
          </a:bodyPr>
          <a:lstStyle/>
          <a:p>
            <a:pPr>
              <a:spcAft>
                <a:spcPts val="400"/>
              </a:spcAft>
              <a:defRPr sz="1300">
                <a:solidFill>
                  <a:srgbClr val="333333"/>
                </a:solidFill>
                <a:latin typeface="Calibri"/>
              </a:defRPr>
            </a:pPr>
            <a:r>
              <a:t>5. Regulatory Tracker</a:t>
            </a:r>
          </a:p>
          <a:p>
            <a:pPr>
              <a:spcAft>
                <a:spcPts val="400"/>
              </a:spcAft>
              <a:defRPr sz="1300">
                <a:solidFill>
                  <a:srgbClr val="333333"/>
                </a:solidFill>
                <a:latin typeface="Calibri"/>
              </a:defRPr>
            </a:pPr>
            <a:r>
              <a:t>6. Risk Dashboard</a:t>
            </a:r>
          </a:p>
          <a:p>
            <a:pPr>
              <a:spcAft>
                <a:spcPts val="400"/>
              </a:spcAft>
              <a:defRPr sz="1300">
                <a:solidFill>
                  <a:srgbClr val="333333"/>
                </a:solidFill>
                <a:latin typeface="Calibri"/>
              </a:defRPr>
            </a:pPr>
            <a:r>
              <a:t>7. FDA Comms Center</a:t>
            </a:r>
          </a:p>
        </p:txBody>
      </p:sp>
      <p:sp>
        <p:nvSpPr>
          <p:cNvPr id="12" name="Rectangle 11"/>
          <p:cNvSpPr/>
          <p:nvPr/>
        </p:nvSpPr>
        <p:spPr>
          <a:xfrm>
            <a:off x="5120640" y="1371600"/>
            <a:ext cx="2194560" cy="4572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417320"/>
            <a:ext cx="2194560" cy="365760"/>
          </a:xfrm>
          <a:prstGeom prst="rect">
            <a:avLst/>
          </a:prstGeom>
          <a:noFill/>
        </p:spPr>
        <p:txBody>
          <a:bodyPr wrap="square">
            <a:spAutoFit/>
          </a:bodyPr>
          <a:lstStyle/>
          <a:p>
            <a:pPr algn="ctr">
              <a:defRPr sz="1300" b="1">
                <a:solidFill>
                  <a:srgbClr val="FFFFFF"/>
                </a:solidFill>
                <a:latin typeface="Calibri"/>
              </a:defRPr>
            </a:pPr>
            <a:r>
              <a:t>DOCUMENTS</a:t>
            </a:r>
          </a:p>
        </p:txBody>
      </p:sp>
      <p:sp>
        <p:nvSpPr>
          <p:cNvPr id="14" name="Rectangle 13"/>
          <p:cNvSpPr/>
          <p:nvPr/>
        </p:nvSpPr>
        <p:spPr>
          <a:xfrm>
            <a:off x="5120640" y="1828800"/>
            <a:ext cx="2194560" cy="2743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1920240"/>
            <a:ext cx="1920240" cy="2560320"/>
          </a:xfrm>
          <a:prstGeom prst="rect">
            <a:avLst/>
          </a:prstGeom>
          <a:noFill/>
        </p:spPr>
        <p:txBody>
          <a:bodyPr wrap="square">
            <a:spAutoFit/>
          </a:bodyPr>
          <a:lstStyle/>
          <a:p>
            <a:pPr>
              <a:spcAft>
                <a:spcPts val="400"/>
              </a:spcAft>
              <a:defRPr sz="1300">
                <a:solidFill>
                  <a:srgbClr val="333333"/>
                </a:solidFill>
                <a:latin typeface="Calibri"/>
              </a:defRPr>
            </a:pPr>
            <a:r>
              <a:t>8. Document Control</a:t>
            </a:r>
          </a:p>
          <a:p>
            <a:pPr>
              <a:spcAft>
                <a:spcPts val="400"/>
              </a:spcAft>
              <a:defRPr sz="1300">
                <a:solidFill>
                  <a:srgbClr val="333333"/>
                </a:solidFill>
                <a:latin typeface="Calibri"/>
              </a:defRPr>
            </a:pPr>
            <a:r>
              <a:t>9. Audit Trail</a:t>
            </a:r>
          </a:p>
        </p:txBody>
      </p:sp>
      <p:sp>
        <p:nvSpPr>
          <p:cNvPr id="16" name="Rectangle 15"/>
          <p:cNvSpPr/>
          <p:nvPr/>
        </p:nvSpPr>
        <p:spPr>
          <a:xfrm>
            <a:off x="7452360" y="1371600"/>
            <a:ext cx="2194560" cy="45720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1417320"/>
            <a:ext cx="2194560" cy="365760"/>
          </a:xfrm>
          <a:prstGeom prst="rect">
            <a:avLst/>
          </a:prstGeom>
          <a:noFill/>
        </p:spPr>
        <p:txBody>
          <a:bodyPr wrap="square">
            <a:spAutoFit/>
          </a:bodyPr>
          <a:lstStyle/>
          <a:p>
            <a:pPr algn="ctr">
              <a:defRPr sz="1300" b="1">
                <a:solidFill>
                  <a:srgbClr val="FFFFFF"/>
                </a:solidFill>
                <a:latin typeface="Calibri"/>
              </a:defRPr>
            </a:pPr>
            <a:r>
              <a:t>FINANCE</a:t>
            </a:r>
          </a:p>
        </p:txBody>
      </p:sp>
      <p:sp>
        <p:nvSpPr>
          <p:cNvPr id="18" name="Rectangle 17"/>
          <p:cNvSpPr/>
          <p:nvPr/>
        </p:nvSpPr>
        <p:spPr>
          <a:xfrm>
            <a:off x="7452360" y="1828800"/>
            <a:ext cx="2194560" cy="2743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1920240"/>
            <a:ext cx="1920240" cy="2560320"/>
          </a:xfrm>
          <a:prstGeom prst="rect">
            <a:avLst/>
          </a:prstGeom>
          <a:noFill/>
        </p:spPr>
        <p:txBody>
          <a:bodyPr wrap="square">
            <a:spAutoFit/>
          </a:bodyPr>
          <a:lstStyle/>
          <a:p>
            <a:pPr>
              <a:spcAft>
                <a:spcPts val="400"/>
              </a:spcAft>
              <a:defRPr sz="1300">
                <a:solidFill>
                  <a:srgbClr val="333333"/>
                </a:solidFill>
                <a:latin typeface="Calibri"/>
              </a:defRPr>
            </a:pPr>
            <a:r>
              <a:t>10. Budget</a:t>
            </a:r>
          </a:p>
          <a:p>
            <a:pPr>
              <a:spcAft>
                <a:spcPts val="400"/>
              </a:spcAft>
              <a:defRPr sz="1300">
                <a:solidFill>
                  <a:srgbClr val="333333"/>
                </a:solidFill>
                <a:latin typeface="Calibri"/>
              </a:defRPr>
            </a:pPr>
            <a:r>
              <a:t>11. Cash / Runway</a:t>
            </a:r>
          </a:p>
          <a:p>
            <a:pPr>
              <a:spcAft>
                <a:spcPts val="400"/>
              </a:spcAft>
              <a:defRPr sz="1300">
                <a:solidFill>
                  <a:srgbClr val="333333"/>
                </a:solidFill>
                <a:latin typeface="Calibri"/>
              </a:defRPr>
            </a:pPr>
            <a:r>
              <a:t>12. US Investment</a:t>
            </a:r>
          </a:p>
          <a:p>
            <a:pPr>
              <a:spcAft>
                <a:spcPts val="400"/>
              </a:spcAft>
              <a:defRPr sz="1300">
                <a:solidFill>
                  <a:srgbClr val="333333"/>
                </a:solidFill>
                <a:latin typeface="Calibri"/>
              </a:defRPr>
            </a:pPr>
            <a:r>
              <a:t>13. Cap Table</a:t>
            </a:r>
          </a:p>
        </p:txBody>
      </p:sp>
      <p:sp>
        <p:nvSpPr>
          <p:cNvPr id="20" name="Rectangle 19"/>
          <p:cNvSpPr/>
          <p:nvPr/>
        </p:nvSpPr>
        <p:spPr>
          <a:xfrm>
            <a:off x="9784080" y="1371600"/>
            <a:ext cx="219456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0" y="1417320"/>
            <a:ext cx="2194560" cy="365760"/>
          </a:xfrm>
          <a:prstGeom prst="rect">
            <a:avLst/>
          </a:prstGeom>
          <a:noFill/>
        </p:spPr>
        <p:txBody>
          <a:bodyPr wrap="square">
            <a:spAutoFit/>
          </a:bodyPr>
          <a:lstStyle/>
          <a:p>
            <a:pPr algn="ctr">
              <a:defRPr sz="1300" b="1">
                <a:solidFill>
                  <a:srgbClr val="FFFFFF"/>
                </a:solidFill>
                <a:latin typeface="Calibri"/>
              </a:defRPr>
            </a:pPr>
            <a:r>
              <a:t>OPERATIONS</a:t>
            </a:r>
          </a:p>
        </p:txBody>
      </p:sp>
      <p:sp>
        <p:nvSpPr>
          <p:cNvPr id="22" name="Rectangle 21"/>
          <p:cNvSpPr/>
          <p:nvPr/>
        </p:nvSpPr>
        <p:spPr>
          <a:xfrm>
            <a:off x="9784080" y="1828800"/>
            <a:ext cx="2194560" cy="2743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21240" y="1920240"/>
            <a:ext cx="1920240" cy="2560320"/>
          </a:xfrm>
          <a:prstGeom prst="rect">
            <a:avLst/>
          </a:prstGeom>
          <a:noFill/>
        </p:spPr>
        <p:txBody>
          <a:bodyPr wrap="square">
            <a:spAutoFit/>
          </a:bodyPr>
          <a:lstStyle/>
          <a:p>
            <a:pPr>
              <a:spcAft>
                <a:spcPts val="400"/>
              </a:spcAft>
              <a:defRPr sz="1300">
                <a:solidFill>
                  <a:srgbClr val="333333"/>
                </a:solidFill>
                <a:latin typeface="Calibri"/>
              </a:defRPr>
            </a:pPr>
            <a:r>
              <a:t>14. Resources</a:t>
            </a:r>
          </a:p>
          <a:p>
            <a:pPr>
              <a:spcAft>
                <a:spcPts val="400"/>
              </a:spcAft>
              <a:defRPr sz="1300">
                <a:solidFill>
                  <a:srgbClr val="333333"/>
                </a:solidFill>
                <a:latin typeface="Calibri"/>
              </a:defRPr>
            </a:pPr>
            <a:r>
              <a:t>15. Suppliers</a:t>
            </a:r>
          </a:p>
          <a:p>
            <a:pPr>
              <a:spcAft>
                <a:spcPts val="400"/>
              </a:spcAft>
              <a:defRPr sz="1300">
                <a:solidFill>
                  <a:srgbClr val="333333"/>
                </a:solidFill>
                <a:latin typeface="Calibri"/>
              </a:defRPr>
            </a:pPr>
            <a:r>
              <a:t>16. Message Board</a:t>
            </a:r>
          </a:p>
        </p:txBody>
      </p:sp>
      <p:sp>
        <p:nvSpPr>
          <p:cNvPr id="24" name="Rectangle 23"/>
          <p:cNvSpPr/>
          <p:nvPr/>
        </p:nvSpPr>
        <p:spPr>
          <a:xfrm>
            <a:off x="457200" y="4846320"/>
            <a:ext cx="11247120" cy="457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029200"/>
            <a:ext cx="11247120" cy="1371600"/>
          </a:xfrm>
          <a:prstGeom prst="rect">
            <a:avLst/>
          </a:prstGeom>
          <a:noFill/>
        </p:spPr>
        <p:txBody>
          <a:bodyPr wrap="square">
            <a:spAutoFit/>
          </a:bodyPr>
          <a:lstStyle/>
          <a:p>
            <a:pPr>
              <a:spcAft>
                <a:spcPts val="800"/>
              </a:spcAft>
              <a:defRPr sz="1800" b="1">
                <a:solidFill>
                  <a:srgbClr val="0B233A"/>
                </a:solidFill>
                <a:latin typeface="Calibri"/>
              </a:defRPr>
            </a:pPr>
            <a:r>
              <a:t>Cross-Cutting Platform Capabilities</a:t>
            </a:r>
          </a:p>
          <a:p>
            <a:pPr>
              <a:spcAft>
                <a:spcPts val="400"/>
              </a:spcAft>
              <a:defRPr sz="1400">
                <a:solidFill>
                  <a:srgbClr val="333333"/>
                </a:solidFill>
                <a:latin typeface="Calibri"/>
              </a:defRPr>
            </a:pPr>
            <a:r>
              <a:t>Trilingual (EN/中文/한국어)  •  Role-Based Access (PMP / Tech / Business / Accounting)  •  3 Subscription Tiers ($500–$2,000/mo)  •  7 Device Templates  •  Supabase Cloud + Offline  •  21 CFR Part 11 Audit Trail  •  Setup Wizard  •  Real-Time Collaboration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PROGRAM MANAGEMENT</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 Dual-Track Milestones</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dual-track.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Parallel technical &amp; regulatory milestone tracking — the ONLY platform that visualizes both tracks side-by-side</a:t>
            </a:r>
          </a:p>
          <a:p>
            <a:pPr>
              <a:spcAft>
                <a:spcPts val="400"/>
              </a:spcAft>
              <a:defRPr sz="1200">
                <a:solidFill>
                  <a:srgbClr val="333333"/>
                </a:solidFill>
                <a:latin typeface="Calibri"/>
              </a:defRPr>
            </a:pPr>
            <a:r>
              <a:t>▸ Technical track: Design freeze → Prototype → Bench verification → V&amp;V → Design transfer</a:t>
            </a:r>
          </a:p>
          <a:p>
            <a:pPr>
              <a:spcAft>
                <a:spcPts val="400"/>
              </a:spcAft>
              <a:defRPr sz="1200">
                <a:solidFill>
                  <a:srgbClr val="333333"/>
                </a:solidFill>
                <a:latin typeface="Calibri"/>
              </a:defRPr>
            </a:pPr>
            <a:r>
              <a:t>▸ Regulatory track: Pre-Sub Q-Meeting → 510(k) prep → Submission → Expected clearance</a:t>
            </a:r>
          </a:p>
          <a:p>
            <a:pPr>
              <a:spcAft>
                <a:spcPts val="400"/>
              </a:spcAft>
              <a:defRPr sz="1200">
                <a:solidFill>
                  <a:srgbClr val="333333"/>
                </a:solidFill>
                <a:latin typeface="Calibri"/>
              </a:defRPr>
            </a:pPr>
            <a:r>
              <a:t>▸ Auto-populated timelines based on project duration (18-23 months typical)</a:t>
            </a:r>
          </a:p>
          <a:p>
            <a:pPr>
              <a:spcAft>
                <a:spcPts val="400"/>
              </a:spcAft>
              <a:defRPr sz="1200">
                <a:solidFill>
                  <a:srgbClr val="333333"/>
                </a:solidFill>
                <a:latin typeface="Calibri"/>
              </a:defRPr>
            </a:pPr>
            <a:r>
              <a:t>▸ Status cycling (Not Started → In Progress → Complete / Blocked) with full audit logging</a:t>
            </a:r>
          </a:p>
          <a:p>
            <a:pPr>
              <a:spcAft>
                <a:spcPts val="400"/>
              </a:spcAft>
              <a:defRPr sz="1200">
                <a:solidFill>
                  <a:srgbClr val="333333"/>
                </a:solidFill>
                <a:latin typeface="Calibri"/>
              </a:defRPr>
            </a:pPr>
            <a:r>
              <a:t>▸ Owner assignment per milestone (Tech, Regulatory, or Business) ensures accountability</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Jira/Asana have task boards but no concept of synchronized technical + regulatory tracks. Greenlight Guru tracks QMS documents but not engineering milestones. No competitor links a prototype testing schedule to an FDA submission timeline.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PROGRAM MANAGEMENT</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2: Gate System</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gate-system.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Phase-gate governance with digital review — checklist-based criteria per gate</a:t>
            </a:r>
          </a:p>
          <a:p>
            <a:pPr>
              <a:spcAft>
                <a:spcPts val="400"/>
              </a:spcAft>
              <a:defRPr sz="1200">
                <a:solidFill>
                  <a:srgbClr val="333333"/>
                </a:solidFill>
                <a:latin typeface="Calibri"/>
              </a:defRPr>
            </a:pPr>
            <a:r>
              <a:t>▸ 2-6 gates auto-generated based on project length</a:t>
            </a:r>
          </a:p>
          <a:p>
            <a:pPr>
              <a:spcAft>
                <a:spcPts val="400"/>
              </a:spcAft>
              <a:defRPr sz="1200">
                <a:solidFill>
                  <a:srgbClr val="333333"/>
                </a:solidFill>
                <a:latin typeface="Calibri"/>
              </a:defRPr>
            </a:pPr>
            <a:r>
              <a:t>▸ Gate decisions: Proceed / No-Go / Conditional — PMP records with timestamp attribution</a:t>
            </a:r>
          </a:p>
          <a:p>
            <a:pPr>
              <a:spcAft>
                <a:spcPts val="400"/>
              </a:spcAft>
              <a:defRPr sz="1200">
                <a:solidFill>
                  <a:srgbClr val="333333"/>
                </a:solidFill>
                <a:latin typeface="Calibri"/>
              </a:defRPr>
            </a:pPr>
            <a:r>
              <a:t>▸ Stakeholder inputs from Tech and Business teams feed into each gate decision</a:t>
            </a:r>
          </a:p>
          <a:p>
            <a:pPr>
              <a:spcAft>
                <a:spcPts val="400"/>
              </a:spcAft>
              <a:defRPr sz="1200">
                <a:solidFill>
                  <a:srgbClr val="333333"/>
                </a:solidFill>
                <a:latin typeface="Calibri"/>
              </a:defRPr>
            </a:pPr>
            <a:r>
              <a:t>▸ Gate notes capture discussion points, conditions, and commitments</a:t>
            </a:r>
          </a:p>
          <a:p>
            <a:pPr>
              <a:spcAft>
                <a:spcPts val="400"/>
              </a:spcAft>
              <a:defRPr sz="1200">
                <a:solidFill>
                  <a:srgbClr val="333333"/>
                </a:solidFill>
                <a:latin typeface="Calibri"/>
              </a:defRPr>
            </a:pPr>
            <a:r>
              <a:t>▸ Gate status auto-updates (Not Started → Pending Review → Approved → Blocked) as criteria complete</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Stage-Gate® is a well-known methodology, but no SaaS tool implements it for medical devices. Generic PM tools require manual spreadsheet gates. Control Tower's gate system directly references 510(k) deliverables — e.g., 'DHF complete?' as an actual gate criterion linked to the DHF tracker.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PROGRAM MANAGEMENT</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3: Timeline</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timeline.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Month-by-month consolidated project view showing technical + business activities</a:t>
            </a:r>
          </a:p>
          <a:p>
            <a:pPr>
              <a:spcAft>
                <a:spcPts val="400"/>
              </a:spcAft>
              <a:defRPr sz="1200">
                <a:solidFill>
                  <a:srgbClr val="333333"/>
                </a:solidFill>
                <a:latin typeface="Calibri"/>
              </a:defRPr>
            </a:pPr>
            <a:r>
              <a:t>▸ Impact indicators: Neutral (|), Warning (⚠), Critical (🔴) for schedule risk</a:t>
            </a:r>
          </a:p>
          <a:p>
            <a:pPr>
              <a:spcAft>
                <a:spcPts val="400"/>
              </a:spcAft>
              <a:defRPr sz="1200">
                <a:solidFill>
                  <a:srgbClr val="333333"/>
                </a:solidFill>
                <a:latin typeface="Calibri"/>
              </a:defRPr>
            </a:pPr>
            <a:r>
              <a:t>▸ Auto-generated from device template or wizard inputs — instant project skeleton</a:t>
            </a:r>
          </a:p>
          <a:p>
            <a:pPr>
              <a:spcAft>
                <a:spcPts val="400"/>
              </a:spcAft>
              <a:defRPr sz="1200">
                <a:solidFill>
                  <a:srgbClr val="333333"/>
                </a:solidFill>
                <a:latin typeface="Calibri"/>
              </a:defRPr>
            </a:pPr>
            <a:r>
              <a:t>▸ Editable events with team-modifiable text and impact levels</a:t>
            </a:r>
          </a:p>
          <a:p>
            <a:pPr>
              <a:spcAft>
                <a:spcPts val="400"/>
              </a:spcAft>
              <a:defRPr sz="1200">
                <a:solidFill>
                  <a:srgbClr val="333333"/>
                </a:solidFill>
                <a:latin typeface="Calibri"/>
              </a:defRPr>
            </a:pPr>
            <a:r>
              <a:t>▸ Events linked to Dual-Track milestones for full traceability</a:t>
            </a:r>
          </a:p>
          <a:p>
            <a:pPr>
              <a:spcAft>
                <a:spcPts val="400"/>
              </a:spcAft>
              <a:defRPr sz="1200">
                <a:solidFill>
                  <a:srgbClr val="333333"/>
                </a:solidFill>
                <a:latin typeface="Calibri"/>
              </a:defRPr>
            </a:pPr>
            <a:r>
              <a:t>▸ Gives executives a single-page view of the entire 510(k) program lifecycle</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Gantt charts in MS Project or Monday.com are generic bars — they don't know an FDA milestone from a marketing campaign. Control Tower's timeline is purpose-built for 510(k) programs with built-in FDA terminology and impact-flagging.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PROGRAM MANAGEMENT</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4: Actions Panel</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actions.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Full task board: title, assignee, priority (H/M/L), status (Todo/In Progress/Done/Blocked), due date</a:t>
            </a:r>
          </a:p>
          <a:p>
            <a:pPr>
              <a:spcAft>
                <a:spcPts val="400"/>
              </a:spcAft>
              <a:defRPr sz="1200">
                <a:solidFill>
                  <a:srgbClr val="333333"/>
                </a:solidFill>
                <a:latin typeface="Calibri"/>
              </a:defRPr>
            </a:pPr>
            <a:r>
              <a:t>▸ Gate-linked actions — each task can reference a specific gate (G1, G2, etc.)</a:t>
            </a:r>
          </a:p>
          <a:p>
            <a:pPr>
              <a:spcAft>
                <a:spcPts val="400"/>
              </a:spcAft>
              <a:defRPr sz="1200">
                <a:solidFill>
                  <a:srgbClr val="333333"/>
                </a:solidFill>
                <a:latin typeface="Calibri"/>
              </a:defRPr>
            </a:pPr>
            <a:r>
              <a:t>▸ DHF Document Tracker — 21 CFR 820.30 Design History File document checklist</a:t>
            </a:r>
          </a:p>
          <a:p>
            <a:pPr>
              <a:spcAft>
                <a:spcPts val="400"/>
              </a:spcAft>
              <a:defRPr sz="1200">
                <a:solidFill>
                  <a:srgbClr val="333333"/>
                </a:solidFill>
                <a:latin typeface="Calibri"/>
              </a:defRPr>
            </a:pPr>
            <a:r>
              <a:t>▸ DMR Document Tracker — 21 CFR 820.181 Device Master Record (12 document types)</a:t>
            </a:r>
          </a:p>
          <a:p>
            <a:pPr>
              <a:spcAft>
                <a:spcPts val="400"/>
              </a:spcAft>
              <a:defRPr sz="1200">
                <a:solidFill>
                  <a:srgbClr val="333333"/>
                </a:solidFill>
                <a:latin typeface="Calibri"/>
              </a:defRPr>
            </a:pPr>
            <a:r>
              <a:t>▸ CAPA Log — Corrective &amp; Preventive Actions with risk linkage from Risk Dashboard</a:t>
            </a:r>
          </a:p>
          <a:p>
            <a:pPr>
              <a:spcAft>
                <a:spcPts val="400"/>
              </a:spcAft>
              <a:defRPr sz="1200">
                <a:solidFill>
                  <a:srgbClr val="333333"/>
                </a:solidFill>
                <a:latin typeface="Calibri"/>
              </a:defRPr>
            </a:pPr>
            <a:r>
              <a:t>▸ Four integrated sub-sections in one tab: Tasks + DHF + DMR + CAPA</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Greenlight Guru has DHF tracking but it's siloed from project management tasks. Jira has task boards but no DHF/DMR/CAPA awareness. Control Tower uniquely combines task management with FDA documentation checklists and links CAPAs directly to risks identified in the Risk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REGULATORY</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5: Regulatory Tracker</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regulatory-tracker.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Standards compliance dashboard auto-populated from device template</a:t>
            </a:r>
          </a:p>
          <a:p>
            <a:pPr>
              <a:spcAft>
                <a:spcPts val="400"/>
              </a:spcAft>
              <a:defRPr sz="1200">
                <a:solidFill>
                  <a:srgbClr val="333333"/>
                </a:solidFill>
                <a:latin typeface="Calibri"/>
              </a:defRPr>
            </a:pPr>
            <a:r>
              <a:t>▸ Tracks IEC 60601-1, IEC 60601-1-2, ISO 10993, ISO 14971, IEC 62304, 21 CFR 820, ISO 13485</a:t>
            </a:r>
          </a:p>
          <a:p>
            <a:pPr>
              <a:spcAft>
                <a:spcPts val="400"/>
              </a:spcAft>
              <a:defRPr sz="1200">
                <a:solidFill>
                  <a:srgbClr val="333333"/>
                </a:solidFill>
                <a:latin typeface="Calibri"/>
              </a:defRPr>
            </a:pPr>
            <a:r>
              <a:t>▸ Clause-level tracking — drill down to individual sub-clauses (e.g., ISO 10993-5, -10)</a:t>
            </a:r>
          </a:p>
          <a:p>
            <a:pPr>
              <a:spcAft>
                <a:spcPts val="400"/>
              </a:spcAft>
              <a:defRPr sz="1200">
                <a:solidFill>
                  <a:srgbClr val="333333"/>
                </a:solidFill>
                <a:latin typeface="Calibri"/>
              </a:defRPr>
            </a:pPr>
            <a:r>
              <a:t>▸ 0-100% progress bar per standard with status cycling</a:t>
            </a:r>
          </a:p>
          <a:p>
            <a:pPr>
              <a:spcAft>
                <a:spcPts val="400"/>
              </a:spcAft>
              <a:defRPr sz="1200">
                <a:solidFill>
                  <a:srgbClr val="333333"/>
                </a:solidFill>
                <a:latin typeface="Calibri"/>
              </a:defRPr>
            </a:pPr>
            <a:r>
              <a:t>▸ Evidence linking — attach document references to each clause</a:t>
            </a:r>
          </a:p>
          <a:p>
            <a:pPr>
              <a:spcAft>
                <a:spcPts val="400"/>
              </a:spcAft>
              <a:defRPr sz="1200">
                <a:solidFill>
                  <a:srgbClr val="333333"/>
                </a:solidFill>
                <a:latin typeface="Calibri"/>
              </a:defRPr>
            </a:pPr>
            <a:r>
              <a:t>▸ Instantly shows which standards are behind schedule, focusing team effort</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Qualio and MasterControl track document compliance but not standard-by-standard progress. No competitor auto-populates applicable standards based on device type. Teams currently maintain compliance matrices in Excel — Control Tower eliminates that spreadsheet and makes it live.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REGULATORY</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6: Risk Dashboard</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risk-dashboard.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Full ISO 14971 risk management visualization with severity × probability matrix</a:t>
            </a:r>
          </a:p>
          <a:p>
            <a:pPr>
              <a:spcAft>
                <a:spcPts val="400"/>
              </a:spcAft>
              <a:defRPr sz="1200">
                <a:solidFill>
                  <a:srgbClr val="333333"/>
                </a:solidFill>
                <a:latin typeface="Calibri"/>
              </a:defRPr>
            </a:pPr>
            <a:r>
              <a:t>▸ Color-coded risk levels: Green (Acceptable) → Yellow (ALARP) → Red (Unacceptable)</a:t>
            </a:r>
          </a:p>
          <a:p>
            <a:pPr>
              <a:spcAft>
                <a:spcPts val="400"/>
              </a:spcAft>
              <a:defRPr sz="1200">
                <a:solidFill>
                  <a:srgbClr val="333333"/>
                </a:solidFill>
                <a:latin typeface="Calibri"/>
              </a:defRPr>
            </a:pPr>
            <a:r>
              <a:t>▸ Per-risk fields: severity, probability, controls, residual risk, mitigation status, module, standard</a:t>
            </a:r>
          </a:p>
          <a:p>
            <a:pPr>
              <a:spcAft>
                <a:spcPts val="400"/>
              </a:spcAft>
              <a:defRPr sz="1200">
                <a:solidFill>
                  <a:srgbClr val="333333"/>
                </a:solidFill>
                <a:latin typeface="Calibri"/>
              </a:defRPr>
            </a:pPr>
            <a:r>
              <a:t>▸ Red-risk alerts automatically trigger warnings in the FDA Comms tab</a:t>
            </a:r>
          </a:p>
          <a:p>
            <a:pPr>
              <a:spcAft>
                <a:spcPts val="400"/>
              </a:spcAft>
              <a:defRPr sz="1200">
                <a:solidFill>
                  <a:srgbClr val="333333"/>
                </a:solidFill>
                <a:latin typeface="Calibri"/>
              </a:defRPr>
            </a:pPr>
            <a:r>
              <a:t>▸ Template-pre-populated risks (5-8 per device category — e.g., respiratory gets EMG-specific risks)</a:t>
            </a:r>
          </a:p>
          <a:p>
            <a:pPr>
              <a:spcAft>
                <a:spcPts val="400"/>
              </a:spcAft>
              <a:defRPr sz="1200">
                <a:solidFill>
                  <a:srgbClr val="333333"/>
                </a:solidFill>
                <a:latin typeface="Calibri"/>
              </a:defRPr>
            </a:pPr>
            <a:r>
              <a:t>▸ Click risk ID to open detailed editor — all changes audit-logged</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Most companies track risks in Word documents or standalone Excel matrices. Greenlight Guru has risk management but decoupled from project timelines. Control Tower's Risk Dashboard connects risks to CAPAs, gate criteria, and FDA Pre-Sub questions — a closed-loop risk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REGULATORY</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7: FDA Communications Center</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fda-comms.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PMP-exclusive tab — the nerve center for FDA interactions</a:t>
            </a:r>
          </a:p>
          <a:p>
            <a:pPr>
              <a:spcAft>
                <a:spcPts val="400"/>
              </a:spcAft>
              <a:defRPr sz="1200">
                <a:solidFill>
                  <a:srgbClr val="333333"/>
                </a:solidFill>
                <a:latin typeface="Calibri"/>
              </a:defRPr>
            </a:pPr>
            <a:r>
              <a:t>▸ Q-Sub Cover Letter Generator — 5 types (Pre-Sub Meeting, Written Questions, Controlled Correspondence, etc.)</a:t>
            </a:r>
          </a:p>
          <a:p>
            <a:pPr>
              <a:spcAft>
                <a:spcPts val="400"/>
              </a:spcAft>
              <a:defRPr sz="1200">
                <a:solidFill>
                  <a:srgbClr val="333333"/>
                </a:solidFill>
                <a:latin typeface="Calibri"/>
              </a:defRPr>
            </a:pPr>
            <a:r>
              <a:t>▸ Export Question Package — pulls Pre-Sub question threads from Message Board into formatted FDA package</a:t>
            </a:r>
          </a:p>
          <a:p>
            <a:pPr>
              <a:spcAft>
                <a:spcPts val="400"/>
              </a:spcAft>
              <a:defRPr sz="1200">
                <a:solidFill>
                  <a:srgbClr val="333333"/>
                </a:solidFill>
                <a:latin typeface="Calibri"/>
              </a:defRPr>
            </a:pPr>
            <a:r>
              <a:t>▸ Refuse-to-Accept (RTA) Checklist — 17-item self-validation against FDA acceptance criteria</a:t>
            </a:r>
          </a:p>
          <a:p>
            <a:pPr>
              <a:spcAft>
                <a:spcPts val="400"/>
              </a:spcAft>
              <a:defRPr sz="1200">
                <a:solidFill>
                  <a:srgbClr val="333333"/>
                </a:solidFill>
                <a:latin typeface="Calibri"/>
              </a:defRPr>
            </a:pPr>
            <a:r>
              <a:t>▸ MDUFA Review Timeline — Day 1 through Day 90 milestone tracking for standard 510(k) review</a:t>
            </a:r>
          </a:p>
          <a:p>
            <a:pPr>
              <a:spcAft>
                <a:spcPts val="400"/>
              </a:spcAft>
              <a:defRPr sz="1200">
                <a:solidFill>
                  <a:srgbClr val="333333"/>
                </a:solidFill>
                <a:latin typeface="Calibri"/>
              </a:defRPr>
            </a:pPr>
            <a:r>
              <a:t>▸ Substantial Equivalence Decision Flowchart — FDA's SE determination logic visualized</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NO COMPETITOR HAS THIS. No existing platform generates FDA Q-Sub cover letters, exports Pre-Sub question packages, or provides an RTA pre-check. This is Control Tower's single strongest differentiator — it automates the most time-consuming and error-prone regulatory communication workflows.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DOCUMENTS</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8: Document Control</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document-control.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ISO 13485-aligned document lifecycle: Draft → In Review → Approved → Effective → Obsolete</a:t>
            </a:r>
          </a:p>
          <a:p>
            <a:pPr>
              <a:spcAft>
                <a:spcPts val="400"/>
              </a:spcAft>
              <a:defRPr sz="1200">
                <a:solidFill>
                  <a:srgbClr val="333333"/>
                </a:solidFill>
                <a:latin typeface="Calibri"/>
              </a:defRPr>
            </a:pPr>
            <a:r>
              <a:t>▸ Auto-generated Document Control Numbers (DCN-REG-001, etc.)</a:t>
            </a:r>
          </a:p>
          <a:p>
            <a:pPr>
              <a:spcAft>
                <a:spcPts val="400"/>
              </a:spcAft>
              <a:defRPr sz="1200">
                <a:solidFill>
                  <a:srgbClr val="333333"/>
                </a:solidFill>
                <a:latin typeface="Calibri"/>
              </a:defRPr>
            </a:pPr>
            <a:r>
              <a:t>▸ Categories: Regulatory, Technical, Business, Legal, Finance, Templates</a:t>
            </a:r>
          </a:p>
          <a:p>
            <a:pPr>
              <a:spcAft>
                <a:spcPts val="400"/>
              </a:spcAft>
              <a:defRPr sz="1200">
                <a:solidFill>
                  <a:srgbClr val="333333"/>
                </a:solidFill>
                <a:latin typeface="Calibri"/>
              </a:defRPr>
            </a:pPr>
            <a:r>
              <a:t>▸ Browser localStorage for IP protection + optional server sync for approved docs</a:t>
            </a:r>
          </a:p>
          <a:p>
            <a:pPr>
              <a:spcAft>
                <a:spcPts val="400"/>
              </a:spcAft>
              <a:defRPr sz="1200">
                <a:solidFill>
                  <a:srgbClr val="333333"/>
                </a:solidFill>
                <a:latin typeface="Calibri"/>
              </a:defRPr>
            </a:pPr>
            <a:r>
              <a:t>▸ Source reference linking (GitHub commit, SVN revision, etc.)</a:t>
            </a:r>
          </a:p>
          <a:p>
            <a:pPr>
              <a:spcAft>
                <a:spcPts val="400"/>
              </a:spcAft>
              <a:defRPr sz="1200">
                <a:solidFill>
                  <a:srgbClr val="333333"/>
                </a:solidFill>
                <a:latin typeface="Calibri"/>
              </a:defRPr>
            </a:pPr>
            <a:r>
              <a:t>▸ Milestone linkage — e.g., R8 milestone triggers DHF document readiness check</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MasterControl and Qualio are full QMS platforms costing $50K+/yr. Control Tower provides 80% of critical document control features at a fraction of the cost, tightly integrated with project milestones rather than existing as a standalone system.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DOCUMENTS</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9: Audit Trail</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audit-trail.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21 CFR Part 11-compliant immutable activity log</a:t>
            </a:r>
          </a:p>
          <a:p>
            <a:pPr>
              <a:spcAft>
                <a:spcPts val="400"/>
              </a:spcAft>
              <a:defRPr sz="1200">
                <a:solidFill>
                  <a:srgbClr val="333333"/>
                </a:solidFill>
                <a:latin typeface="Calibri"/>
              </a:defRPr>
            </a:pPr>
            <a:r>
              <a:t>▸ Every change captured: timestamp, user role, action type, target, old value → new value</a:t>
            </a:r>
          </a:p>
          <a:p>
            <a:pPr>
              <a:spcAft>
                <a:spcPts val="400"/>
              </a:spcAft>
              <a:defRPr sz="1200">
                <a:solidFill>
                  <a:srgbClr val="333333"/>
                </a:solidFill>
                <a:latin typeface="Calibri"/>
              </a:defRPr>
            </a:pPr>
            <a:r>
              <a:t>▸ 100+ action types (milestone-status, risk-field, gate-decision, doc-status, budget-entry, etc.)</a:t>
            </a:r>
          </a:p>
          <a:p>
            <a:pPr>
              <a:spcAft>
                <a:spcPts val="400"/>
              </a:spcAft>
              <a:defRPr sz="1200">
                <a:solidFill>
                  <a:srgbClr val="333333"/>
                </a:solidFill>
                <a:latin typeface="Calibri"/>
              </a:defRPr>
            </a:pPr>
            <a:r>
              <a:t>▸ Keyword search and action-type filtering</a:t>
            </a:r>
          </a:p>
          <a:p>
            <a:pPr>
              <a:spcAft>
                <a:spcPts val="400"/>
              </a:spcAft>
              <a:defRPr sz="1200">
                <a:solidFill>
                  <a:srgbClr val="333333"/>
                </a:solidFill>
                <a:latin typeface="Calibri"/>
              </a:defRPr>
            </a:pPr>
            <a:r>
              <a:t>▸ Export complete history as CSV/JSON for regulatory submissions</a:t>
            </a:r>
          </a:p>
          <a:p>
            <a:pPr>
              <a:spcAft>
                <a:spcPts val="400"/>
              </a:spcAft>
              <a:defRPr sz="1200">
                <a:solidFill>
                  <a:srgbClr val="333333"/>
                </a:solidFill>
                <a:latin typeface="Calibri"/>
              </a:defRPr>
            </a:pPr>
            <a:r>
              <a:t>▸ Auto-synced to Supabase backend; queues locally if offline — zero data loss</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This is table-stakes for regulated industries but missing from generic PM tools. Jira's audit log is IT-focused, not regulatory. Control Tower's audit trail is designed specifically for FDA investigators and notified body auditors, capturing the exact fields and formatting they expect.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FINANCE</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10: Budget</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budget.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Budget vs. actual tracking by category — pre-populated from device template</a:t>
            </a:r>
          </a:p>
          <a:p>
            <a:pPr>
              <a:spcAft>
                <a:spcPts val="400"/>
              </a:spcAft>
              <a:defRPr sz="1200">
                <a:solidFill>
                  <a:srgbClr val="333333"/>
                </a:solidFill>
                <a:latin typeface="Calibri"/>
              </a:defRPr>
            </a:pPr>
            <a:r>
              <a:t>▸ Categories: Prototype &amp; Materials, Testing, Regulatory &amp; Legal, Personnel, etc.</a:t>
            </a:r>
          </a:p>
          <a:p>
            <a:pPr>
              <a:spcAft>
                <a:spcPts val="400"/>
              </a:spcAft>
              <a:defRPr sz="1200">
                <a:solidFill>
                  <a:srgbClr val="333333"/>
                </a:solidFill>
                <a:latin typeface="Calibri"/>
              </a:defRPr>
            </a:pPr>
            <a:r>
              <a:t>▸ Per-category fields: planned amount, actual amount, variance (auto-calculated), notes</a:t>
            </a:r>
          </a:p>
          <a:p>
            <a:pPr>
              <a:spcAft>
                <a:spcPts val="400"/>
              </a:spcAft>
              <a:defRPr sz="1200">
                <a:solidFill>
                  <a:srgbClr val="333333"/>
                </a:solidFill>
                <a:latin typeface="Calibri"/>
              </a:defRPr>
            </a:pPr>
            <a:r>
              <a:t>▸ Dual currency support: USD/CNY auto-toggle (7.25× conversion rate)</a:t>
            </a:r>
          </a:p>
          <a:p>
            <a:pPr>
              <a:spcAft>
                <a:spcPts val="400"/>
              </a:spcAft>
              <a:defRPr sz="1200">
                <a:solidFill>
                  <a:srgbClr val="333333"/>
                </a:solidFill>
                <a:latin typeface="Calibri"/>
              </a:defRPr>
            </a:pPr>
            <a:r>
              <a:t>▸ Add/edit/delete categories as project evolves</a:t>
            </a:r>
          </a:p>
          <a:p>
            <a:pPr>
              <a:spcAft>
                <a:spcPts val="400"/>
              </a:spcAft>
              <a:defRPr sz="1200">
                <a:solidFill>
                  <a:srgbClr val="333333"/>
                </a:solidFill>
                <a:latin typeface="Calibri"/>
              </a:defRPr>
            </a:pPr>
            <a:r>
              <a:t>▸ All budget changes captured in Audit Trail for financial accountability</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Generic PM tools either lack budgeting entirely (Jira) or provide basic spend tracking without medical-device-specific cost categories. Control Tower pre-populates budget categories that match 510(k) development phases — testing lab fees, regulatory counsel, biocompatibility studies, etc.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FINANCE</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11: Cash / Runway</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cash-runway.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Real-time financial health dashboard: Cash on Hand, Monthly Burn Rate, Runway (months)</a:t>
            </a:r>
          </a:p>
          <a:p>
            <a:pPr>
              <a:spcAft>
                <a:spcPts val="400"/>
              </a:spcAft>
              <a:defRPr sz="1200">
                <a:solidFill>
                  <a:srgbClr val="333333"/>
                </a:solidFill>
                <a:latin typeface="Calibri"/>
              </a:defRPr>
            </a:pPr>
            <a:r>
              <a:t>▸ Runway color coding: Green (&gt;12 mo), Yellow (6-12 mo), Red (&lt;6 mo) — instant visibility</a:t>
            </a:r>
          </a:p>
          <a:p>
            <a:pPr>
              <a:spcAft>
                <a:spcPts val="400"/>
              </a:spcAft>
              <a:defRPr sz="1200">
                <a:solidFill>
                  <a:srgbClr val="333333"/>
                </a:solidFill>
                <a:latin typeface="Calibri"/>
              </a:defRPr>
            </a:pPr>
            <a:r>
              <a:t>▸ Funding round tracking: Pipeline → Committed → Received with amounts and dates</a:t>
            </a:r>
          </a:p>
          <a:p>
            <a:pPr>
              <a:spcAft>
                <a:spcPts val="400"/>
              </a:spcAft>
              <a:defRPr sz="1200">
                <a:solidFill>
                  <a:srgbClr val="333333"/>
                </a:solidFill>
                <a:latin typeface="Calibri"/>
              </a:defRPr>
            </a:pPr>
            <a:r>
              <a:t>▸ Month-by-month burn history: actual vs. planned expenditure</a:t>
            </a:r>
          </a:p>
          <a:p>
            <a:pPr>
              <a:spcAft>
                <a:spcPts val="400"/>
              </a:spcAft>
              <a:defRPr sz="1200">
                <a:solidFill>
                  <a:srgbClr val="333333"/>
                </a:solidFill>
                <a:latin typeface="Calibri"/>
              </a:defRPr>
            </a:pPr>
            <a:r>
              <a:t>▸ Visual burn history charts for board presentations</a:t>
            </a:r>
          </a:p>
          <a:p>
            <a:pPr>
              <a:spcAft>
                <a:spcPts val="400"/>
              </a:spcAft>
              <a:defRPr sz="1200">
                <a:solidFill>
                  <a:srgbClr val="333333"/>
                </a:solidFill>
                <a:latin typeface="Calibri"/>
              </a:defRPr>
            </a:pPr>
            <a:r>
              <a:t>▸ Critical for startups — answers 'do we have enough cash to reach FDA clearance?'</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Financial planning tools (QuickBooks, Xero) don't tie cash runway to regulatory milestones. Startup dashboards (Carta, Visible) track burn but know nothing about FDA timelines. Control Tower uniquely answers the question every med-device founder asks: 'Will my money last until 510(k) clearance?'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FINANCE</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12: US Investment</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us-investment.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Investor relations pipeline: Prospect → Contacted → In Discussions → Term Sheet → Committed</a:t>
            </a:r>
          </a:p>
          <a:p>
            <a:pPr>
              <a:spcAft>
                <a:spcPts val="400"/>
              </a:spcAft>
              <a:defRPr sz="1200">
                <a:solidFill>
                  <a:srgbClr val="333333"/>
                </a:solidFill>
                <a:latin typeface="Calibri"/>
              </a:defRPr>
            </a:pPr>
            <a:r>
              <a:t>▸ Investor profiles: type (VC, Angel, Strategic, PE, Government), stage fit, committed amounts</a:t>
            </a:r>
          </a:p>
          <a:p>
            <a:pPr>
              <a:spcAft>
                <a:spcPts val="400"/>
              </a:spcAft>
              <a:defRPr sz="1200">
                <a:solidFill>
                  <a:srgbClr val="333333"/>
                </a:solidFill>
                <a:latin typeface="Calibri"/>
              </a:defRPr>
            </a:pPr>
            <a:r>
              <a:t>▸ IR activity logging: meetings, presentations, due diligence sessions, term negotiations</a:t>
            </a:r>
          </a:p>
          <a:p>
            <a:pPr>
              <a:spcAft>
                <a:spcPts val="400"/>
              </a:spcAft>
              <a:defRPr sz="1200">
                <a:solidFill>
                  <a:srgbClr val="333333"/>
                </a:solidFill>
                <a:latin typeface="Calibri"/>
              </a:defRPr>
            </a:pPr>
            <a:r>
              <a:t>▸ Activity metrics and conversion rates for fundraising effectiveness</a:t>
            </a:r>
          </a:p>
          <a:p>
            <a:pPr>
              <a:spcAft>
                <a:spcPts val="400"/>
              </a:spcAft>
              <a:defRPr sz="1200">
                <a:solidFill>
                  <a:srgbClr val="333333"/>
                </a:solidFill>
                <a:latin typeface="Calibri"/>
              </a:defRPr>
            </a:pPr>
            <a:r>
              <a:t>▸ Purpose-built for international med-device companies entering the US market</a:t>
            </a:r>
          </a:p>
          <a:p>
            <a:pPr>
              <a:spcAft>
                <a:spcPts val="400"/>
              </a:spcAft>
              <a:defRPr sz="1200">
                <a:solidFill>
                  <a:srgbClr val="333333"/>
                </a:solidFill>
                <a:latin typeface="Calibri"/>
              </a:defRPr>
            </a:pPr>
            <a:r>
              <a:t>▸ Consolidates investor tracking that otherwise lives in scattered spreadsheets and CRMs</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CRM tools (HubSpot, Salesforce) track investor contacts but have no medical-device context. Carta handles cap tables but not investor pipeline. Control Tower provides a specialized investor pipeline that sits alongside the 510(k) program — so founders can show investors exactly where they are in the regulatory process.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FINANCE</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13: Cap Table</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sp>
        <p:nvSpPr>
          <p:cNvPr id="7" name="TextBox 6"/>
          <p:cNvSpPr txBox="1"/>
          <p:nvPr/>
        </p:nvSpPr>
        <p:spPr>
          <a:xfrm>
            <a:off x="731520" y="1188720"/>
            <a:ext cx="105156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Full equity ownership registry: Common, Preferred A/B/C, Options, Warrants</a:t>
            </a:r>
          </a:p>
          <a:p>
            <a:pPr>
              <a:spcAft>
                <a:spcPts val="400"/>
              </a:spcAft>
              <a:defRPr sz="1200">
                <a:solidFill>
                  <a:srgbClr val="333333"/>
                </a:solidFill>
                <a:latin typeface="Calibri"/>
              </a:defRPr>
            </a:pPr>
            <a:r>
              <a:t>▸ Auto-calculated ownership percentages and board seat tracking</a:t>
            </a:r>
          </a:p>
          <a:p>
            <a:pPr>
              <a:spcAft>
                <a:spcPts val="400"/>
              </a:spcAft>
              <a:defRPr sz="1200">
                <a:solidFill>
                  <a:srgbClr val="333333"/>
                </a:solidFill>
                <a:latin typeface="Calibri"/>
              </a:defRPr>
            </a:pPr>
            <a:r>
              <a:t>▸ Equity events: funding rounds, stock splits, option grants, preferred conversions, warrant exercises</a:t>
            </a:r>
          </a:p>
          <a:p>
            <a:pPr>
              <a:spcAft>
                <a:spcPts val="400"/>
              </a:spcAft>
              <a:defRPr sz="1200">
                <a:solidFill>
                  <a:srgbClr val="333333"/>
                </a:solidFill>
                <a:latin typeface="Calibri"/>
              </a:defRPr>
            </a:pPr>
            <a:r>
              <a:t>▸ Vesting schedule administration: 4-year standard with 1-year cliff (customizable)</a:t>
            </a:r>
          </a:p>
          <a:p>
            <a:pPr>
              <a:spcAft>
                <a:spcPts val="400"/>
              </a:spcAft>
              <a:defRPr sz="1200">
                <a:solidFill>
                  <a:srgbClr val="333333"/>
                </a:solidFill>
                <a:latin typeface="Calibri"/>
              </a:defRPr>
            </a:pPr>
            <a:r>
              <a:t>▸ Current vested/unvested tracking with next vest date calculation</a:t>
            </a:r>
          </a:p>
          <a:p>
            <a:pPr>
              <a:spcAft>
                <a:spcPts val="400"/>
              </a:spcAft>
              <a:defRPr sz="1200">
                <a:solidFill>
                  <a:srgbClr val="333333"/>
                </a:solidFill>
                <a:latin typeface="Calibri"/>
              </a:defRPr>
            </a:pPr>
            <a:r>
              <a:t>▸ Three integrated sections: Shareholders + Equity Events + Vesting Schedules</a:t>
            </a:r>
          </a:p>
        </p:txBody>
      </p:sp>
      <p:sp>
        <p:nvSpPr>
          <p:cNvPr id="8" name="Rectangle 7"/>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0" name="TextBox 9"/>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Carta is the gold standard for cap tables but costs $5K-$50K/yr and is standalone. Control Tower's cap table is integrated with the project — when a funding round closes (US Investment tab), it can flow into the cap table. For early-stage med-device startups, this eliminates yet another standalone tool.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OPERATIONS</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14: Resources</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resources.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Team allocation and utilization monitoring across workstreams</a:t>
            </a:r>
          </a:p>
          <a:p>
            <a:pPr>
              <a:spcAft>
                <a:spcPts val="400"/>
              </a:spcAft>
              <a:defRPr sz="1200">
                <a:solidFill>
                  <a:srgbClr val="333333"/>
                </a:solidFill>
                <a:latin typeface="Calibri"/>
              </a:defRPr>
            </a:pPr>
            <a:r>
              <a:t>▸ Workstream allocation: % across Technical, Regulatory, Business, Finance (+ custom)</a:t>
            </a:r>
          </a:p>
          <a:p>
            <a:pPr>
              <a:spcAft>
                <a:spcPts val="400"/>
              </a:spcAft>
              <a:defRPr sz="1200">
                <a:solidFill>
                  <a:srgbClr val="333333"/>
                </a:solidFill>
                <a:latin typeface="Calibri"/>
              </a:defRPr>
            </a:pPr>
            <a:r>
              <a:t>▸ Utilization gauge: Green (&lt;85%), Yellow (85-100%), Red (&gt;100%) — prevents burnout</a:t>
            </a:r>
          </a:p>
          <a:p>
            <a:pPr>
              <a:spcAft>
                <a:spcPts val="400"/>
              </a:spcAft>
              <a:defRPr sz="1200">
                <a:solidFill>
                  <a:srgbClr val="333333"/>
                </a:solidFill>
                <a:latin typeface="Calibri"/>
              </a:defRPr>
            </a:pPr>
            <a:r>
              <a:t>▸ Team member profiles: name, role, email, bio</a:t>
            </a:r>
          </a:p>
          <a:p>
            <a:pPr>
              <a:spcAft>
                <a:spcPts val="400"/>
              </a:spcAft>
              <a:defRPr sz="1200">
                <a:solidFill>
                  <a:srgbClr val="333333"/>
                </a:solidFill>
                <a:latin typeface="Calibri"/>
              </a:defRPr>
            </a:pPr>
            <a:r>
              <a:t>▸ Inline editing — click percentage to adjust allocations in real time</a:t>
            </a:r>
          </a:p>
          <a:p>
            <a:pPr>
              <a:spcAft>
                <a:spcPts val="400"/>
              </a:spcAft>
              <a:defRPr sz="1200">
                <a:solidFill>
                  <a:srgbClr val="333333"/>
                </a:solidFill>
                <a:latin typeface="Calibri"/>
              </a:defRPr>
            </a:pPr>
            <a:r>
              <a:t>▸ Audit-logged allocation changes for workforce planning transparency</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Resource management in Jira or Monday.com is task-hour based, not workstream-% based. Med-device teams often have dual-hatted engineers (tech + regulatory). Control Tower's allocation model matches how small device teams actually work — showing at a glance if your V&amp;V engineer is also overloaded on regulatory documentation.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OPERATIONS</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15: Suppliers</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suppliers.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Supplier qualification and PO tracking — aligned with 21 CFR 820 supplier controls</a:t>
            </a:r>
          </a:p>
          <a:p>
            <a:pPr>
              <a:spcAft>
                <a:spcPts val="400"/>
              </a:spcAft>
              <a:defRPr sz="1200">
                <a:solidFill>
                  <a:srgbClr val="333333"/>
                </a:solidFill>
                <a:latin typeface="Calibri"/>
              </a:defRPr>
            </a:pPr>
            <a:r>
              <a:t>▸ Status lifecycle: Under Review → Qualified → Active → On Hold → Rejected</a:t>
            </a:r>
          </a:p>
          <a:p>
            <a:pPr>
              <a:spcAft>
                <a:spcPts val="400"/>
              </a:spcAft>
              <a:defRPr sz="1200">
                <a:solidFill>
                  <a:srgbClr val="333333"/>
                </a:solidFill>
                <a:latin typeface="Calibri"/>
              </a:defRPr>
            </a:pPr>
            <a:r>
              <a:t>▸ Fields: component/part, lead time (days), PO status, contract mfg milestones</a:t>
            </a:r>
          </a:p>
          <a:p>
            <a:pPr>
              <a:spcAft>
                <a:spcPts val="400"/>
              </a:spcAft>
              <a:defRPr sz="1200">
                <a:solidFill>
                  <a:srgbClr val="333333"/>
                </a:solidFill>
                <a:latin typeface="Calibri"/>
              </a:defRPr>
            </a:pPr>
            <a:r>
              <a:t>▸ Qualification criteria: ISO 13485/9001 certs, test reports, business continuity plans</a:t>
            </a:r>
          </a:p>
          <a:p>
            <a:pPr>
              <a:spcAft>
                <a:spcPts val="400"/>
              </a:spcAft>
              <a:defRPr sz="1200">
                <a:solidFill>
                  <a:srgbClr val="333333"/>
                </a:solidFill>
                <a:latin typeface="Calibri"/>
              </a:defRPr>
            </a:pPr>
            <a:r>
              <a:t>▸ Critical for 510(k) — FDA expects documented supplier qualification in your QMS</a:t>
            </a:r>
          </a:p>
          <a:p>
            <a:pPr>
              <a:spcAft>
                <a:spcPts val="400"/>
              </a:spcAft>
              <a:defRPr sz="1200">
                <a:solidFill>
                  <a:srgbClr val="333333"/>
                </a:solidFill>
                <a:latin typeface="Calibri"/>
              </a:defRPr>
            </a:pPr>
            <a:r>
              <a:t>▸ Linked to project milestones — knows when a component's lead time threatens a gate review</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Arena Solutions (PTC) is a full PLM with BOM management but costs $1,000+/seat/yr. Control Tower provides the supplier qualification tracking FDA expects without the complexity of a full PLM — perfect for startups building their first device with 5-15 suppliers.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0" cy="457200"/>
          </a:xfrm>
          <a:prstGeom prst="rect">
            <a:avLst/>
          </a:prstGeom>
          <a:noFill/>
        </p:spPr>
        <p:txBody>
          <a:bodyPr wrap="square">
            <a:spAutoFit/>
          </a:bodyPr>
          <a:lstStyle/>
          <a:p>
            <a:pPr algn="l">
              <a:defRPr sz="1300" b="1">
                <a:solidFill>
                  <a:srgbClr val="009688"/>
                </a:solidFill>
                <a:latin typeface="Calibri"/>
              </a:defRPr>
            </a:pPr>
            <a:r>
              <a:t>COMMUNICATIONS</a:t>
            </a:r>
          </a:p>
        </p:txBody>
      </p:sp>
      <p:sp>
        <p:nvSpPr>
          <p:cNvPr id="4" name="TextBox 3"/>
          <p:cNvSpPr txBox="1"/>
          <p:nvPr/>
        </p:nvSpPr>
        <p:spPr>
          <a:xfrm>
            <a:off x="548640" y="411480"/>
            <a:ext cx="9144000" cy="502920"/>
          </a:xfrm>
          <a:prstGeom prst="rect">
            <a:avLst/>
          </a:prstGeom>
          <a:noFill/>
        </p:spPr>
        <p:txBody>
          <a:bodyPr wrap="square">
            <a:spAutoFit/>
          </a:bodyPr>
          <a:lstStyle/>
          <a:p>
            <a:pPr algn="l">
              <a:defRPr sz="2600" b="1">
                <a:solidFill>
                  <a:srgbClr val="FFFFFF"/>
                </a:solidFill>
                <a:latin typeface="Calibri"/>
              </a:defRPr>
            </a:pPr>
            <a:r>
              <a:t>Tab 16: Message Board</a:t>
            </a:r>
          </a:p>
        </p:txBody>
      </p:sp>
      <p:sp>
        <p:nvSpPr>
          <p:cNvPr id="5" name="TextBox 4"/>
          <p:cNvSpPr txBox="1"/>
          <p:nvPr/>
        </p:nvSpPr>
        <p:spPr>
          <a:xfrm>
            <a:off x="9601200" y="274320"/>
            <a:ext cx="2286000" cy="457200"/>
          </a:xfrm>
          <a:prstGeom prst="rect">
            <a:avLst/>
          </a:prstGeom>
          <a:noFill/>
        </p:spPr>
        <p:txBody>
          <a:bodyPr wrap="square">
            <a:spAutoFit/>
          </a:bodyPr>
          <a:lstStyle/>
          <a:p>
            <a:pPr algn="r">
              <a:defRPr sz="1600" b="1">
                <a:solidFill>
                  <a:srgbClr val="009688"/>
                </a:solidFill>
                <a:latin typeface="Calibri"/>
              </a:defRPr>
            </a:pPr>
            <a:r>
              <a:t>510(k) Bridge</a:t>
            </a:r>
          </a:p>
        </p:txBody>
      </p:sp>
      <p:sp>
        <p:nvSpPr>
          <p:cNvPr id="6" name="TextBox 5"/>
          <p:cNvSpPr txBox="1"/>
          <p:nvPr/>
        </p:nvSpPr>
        <p:spPr>
          <a:xfrm>
            <a:off x="9601200" y="548640"/>
            <a:ext cx="2286000" cy="365760"/>
          </a:xfrm>
          <a:prstGeom prst="rect">
            <a:avLst/>
          </a:prstGeom>
          <a:noFill/>
        </p:spPr>
        <p:txBody>
          <a:bodyPr wrap="square">
            <a:spAutoFit/>
          </a:bodyPr>
          <a:lstStyle/>
          <a:p>
            <a:pPr algn="r">
              <a:defRPr sz="1200" b="0">
                <a:solidFill>
                  <a:srgbClr val="FFFFFF"/>
                </a:solidFill>
                <a:latin typeface="Calibri"/>
              </a:defRPr>
            </a:pPr>
            <a:r>
              <a:t>Control Tower</a:t>
            </a:r>
          </a:p>
        </p:txBody>
      </p:sp>
      <p:pic>
        <p:nvPicPr>
          <p:cNvPr id="7" name="Picture 6" descr="message-board.png"/>
          <p:cNvPicPr>
            <a:picLocks noChangeAspect="1"/>
          </p:cNvPicPr>
          <p:nvPr/>
        </p:nvPicPr>
        <p:blipFill>
          <a:blip r:embed="rId2"/>
          <a:stretch>
            <a:fillRect/>
          </a:stretch>
        </p:blipFill>
        <p:spPr>
          <a:xfrm>
            <a:off x="365760" y="1188720"/>
            <a:ext cx="5669280" cy="3543300"/>
          </a:xfrm>
          <a:prstGeom prst="rect">
            <a:avLst/>
          </a:prstGeom>
        </p:spPr>
      </p:pic>
      <p:sp>
        <p:nvSpPr>
          <p:cNvPr id="8" name="TextBox 7"/>
          <p:cNvSpPr txBox="1"/>
          <p:nvPr/>
        </p:nvSpPr>
        <p:spPr>
          <a:xfrm>
            <a:off x="6309360" y="1188720"/>
            <a:ext cx="5486400" cy="3200400"/>
          </a:xfrm>
          <a:prstGeom prst="rect">
            <a:avLst/>
          </a:prstGeom>
          <a:noFill/>
        </p:spPr>
        <p:txBody>
          <a:bodyPr wrap="square">
            <a:spAutoFit/>
          </a:bodyPr>
          <a:lstStyle/>
          <a:p>
            <a:pPr>
              <a:spcAft>
                <a:spcPts val="800"/>
              </a:spcAft>
              <a:defRPr sz="1600" b="1">
                <a:solidFill>
                  <a:srgbClr val="009688"/>
                </a:solidFill>
                <a:latin typeface="Calibri"/>
              </a:defRPr>
            </a:pPr>
            <a:r>
              <a:t>Value Proposition</a:t>
            </a:r>
          </a:p>
          <a:p>
            <a:pPr>
              <a:spcAft>
                <a:spcPts val="400"/>
              </a:spcAft>
              <a:defRPr sz="1200">
                <a:solidFill>
                  <a:srgbClr val="333333"/>
                </a:solidFill>
                <a:latin typeface="Calibri"/>
              </a:defRPr>
            </a:pPr>
            <a:r>
              <a:t>▸ Cross-functional threaded discussions with decision &amp; action tracking</a:t>
            </a:r>
          </a:p>
          <a:p>
            <a:pPr>
              <a:spcAft>
                <a:spcPts val="400"/>
              </a:spcAft>
              <a:defRPr sz="1200">
                <a:solidFill>
                  <a:srgbClr val="333333"/>
                </a:solidFill>
                <a:latin typeface="Calibri"/>
              </a:defRPr>
            </a:pPr>
            <a:r>
              <a:t>▸ Workstreams: Technical, Regulatory, Business, Finance, Pre-Sub Questions, Other</a:t>
            </a:r>
          </a:p>
          <a:p>
            <a:pPr>
              <a:spcAft>
                <a:spcPts val="400"/>
              </a:spcAft>
              <a:defRPr sz="1200">
                <a:solidFill>
                  <a:srgbClr val="333333"/>
                </a:solidFill>
                <a:latin typeface="Calibri"/>
              </a:defRPr>
            </a:pPr>
            <a:r>
              <a:t>▸ Intent tags: Discuss, Decide, Inform, Escalate — every conversation has purpose</a:t>
            </a:r>
          </a:p>
          <a:p>
            <a:pPr>
              <a:spcAft>
                <a:spcPts val="400"/>
              </a:spcAft>
              <a:defRPr sz="1200">
                <a:solidFill>
                  <a:srgbClr val="333333"/>
                </a:solidFill>
                <a:latin typeface="Calibri"/>
              </a:defRPr>
            </a:pPr>
            <a:r>
              <a:t>▸ [DECISION] and [ACTION] message prefixes for traceability</a:t>
            </a:r>
          </a:p>
          <a:p>
            <a:pPr>
              <a:spcAft>
                <a:spcPts val="400"/>
              </a:spcAft>
              <a:defRPr sz="1200">
                <a:solidFill>
                  <a:srgbClr val="333333"/>
                </a:solidFill>
                <a:latin typeface="Calibri"/>
              </a:defRPr>
            </a:pPr>
            <a:r>
              <a:t>▸ Pre-Sub Questions workstream: collaboratively author FDA questions → export to FDA Comms</a:t>
            </a:r>
          </a:p>
          <a:p>
            <a:pPr>
              <a:spcAft>
                <a:spcPts val="400"/>
              </a:spcAft>
              <a:defRPr sz="1200">
                <a:solidFill>
                  <a:srgbClr val="333333"/>
                </a:solidFill>
                <a:latin typeface="Calibri"/>
              </a:defRPr>
            </a:pPr>
            <a:r>
              <a:t>▸ Views: All Threads, My Items, Decisions, Executive — filter by lifecycle (Open/Resolved)</a:t>
            </a:r>
          </a:p>
        </p:txBody>
      </p:sp>
      <p:sp>
        <p:nvSpPr>
          <p:cNvPr id="9" name="Rectangle 8"/>
          <p:cNvSpPr/>
          <p:nvPr/>
        </p:nvSpPr>
        <p:spPr>
          <a:xfrm>
            <a:off x="274320" y="5120640"/>
            <a:ext cx="11612880" cy="1463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166360"/>
            <a:ext cx="2743200" cy="320040"/>
          </a:xfrm>
          <a:prstGeom prst="rect">
            <a:avLst/>
          </a:prstGeom>
          <a:noFill/>
        </p:spPr>
        <p:txBody>
          <a:bodyPr wrap="square">
            <a:spAutoFit/>
          </a:bodyPr>
          <a:lstStyle/>
          <a:p>
            <a:pPr algn="l">
              <a:defRPr sz="1300" b="1">
                <a:solidFill>
                  <a:srgbClr val="E53E3E"/>
                </a:solidFill>
                <a:latin typeface="Calibri"/>
              </a:defRPr>
            </a:pPr>
            <a:r>
              <a:t>Competitor Gap Analysis</a:t>
            </a:r>
          </a:p>
        </p:txBody>
      </p:sp>
      <p:sp>
        <p:nvSpPr>
          <p:cNvPr id="11" name="TextBox 10"/>
          <p:cNvSpPr txBox="1"/>
          <p:nvPr/>
        </p:nvSpPr>
        <p:spPr>
          <a:xfrm>
            <a:off x="457200" y="5440680"/>
            <a:ext cx="11247120" cy="1097280"/>
          </a:xfrm>
          <a:prstGeom prst="rect">
            <a:avLst/>
          </a:prstGeom>
          <a:noFill/>
        </p:spPr>
        <p:txBody>
          <a:bodyPr wrap="square">
            <a:spAutoFit/>
          </a:bodyPr>
          <a:lstStyle/>
          <a:p>
            <a:pPr algn="l">
              <a:defRPr sz="1200" b="0">
                <a:solidFill>
                  <a:srgbClr val="333333"/>
                </a:solidFill>
                <a:latin typeface="Calibri"/>
              </a:defRPr>
            </a:pPr>
            <a:r>
              <a:t>Slack, Teams, and email are where medical device decisions die — critical regulatory decisions buried in chat streams with no traceability. Control Tower's Message Board captures every decision with role attribution, timestamps, and the ability to spawn action items — then exports Pre-Sub questions directly to the FDA Communications Center.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Setup Wizard &amp; 7 Pre-Configured Device Templates</a:t>
            </a:r>
          </a:p>
        </p:txBody>
      </p:sp>
      <p:sp>
        <p:nvSpPr>
          <p:cNvPr id="4" name="Rectangle 3"/>
          <p:cNvSpPr/>
          <p:nvPr/>
        </p:nvSpPr>
        <p:spPr>
          <a:xfrm>
            <a:off x="457200" y="1371600"/>
            <a:ext cx="2651760" cy="201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63040"/>
            <a:ext cx="2377440" cy="365760"/>
          </a:xfrm>
          <a:prstGeom prst="rect">
            <a:avLst/>
          </a:prstGeom>
          <a:noFill/>
        </p:spPr>
        <p:txBody>
          <a:bodyPr wrap="square">
            <a:spAutoFit/>
          </a:bodyPr>
          <a:lstStyle/>
          <a:p>
            <a:pPr algn="l">
              <a:defRPr sz="1600" b="1">
                <a:solidFill>
                  <a:srgbClr val="0B233A"/>
                </a:solidFill>
                <a:latin typeface="Calibri"/>
              </a:defRPr>
            </a:pPr>
            <a:r>
              <a:t>🫁 Respiratory</a:t>
            </a:r>
          </a:p>
        </p:txBody>
      </p:sp>
      <p:sp>
        <p:nvSpPr>
          <p:cNvPr id="6" name="TextBox 5"/>
          <p:cNvSpPr txBox="1"/>
          <p:nvPr/>
        </p:nvSpPr>
        <p:spPr>
          <a:xfrm>
            <a:off x="594360" y="1874520"/>
            <a:ext cx="2377440" cy="640080"/>
          </a:xfrm>
          <a:prstGeom prst="rect">
            <a:avLst/>
          </a:prstGeom>
          <a:noFill/>
        </p:spPr>
        <p:txBody>
          <a:bodyPr wrap="square">
            <a:spAutoFit/>
          </a:bodyPr>
          <a:lstStyle/>
          <a:p>
            <a:pPr algn="l">
              <a:defRPr sz="1100" b="0">
                <a:solidFill>
                  <a:srgbClr val="333333"/>
                </a:solidFill>
                <a:latin typeface="Calibri"/>
              </a:defRPr>
            </a:pPr>
            <a:r>
              <a:t>Ventilators, CPAP, nebulizers</a:t>
            </a:r>
            <a:br/>
            <a:r>
              <a:t>Product codes: BZD, CBK, BTT, FRA</a:t>
            </a:r>
          </a:p>
        </p:txBody>
      </p:sp>
      <p:sp>
        <p:nvSpPr>
          <p:cNvPr id="7" name="TextBox 6"/>
          <p:cNvSpPr txBox="1"/>
          <p:nvPr/>
        </p:nvSpPr>
        <p:spPr>
          <a:xfrm>
            <a:off x="594360" y="2560320"/>
            <a:ext cx="2377440" cy="731520"/>
          </a:xfrm>
          <a:prstGeom prst="rect">
            <a:avLst/>
          </a:prstGeom>
          <a:noFill/>
        </p:spPr>
        <p:txBody>
          <a:bodyPr wrap="square">
            <a:spAutoFit/>
          </a:bodyPr>
          <a:lstStyle/>
          <a:p>
            <a:pPr algn="l">
              <a:defRPr sz="1000" b="0">
                <a:solidFill>
                  <a:srgbClr val="007ACC"/>
                </a:solidFill>
                <a:latin typeface="Calibri"/>
              </a:defRPr>
            </a:pPr>
            <a:r>
              <a:t>Includes:</a:t>
            </a:r>
            <a:br/>
            <a:r>
              <a:t>• Pre-seeded risks &amp; standards</a:t>
            </a:r>
            <a:br/>
            <a:r>
              <a:t>• Budget categories</a:t>
            </a:r>
            <a:br/>
            <a:r>
              <a:t>• Timeline &amp; milestones</a:t>
            </a:r>
          </a:p>
        </p:txBody>
      </p:sp>
      <p:sp>
        <p:nvSpPr>
          <p:cNvPr id="8" name="Rectangle 7"/>
          <p:cNvSpPr/>
          <p:nvPr/>
        </p:nvSpPr>
        <p:spPr>
          <a:xfrm>
            <a:off x="3337560" y="1371600"/>
            <a:ext cx="2651760" cy="201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463040"/>
            <a:ext cx="2377440" cy="365760"/>
          </a:xfrm>
          <a:prstGeom prst="rect">
            <a:avLst/>
          </a:prstGeom>
          <a:noFill/>
        </p:spPr>
        <p:txBody>
          <a:bodyPr wrap="square">
            <a:spAutoFit/>
          </a:bodyPr>
          <a:lstStyle/>
          <a:p>
            <a:pPr algn="l">
              <a:defRPr sz="1600" b="1">
                <a:solidFill>
                  <a:srgbClr val="0B233A"/>
                </a:solidFill>
                <a:latin typeface="Calibri"/>
              </a:defRPr>
            </a:pPr>
            <a:r>
              <a:t>❤️ Cardiovascular</a:t>
            </a:r>
          </a:p>
        </p:txBody>
      </p:sp>
      <p:sp>
        <p:nvSpPr>
          <p:cNvPr id="10" name="TextBox 9"/>
          <p:cNvSpPr txBox="1"/>
          <p:nvPr/>
        </p:nvSpPr>
        <p:spPr>
          <a:xfrm>
            <a:off x="3474720" y="1874520"/>
            <a:ext cx="2377440" cy="640080"/>
          </a:xfrm>
          <a:prstGeom prst="rect">
            <a:avLst/>
          </a:prstGeom>
          <a:noFill/>
        </p:spPr>
        <p:txBody>
          <a:bodyPr wrap="square">
            <a:spAutoFit/>
          </a:bodyPr>
          <a:lstStyle/>
          <a:p>
            <a:pPr algn="l">
              <a:defRPr sz="1100" b="0">
                <a:solidFill>
                  <a:srgbClr val="333333"/>
                </a:solidFill>
                <a:latin typeface="Calibri"/>
              </a:defRPr>
            </a:pPr>
            <a:r>
              <a:t>ECG monitors, BP devices, stents</a:t>
            </a:r>
            <a:br/>
            <a:r>
              <a:t>Product codes: DRX, DXH, MHX</a:t>
            </a:r>
          </a:p>
        </p:txBody>
      </p:sp>
      <p:sp>
        <p:nvSpPr>
          <p:cNvPr id="11" name="TextBox 10"/>
          <p:cNvSpPr txBox="1"/>
          <p:nvPr/>
        </p:nvSpPr>
        <p:spPr>
          <a:xfrm>
            <a:off x="3474720" y="2560320"/>
            <a:ext cx="2377440" cy="731520"/>
          </a:xfrm>
          <a:prstGeom prst="rect">
            <a:avLst/>
          </a:prstGeom>
          <a:noFill/>
        </p:spPr>
        <p:txBody>
          <a:bodyPr wrap="square">
            <a:spAutoFit/>
          </a:bodyPr>
          <a:lstStyle/>
          <a:p>
            <a:pPr algn="l">
              <a:defRPr sz="1000" b="0">
                <a:solidFill>
                  <a:srgbClr val="007ACC"/>
                </a:solidFill>
                <a:latin typeface="Calibri"/>
              </a:defRPr>
            </a:pPr>
            <a:r>
              <a:t>Includes:</a:t>
            </a:r>
            <a:br/>
            <a:r>
              <a:t>• Pre-seeded risks &amp; standards</a:t>
            </a:r>
            <a:br/>
            <a:r>
              <a:t>• Budget categories</a:t>
            </a:r>
            <a:br/>
            <a:r>
              <a:t>• Timeline &amp; milestones</a:t>
            </a:r>
          </a:p>
        </p:txBody>
      </p:sp>
      <p:sp>
        <p:nvSpPr>
          <p:cNvPr id="12" name="Rectangle 11"/>
          <p:cNvSpPr/>
          <p:nvPr/>
        </p:nvSpPr>
        <p:spPr>
          <a:xfrm>
            <a:off x="6217920" y="1371600"/>
            <a:ext cx="2651760" cy="201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463040"/>
            <a:ext cx="2377440" cy="365760"/>
          </a:xfrm>
          <a:prstGeom prst="rect">
            <a:avLst/>
          </a:prstGeom>
          <a:noFill/>
        </p:spPr>
        <p:txBody>
          <a:bodyPr wrap="square">
            <a:spAutoFit/>
          </a:bodyPr>
          <a:lstStyle/>
          <a:p>
            <a:pPr algn="l">
              <a:defRPr sz="1600" b="1">
                <a:solidFill>
                  <a:srgbClr val="0B233A"/>
                </a:solidFill>
                <a:latin typeface="Calibri"/>
              </a:defRPr>
            </a:pPr>
            <a:r>
              <a:t>🦴 Orthopedic</a:t>
            </a:r>
          </a:p>
        </p:txBody>
      </p:sp>
      <p:sp>
        <p:nvSpPr>
          <p:cNvPr id="14" name="TextBox 13"/>
          <p:cNvSpPr txBox="1"/>
          <p:nvPr/>
        </p:nvSpPr>
        <p:spPr>
          <a:xfrm>
            <a:off x="6355080" y="1874520"/>
            <a:ext cx="2377440" cy="640080"/>
          </a:xfrm>
          <a:prstGeom prst="rect">
            <a:avLst/>
          </a:prstGeom>
          <a:noFill/>
        </p:spPr>
        <p:txBody>
          <a:bodyPr wrap="square">
            <a:spAutoFit/>
          </a:bodyPr>
          <a:lstStyle/>
          <a:p>
            <a:pPr algn="l">
              <a:defRPr sz="1100" b="0">
                <a:solidFill>
                  <a:srgbClr val="333333"/>
                </a:solidFill>
                <a:latin typeface="Calibri"/>
              </a:defRPr>
            </a:pPr>
            <a:r>
              <a:t>Joint implants, instruments,</a:t>
            </a:r>
            <a:br/>
            <a:r>
              <a:t>fixation devices</a:t>
            </a:r>
          </a:p>
        </p:txBody>
      </p:sp>
      <p:sp>
        <p:nvSpPr>
          <p:cNvPr id="15" name="TextBox 14"/>
          <p:cNvSpPr txBox="1"/>
          <p:nvPr/>
        </p:nvSpPr>
        <p:spPr>
          <a:xfrm>
            <a:off x="6355080" y="2560320"/>
            <a:ext cx="2377440" cy="731520"/>
          </a:xfrm>
          <a:prstGeom prst="rect">
            <a:avLst/>
          </a:prstGeom>
          <a:noFill/>
        </p:spPr>
        <p:txBody>
          <a:bodyPr wrap="square">
            <a:spAutoFit/>
          </a:bodyPr>
          <a:lstStyle/>
          <a:p>
            <a:pPr algn="l">
              <a:defRPr sz="1000" b="0">
                <a:solidFill>
                  <a:srgbClr val="007ACC"/>
                </a:solidFill>
                <a:latin typeface="Calibri"/>
              </a:defRPr>
            </a:pPr>
            <a:r>
              <a:t>Includes:</a:t>
            </a:r>
            <a:br/>
            <a:r>
              <a:t>• Pre-seeded risks &amp; standards</a:t>
            </a:r>
            <a:br/>
            <a:r>
              <a:t>• Budget categories</a:t>
            </a:r>
            <a:br/>
            <a:r>
              <a:t>• Timeline &amp; milestones</a:t>
            </a:r>
          </a:p>
        </p:txBody>
      </p:sp>
      <p:sp>
        <p:nvSpPr>
          <p:cNvPr id="16" name="Rectangle 15"/>
          <p:cNvSpPr/>
          <p:nvPr/>
        </p:nvSpPr>
        <p:spPr>
          <a:xfrm>
            <a:off x="9098280" y="1371600"/>
            <a:ext cx="2651760" cy="201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463040"/>
            <a:ext cx="2377440" cy="365760"/>
          </a:xfrm>
          <a:prstGeom prst="rect">
            <a:avLst/>
          </a:prstGeom>
          <a:noFill/>
        </p:spPr>
        <p:txBody>
          <a:bodyPr wrap="square">
            <a:spAutoFit/>
          </a:bodyPr>
          <a:lstStyle/>
          <a:p>
            <a:pPr algn="l">
              <a:defRPr sz="1600" b="1">
                <a:solidFill>
                  <a:srgbClr val="0B233A"/>
                </a:solidFill>
                <a:latin typeface="Calibri"/>
              </a:defRPr>
            </a:pPr>
            <a:r>
              <a:t>🧪 IVD</a:t>
            </a:r>
          </a:p>
        </p:txBody>
      </p:sp>
      <p:sp>
        <p:nvSpPr>
          <p:cNvPr id="18" name="TextBox 17"/>
          <p:cNvSpPr txBox="1"/>
          <p:nvPr/>
        </p:nvSpPr>
        <p:spPr>
          <a:xfrm>
            <a:off x="9235440" y="1874520"/>
            <a:ext cx="2377440" cy="640080"/>
          </a:xfrm>
          <a:prstGeom prst="rect">
            <a:avLst/>
          </a:prstGeom>
          <a:noFill/>
        </p:spPr>
        <p:txBody>
          <a:bodyPr wrap="square">
            <a:spAutoFit/>
          </a:bodyPr>
          <a:lstStyle/>
          <a:p>
            <a:pPr algn="l">
              <a:defRPr sz="1100" b="0">
                <a:solidFill>
                  <a:srgbClr val="333333"/>
                </a:solidFill>
                <a:latin typeface="Calibri"/>
              </a:defRPr>
            </a:pPr>
            <a:r>
              <a:t>In-vitro diagnostics, assays,</a:t>
            </a:r>
            <a:br/>
            <a:r>
              <a:t>analyzers</a:t>
            </a:r>
          </a:p>
        </p:txBody>
      </p:sp>
      <p:sp>
        <p:nvSpPr>
          <p:cNvPr id="19" name="TextBox 18"/>
          <p:cNvSpPr txBox="1"/>
          <p:nvPr/>
        </p:nvSpPr>
        <p:spPr>
          <a:xfrm>
            <a:off x="9235440" y="2560320"/>
            <a:ext cx="2377440" cy="731520"/>
          </a:xfrm>
          <a:prstGeom prst="rect">
            <a:avLst/>
          </a:prstGeom>
          <a:noFill/>
        </p:spPr>
        <p:txBody>
          <a:bodyPr wrap="square">
            <a:spAutoFit/>
          </a:bodyPr>
          <a:lstStyle/>
          <a:p>
            <a:pPr algn="l">
              <a:defRPr sz="1000" b="0">
                <a:solidFill>
                  <a:srgbClr val="007ACC"/>
                </a:solidFill>
                <a:latin typeface="Calibri"/>
              </a:defRPr>
            </a:pPr>
            <a:r>
              <a:t>Includes:</a:t>
            </a:r>
            <a:br/>
            <a:r>
              <a:t>• Pre-seeded risks &amp; standards</a:t>
            </a:r>
            <a:br/>
            <a:r>
              <a:t>• Budget categories</a:t>
            </a:r>
            <a:br/>
            <a:r>
              <a:t>• Timeline &amp; milestones</a:t>
            </a:r>
          </a:p>
        </p:txBody>
      </p:sp>
      <p:sp>
        <p:nvSpPr>
          <p:cNvPr id="20" name="Rectangle 19"/>
          <p:cNvSpPr/>
          <p:nvPr/>
        </p:nvSpPr>
        <p:spPr>
          <a:xfrm>
            <a:off x="457200" y="3657600"/>
            <a:ext cx="2651760" cy="201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749040"/>
            <a:ext cx="2377440" cy="365760"/>
          </a:xfrm>
          <a:prstGeom prst="rect">
            <a:avLst/>
          </a:prstGeom>
          <a:noFill/>
        </p:spPr>
        <p:txBody>
          <a:bodyPr wrap="square">
            <a:spAutoFit/>
          </a:bodyPr>
          <a:lstStyle/>
          <a:p>
            <a:pPr algn="l">
              <a:defRPr sz="1600" b="1">
                <a:solidFill>
                  <a:srgbClr val="0B233A"/>
                </a:solidFill>
                <a:latin typeface="Calibri"/>
              </a:defRPr>
            </a:pPr>
            <a:r>
              <a:t>📷 Imaging</a:t>
            </a:r>
          </a:p>
        </p:txBody>
      </p:sp>
      <p:sp>
        <p:nvSpPr>
          <p:cNvPr id="22" name="TextBox 21"/>
          <p:cNvSpPr txBox="1"/>
          <p:nvPr/>
        </p:nvSpPr>
        <p:spPr>
          <a:xfrm>
            <a:off x="594360" y="4160520"/>
            <a:ext cx="2377440" cy="640080"/>
          </a:xfrm>
          <a:prstGeom prst="rect">
            <a:avLst/>
          </a:prstGeom>
          <a:noFill/>
        </p:spPr>
        <p:txBody>
          <a:bodyPr wrap="square">
            <a:spAutoFit/>
          </a:bodyPr>
          <a:lstStyle/>
          <a:p>
            <a:pPr algn="l">
              <a:defRPr sz="1100" b="0">
                <a:solidFill>
                  <a:srgbClr val="333333"/>
                </a:solidFill>
                <a:latin typeface="Calibri"/>
              </a:defRPr>
            </a:pPr>
            <a:r>
              <a:t>X-ray, ultrasound,</a:t>
            </a:r>
            <a:br/>
            <a:r>
              <a:t>MRI accessories</a:t>
            </a:r>
          </a:p>
        </p:txBody>
      </p:sp>
      <p:sp>
        <p:nvSpPr>
          <p:cNvPr id="23" name="TextBox 22"/>
          <p:cNvSpPr txBox="1"/>
          <p:nvPr/>
        </p:nvSpPr>
        <p:spPr>
          <a:xfrm>
            <a:off x="594360" y="4846320"/>
            <a:ext cx="2377440" cy="731520"/>
          </a:xfrm>
          <a:prstGeom prst="rect">
            <a:avLst/>
          </a:prstGeom>
          <a:noFill/>
        </p:spPr>
        <p:txBody>
          <a:bodyPr wrap="square">
            <a:spAutoFit/>
          </a:bodyPr>
          <a:lstStyle/>
          <a:p>
            <a:pPr algn="l">
              <a:defRPr sz="1000" b="0">
                <a:solidFill>
                  <a:srgbClr val="007ACC"/>
                </a:solidFill>
                <a:latin typeface="Calibri"/>
              </a:defRPr>
            </a:pPr>
            <a:r>
              <a:t>Includes:</a:t>
            </a:r>
            <a:br/>
            <a:r>
              <a:t>• Pre-seeded risks &amp; standards</a:t>
            </a:r>
            <a:br/>
            <a:r>
              <a:t>• Budget categories</a:t>
            </a:r>
            <a:br/>
            <a:r>
              <a:t>• Timeline &amp; milestones</a:t>
            </a:r>
          </a:p>
        </p:txBody>
      </p:sp>
      <p:sp>
        <p:nvSpPr>
          <p:cNvPr id="24" name="Rectangle 23"/>
          <p:cNvSpPr/>
          <p:nvPr/>
        </p:nvSpPr>
        <p:spPr>
          <a:xfrm>
            <a:off x="3337560" y="3657600"/>
            <a:ext cx="2651760" cy="201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3749040"/>
            <a:ext cx="2377440" cy="365760"/>
          </a:xfrm>
          <a:prstGeom prst="rect">
            <a:avLst/>
          </a:prstGeom>
          <a:noFill/>
        </p:spPr>
        <p:txBody>
          <a:bodyPr wrap="square">
            <a:spAutoFit/>
          </a:bodyPr>
          <a:lstStyle/>
          <a:p>
            <a:pPr algn="l">
              <a:defRPr sz="1600" b="1">
                <a:solidFill>
                  <a:srgbClr val="0B233A"/>
                </a:solidFill>
                <a:latin typeface="Calibri"/>
              </a:defRPr>
            </a:pPr>
            <a:r>
              <a:t>♿ Rehabilitation</a:t>
            </a:r>
          </a:p>
        </p:txBody>
      </p:sp>
      <p:sp>
        <p:nvSpPr>
          <p:cNvPr id="26" name="TextBox 25"/>
          <p:cNvSpPr txBox="1"/>
          <p:nvPr/>
        </p:nvSpPr>
        <p:spPr>
          <a:xfrm>
            <a:off x="3474720" y="4160520"/>
            <a:ext cx="2377440" cy="640080"/>
          </a:xfrm>
          <a:prstGeom prst="rect">
            <a:avLst/>
          </a:prstGeom>
          <a:noFill/>
        </p:spPr>
        <p:txBody>
          <a:bodyPr wrap="square">
            <a:spAutoFit/>
          </a:bodyPr>
          <a:lstStyle/>
          <a:p>
            <a:pPr algn="l">
              <a:defRPr sz="1100" b="0">
                <a:solidFill>
                  <a:srgbClr val="333333"/>
                </a:solidFill>
                <a:latin typeface="Calibri"/>
              </a:defRPr>
            </a:pPr>
            <a:r>
              <a:t>Therapy devices,</a:t>
            </a:r>
            <a:br/>
            <a:r>
              <a:t>mobility aids</a:t>
            </a:r>
          </a:p>
        </p:txBody>
      </p:sp>
      <p:sp>
        <p:nvSpPr>
          <p:cNvPr id="27" name="TextBox 26"/>
          <p:cNvSpPr txBox="1"/>
          <p:nvPr/>
        </p:nvSpPr>
        <p:spPr>
          <a:xfrm>
            <a:off x="3474720" y="4846320"/>
            <a:ext cx="2377440" cy="731520"/>
          </a:xfrm>
          <a:prstGeom prst="rect">
            <a:avLst/>
          </a:prstGeom>
          <a:noFill/>
        </p:spPr>
        <p:txBody>
          <a:bodyPr wrap="square">
            <a:spAutoFit/>
          </a:bodyPr>
          <a:lstStyle/>
          <a:p>
            <a:pPr algn="l">
              <a:defRPr sz="1000" b="0">
                <a:solidFill>
                  <a:srgbClr val="007ACC"/>
                </a:solidFill>
                <a:latin typeface="Calibri"/>
              </a:defRPr>
            </a:pPr>
            <a:r>
              <a:t>Includes:</a:t>
            </a:r>
            <a:br/>
            <a:r>
              <a:t>• Pre-seeded risks &amp; standards</a:t>
            </a:r>
            <a:br/>
            <a:r>
              <a:t>• Budget categories</a:t>
            </a:r>
            <a:br/>
            <a:r>
              <a:t>• Timeline &amp; milestones</a:t>
            </a:r>
          </a:p>
        </p:txBody>
      </p:sp>
      <p:sp>
        <p:nvSpPr>
          <p:cNvPr id="28" name="Rectangle 27"/>
          <p:cNvSpPr/>
          <p:nvPr/>
        </p:nvSpPr>
        <p:spPr>
          <a:xfrm>
            <a:off x="6217920" y="3657600"/>
            <a:ext cx="2651760" cy="2011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3749040"/>
            <a:ext cx="2377440" cy="365760"/>
          </a:xfrm>
          <a:prstGeom prst="rect">
            <a:avLst/>
          </a:prstGeom>
          <a:noFill/>
        </p:spPr>
        <p:txBody>
          <a:bodyPr wrap="square">
            <a:spAutoFit/>
          </a:bodyPr>
          <a:lstStyle/>
          <a:p>
            <a:pPr algn="l">
              <a:defRPr sz="1600" b="1">
                <a:solidFill>
                  <a:srgbClr val="0B233A"/>
                </a:solidFill>
                <a:latin typeface="Calibri"/>
              </a:defRPr>
            </a:pPr>
            <a:r>
              <a:t>💻 SaMD</a:t>
            </a:r>
          </a:p>
        </p:txBody>
      </p:sp>
      <p:sp>
        <p:nvSpPr>
          <p:cNvPr id="30" name="TextBox 29"/>
          <p:cNvSpPr txBox="1"/>
          <p:nvPr/>
        </p:nvSpPr>
        <p:spPr>
          <a:xfrm>
            <a:off x="6355080" y="4160520"/>
            <a:ext cx="2377440" cy="640080"/>
          </a:xfrm>
          <a:prstGeom prst="rect">
            <a:avLst/>
          </a:prstGeom>
          <a:noFill/>
        </p:spPr>
        <p:txBody>
          <a:bodyPr wrap="square">
            <a:spAutoFit/>
          </a:bodyPr>
          <a:lstStyle/>
          <a:p>
            <a:pPr algn="l">
              <a:defRPr sz="1100" b="0">
                <a:solidFill>
                  <a:srgbClr val="333333"/>
                </a:solidFill>
                <a:latin typeface="Calibri"/>
              </a:defRPr>
            </a:pPr>
            <a:r>
              <a:t>Software as a Medical Device</a:t>
            </a:r>
            <a:br/>
            <a:r>
              <a:t>(IEC 62304 lifecycle)</a:t>
            </a:r>
          </a:p>
        </p:txBody>
      </p:sp>
      <p:sp>
        <p:nvSpPr>
          <p:cNvPr id="31" name="TextBox 30"/>
          <p:cNvSpPr txBox="1"/>
          <p:nvPr/>
        </p:nvSpPr>
        <p:spPr>
          <a:xfrm>
            <a:off x="6355080" y="4846320"/>
            <a:ext cx="2377440" cy="731520"/>
          </a:xfrm>
          <a:prstGeom prst="rect">
            <a:avLst/>
          </a:prstGeom>
          <a:noFill/>
        </p:spPr>
        <p:txBody>
          <a:bodyPr wrap="square">
            <a:spAutoFit/>
          </a:bodyPr>
          <a:lstStyle/>
          <a:p>
            <a:pPr algn="l">
              <a:defRPr sz="1000" b="0">
                <a:solidFill>
                  <a:srgbClr val="007ACC"/>
                </a:solidFill>
                <a:latin typeface="Calibri"/>
              </a:defRPr>
            </a:pPr>
            <a:r>
              <a:t>Includes:</a:t>
            </a:r>
            <a:br/>
            <a:r>
              <a:t>• Pre-seeded risks &amp; standards</a:t>
            </a:r>
            <a:br/>
            <a:r>
              <a:t>• Budget categories</a:t>
            </a:r>
            <a:br/>
            <a:r>
              <a:t>• Timeline &amp; milestones</a:t>
            </a:r>
          </a:p>
        </p:txBody>
      </p:sp>
      <p:sp>
        <p:nvSpPr>
          <p:cNvPr id="32" name="TextBox 31"/>
          <p:cNvSpPr txBox="1"/>
          <p:nvPr/>
        </p:nvSpPr>
        <p:spPr>
          <a:xfrm>
            <a:off x="457200" y="6035040"/>
            <a:ext cx="10972800" cy="548640"/>
          </a:xfrm>
          <a:prstGeom prst="rect">
            <a:avLst/>
          </a:prstGeom>
          <a:noFill/>
        </p:spPr>
        <p:txBody>
          <a:bodyPr wrap="square">
            <a:spAutoFit/>
          </a:bodyPr>
          <a:lstStyle/>
          <a:p>
            <a:pPr algn="l">
              <a:defRPr sz="1400" b="0">
                <a:solidFill>
                  <a:srgbClr val="333333"/>
                </a:solidFill>
                <a:latin typeface="Calibri"/>
              </a:defRPr>
            </a:pPr>
            <a:r>
              <a:t>Each template auto-populates risks, standards, budget categories, milestones, and timelines — teams are productive within minutes of project creation, not weeks.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Role-Based Access &amp; Subscription Tiers</a:t>
            </a:r>
          </a:p>
        </p:txBody>
      </p:sp>
      <p:sp>
        <p:nvSpPr>
          <p:cNvPr id="4" name="Rectangle 3"/>
          <p:cNvSpPr/>
          <p:nvPr/>
        </p:nvSpPr>
        <p:spPr>
          <a:xfrm>
            <a:off x="457200" y="1280160"/>
            <a:ext cx="2286000" cy="502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53312"/>
            <a:ext cx="2103120" cy="365760"/>
          </a:xfrm>
          <a:prstGeom prst="rect">
            <a:avLst/>
          </a:prstGeom>
          <a:noFill/>
        </p:spPr>
        <p:txBody>
          <a:bodyPr wrap="square">
            <a:spAutoFit/>
          </a:bodyPr>
          <a:lstStyle/>
          <a:p>
            <a:pPr algn="l">
              <a:defRPr sz="1300" b="1">
                <a:solidFill>
                  <a:srgbClr val="FFFFFF"/>
                </a:solidFill>
                <a:latin typeface="Calibri"/>
              </a:defRPr>
            </a:pPr>
            <a:r>
              <a:t>PMP (Project Manager)</a:t>
            </a:r>
          </a:p>
        </p:txBody>
      </p:sp>
      <p:sp>
        <p:nvSpPr>
          <p:cNvPr id="6" name="TextBox 5"/>
          <p:cNvSpPr txBox="1"/>
          <p:nvPr/>
        </p:nvSpPr>
        <p:spPr>
          <a:xfrm>
            <a:off x="2926080" y="1353312"/>
            <a:ext cx="4572000" cy="365760"/>
          </a:xfrm>
          <a:prstGeom prst="rect">
            <a:avLst/>
          </a:prstGeom>
          <a:noFill/>
        </p:spPr>
        <p:txBody>
          <a:bodyPr wrap="square">
            <a:spAutoFit/>
          </a:bodyPr>
          <a:lstStyle/>
          <a:p>
            <a:pPr algn="l">
              <a:defRPr sz="1300" b="0">
                <a:solidFill>
                  <a:srgbClr val="333333"/>
                </a:solidFill>
                <a:latin typeface="Calibri"/>
              </a:defRPr>
            </a:pPr>
            <a:r>
              <a:t>Full access to all 16 tabs; FDA Comms exclusive</a:t>
            </a:r>
          </a:p>
        </p:txBody>
      </p:sp>
      <p:sp>
        <p:nvSpPr>
          <p:cNvPr id="7" name="Rectangle 6"/>
          <p:cNvSpPr/>
          <p:nvPr/>
        </p:nvSpPr>
        <p:spPr>
          <a:xfrm>
            <a:off x="457200" y="1874520"/>
            <a:ext cx="2286000" cy="5029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47672"/>
            <a:ext cx="2103120" cy="365760"/>
          </a:xfrm>
          <a:prstGeom prst="rect">
            <a:avLst/>
          </a:prstGeom>
          <a:noFill/>
        </p:spPr>
        <p:txBody>
          <a:bodyPr wrap="square">
            <a:spAutoFit/>
          </a:bodyPr>
          <a:lstStyle/>
          <a:p>
            <a:pPr algn="l">
              <a:defRPr sz="1300" b="1">
                <a:solidFill>
                  <a:srgbClr val="FFFFFF"/>
                </a:solidFill>
                <a:latin typeface="Calibri"/>
              </a:defRPr>
            </a:pPr>
            <a:r>
              <a:t>Technology</a:t>
            </a:r>
          </a:p>
        </p:txBody>
      </p:sp>
      <p:sp>
        <p:nvSpPr>
          <p:cNvPr id="9" name="TextBox 8"/>
          <p:cNvSpPr txBox="1"/>
          <p:nvPr/>
        </p:nvSpPr>
        <p:spPr>
          <a:xfrm>
            <a:off x="2926080" y="1947672"/>
            <a:ext cx="4572000" cy="365760"/>
          </a:xfrm>
          <a:prstGeom prst="rect">
            <a:avLst/>
          </a:prstGeom>
          <a:noFill/>
        </p:spPr>
        <p:txBody>
          <a:bodyPr wrap="square">
            <a:spAutoFit/>
          </a:bodyPr>
          <a:lstStyle/>
          <a:p>
            <a:pPr algn="l">
              <a:defRPr sz="1300" b="0">
                <a:solidFill>
                  <a:srgbClr val="333333"/>
                </a:solidFill>
                <a:latin typeface="Calibri"/>
              </a:defRPr>
            </a:pPr>
            <a:r>
              <a:t>Technical/Regulatory tabs, Risks, Docs, Actions, Resources, Message Board</a:t>
            </a:r>
          </a:p>
        </p:txBody>
      </p:sp>
      <p:sp>
        <p:nvSpPr>
          <p:cNvPr id="10" name="Rectangle 9"/>
          <p:cNvSpPr/>
          <p:nvPr/>
        </p:nvSpPr>
        <p:spPr>
          <a:xfrm>
            <a:off x="457200" y="2468880"/>
            <a:ext cx="2286000"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42032"/>
            <a:ext cx="2103120" cy="365760"/>
          </a:xfrm>
          <a:prstGeom prst="rect">
            <a:avLst/>
          </a:prstGeom>
          <a:noFill/>
        </p:spPr>
        <p:txBody>
          <a:bodyPr wrap="square">
            <a:spAutoFit/>
          </a:bodyPr>
          <a:lstStyle/>
          <a:p>
            <a:pPr algn="l">
              <a:defRPr sz="1300" b="1">
                <a:solidFill>
                  <a:srgbClr val="FFFFFF"/>
                </a:solidFill>
                <a:latin typeface="Calibri"/>
              </a:defRPr>
            </a:pPr>
            <a:r>
              <a:t>Business</a:t>
            </a:r>
          </a:p>
        </p:txBody>
      </p:sp>
      <p:sp>
        <p:nvSpPr>
          <p:cNvPr id="12" name="TextBox 11"/>
          <p:cNvSpPr txBox="1"/>
          <p:nvPr/>
        </p:nvSpPr>
        <p:spPr>
          <a:xfrm>
            <a:off x="2926080" y="2542032"/>
            <a:ext cx="4572000" cy="365760"/>
          </a:xfrm>
          <a:prstGeom prst="rect">
            <a:avLst/>
          </a:prstGeom>
          <a:noFill/>
        </p:spPr>
        <p:txBody>
          <a:bodyPr wrap="square">
            <a:spAutoFit/>
          </a:bodyPr>
          <a:lstStyle/>
          <a:p>
            <a:pPr algn="l">
              <a:defRPr sz="1300" b="0">
                <a:solidFill>
                  <a:srgbClr val="333333"/>
                </a:solidFill>
                <a:latin typeface="Calibri"/>
              </a:defRPr>
            </a:pPr>
            <a:r>
              <a:t>Business milestones, Budget, Investment, Cap Table, Message Board</a:t>
            </a:r>
          </a:p>
        </p:txBody>
      </p:sp>
      <p:sp>
        <p:nvSpPr>
          <p:cNvPr id="13" name="Rectangle 12"/>
          <p:cNvSpPr/>
          <p:nvPr/>
        </p:nvSpPr>
        <p:spPr>
          <a:xfrm>
            <a:off x="457200" y="3063240"/>
            <a:ext cx="2286000" cy="50292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136392"/>
            <a:ext cx="2103120" cy="365760"/>
          </a:xfrm>
          <a:prstGeom prst="rect">
            <a:avLst/>
          </a:prstGeom>
          <a:noFill/>
        </p:spPr>
        <p:txBody>
          <a:bodyPr wrap="square">
            <a:spAutoFit/>
          </a:bodyPr>
          <a:lstStyle/>
          <a:p>
            <a:pPr algn="l">
              <a:defRPr sz="1300" b="1">
                <a:solidFill>
                  <a:srgbClr val="FFFFFF"/>
                </a:solidFill>
                <a:latin typeface="Calibri"/>
              </a:defRPr>
            </a:pPr>
            <a:r>
              <a:t>Accounting</a:t>
            </a:r>
          </a:p>
        </p:txBody>
      </p:sp>
      <p:sp>
        <p:nvSpPr>
          <p:cNvPr id="15" name="TextBox 14"/>
          <p:cNvSpPr txBox="1"/>
          <p:nvPr/>
        </p:nvSpPr>
        <p:spPr>
          <a:xfrm>
            <a:off x="2926080" y="3136392"/>
            <a:ext cx="4572000" cy="365760"/>
          </a:xfrm>
          <a:prstGeom prst="rect">
            <a:avLst/>
          </a:prstGeom>
          <a:noFill/>
        </p:spPr>
        <p:txBody>
          <a:bodyPr wrap="square">
            <a:spAutoFit/>
          </a:bodyPr>
          <a:lstStyle/>
          <a:p>
            <a:pPr algn="l">
              <a:defRPr sz="1300" b="0">
                <a:solidFill>
                  <a:srgbClr val="333333"/>
                </a:solidFill>
                <a:latin typeface="Calibri"/>
              </a:defRPr>
            </a:pPr>
            <a:r>
              <a:t>Budget, Cash/Runway, Cap Table (limited editing)</a:t>
            </a:r>
          </a:p>
        </p:txBody>
      </p:sp>
      <p:sp>
        <p:nvSpPr>
          <p:cNvPr id="16" name="TextBox 15"/>
          <p:cNvSpPr txBox="1"/>
          <p:nvPr/>
        </p:nvSpPr>
        <p:spPr>
          <a:xfrm>
            <a:off x="457200" y="3749039"/>
            <a:ext cx="4572000" cy="457200"/>
          </a:xfrm>
          <a:prstGeom prst="rect">
            <a:avLst/>
          </a:prstGeom>
          <a:noFill/>
        </p:spPr>
        <p:txBody>
          <a:bodyPr wrap="square">
            <a:spAutoFit/>
          </a:bodyPr>
          <a:lstStyle/>
          <a:p>
            <a:pPr algn="l">
              <a:defRPr sz="2200" b="1">
                <a:solidFill>
                  <a:srgbClr val="0B233A"/>
                </a:solidFill>
                <a:latin typeface="Calibri"/>
              </a:defRPr>
            </a:pPr>
            <a:r>
              <a:t>Subscription Tiers</a:t>
            </a:r>
          </a:p>
        </p:txBody>
      </p:sp>
      <p:sp>
        <p:nvSpPr>
          <p:cNvPr id="17" name="Rectangle 16"/>
          <p:cNvSpPr/>
          <p:nvPr/>
        </p:nvSpPr>
        <p:spPr>
          <a:xfrm>
            <a:off x="457200" y="4297680"/>
            <a:ext cx="3200400" cy="5486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389120"/>
            <a:ext cx="3017520" cy="365760"/>
          </a:xfrm>
          <a:prstGeom prst="rect">
            <a:avLst/>
          </a:prstGeom>
          <a:noFill/>
        </p:spPr>
        <p:txBody>
          <a:bodyPr wrap="square">
            <a:spAutoFit/>
          </a:bodyPr>
          <a:lstStyle/>
          <a:p>
            <a:pPr algn="l">
              <a:defRPr sz="1400" b="1">
                <a:solidFill>
                  <a:srgbClr val="FFFFFF"/>
                </a:solidFill>
                <a:latin typeface="Calibri"/>
              </a:defRPr>
            </a:pPr>
            <a:r>
              <a:t>Starter — $500/mo</a:t>
            </a:r>
          </a:p>
        </p:txBody>
      </p:sp>
      <p:sp>
        <p:nvSpPr>
          <p:cNvPr id="19" name="TextBox 18"/>
          <p:cNvSpPr txBox="1"/>
          <p:nvPr/>
        </p:nvSpPr>
        <p:spPr>
          <a:xfrm>
            <a:off x="3840480" y="4389120"/>
            <a:ext cx="1371600" cy="365760"/>
          </a:xfrm>
          <a:prstGeom prst="rect">
            <a:avLst/>
          </a:prstGeom>
          <a:noFill/>
        </p:spPr>
        <p:txBody>
          <a:bodyPr wrap="square">
            <a:spAutoFit/>
          </a:bodyPr>
          <a:lstStyle/>
          <a:p>
            <a:pPr algn="l">
              <a:defRPr sz="1300" b="1">
                <a:solidFill>
                  <a:srgbClr val="333333"/>
                </a:solidFill>
                <a:latin typeface="Calibri"/>
              </a:defRPr>
            </a:pPr>
            <a:r>
              <a:t>2 seats</a:t>
            </a:r>
          </a:p>
        </p:txBody>
      </p:sp>
      <p:sp>
        <p:nvSpPr>
          <p:cNvPr id="20" name="TextBox 19"/>
          <p:cNvSpPr txBox="1"/>
          <p:nvPr/>
        </p:nvSpPr>
        <p:spPr>
          <a:xfrm>
            <a:off x="5212080" y="4389120"/>
            <a:ext cx="6400800" cy="365760"/>
          </a:xfrm>
          <a:prstGeom prst="rect">
            <a:avLst/>
          </a:prstGeom>
          <a:noFill/>
        </p:spPr>
        <p:txBody>
          <a:bodyPr wrap="square">
            <a:spAutoFit/>
          </a:bodyPr>
          <a:lstStyle/>
          <a:p>
            <a:pPr algn="l">
              <a:defRPr sz="1300" b="0">
                <a:solidFill>
                  <a:srgbClr val="333333"/>
                </a:solidFill>
                <a:latin typeface="Calibri"/>
              </a:defRPr>
            </a:pPr>
            <a:r>
              <a:t>Dual-Track, Gates, Timeline, Budget</a:t>
            </a:r>
          </a:p>
        </p:txBody>
      </p:sp>
      <p:sp>
        <p:nvSpPr>
          <p:cNvPr id="21" name="Rectangle 20"/>
          <p:cNvSpPr/>
          <p:nvPr/>
        </p:nvSpPr>
        <p:spPr>
          <a:xfrm>
            <a:off x="457200" y="4937760"/>
            <a:ext cx="3200400" cy="5486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029200"/>
            <a:ext cx="3017520" cy="365760"/>
          </a:xfrm>
          <a:prstGeom prst="rect">
            <a:avLst/>
          </a:prstGeom>
          <a:noFill/>
        </p:spPr>
        <p:txBody>
          <a:bodyPr wrap="square">
            <a:spAutoFit/>
          </a:bodyPr>
          <a:lstStyle/>
          <a:p>
            <a:pPr algn="l">
              <a:defRPr sz="1400" b="1">
                <a:solidFill>
                  <a:srgbClr val="FFFFFF"/>
                </a:solidFill>
                <a:latin typeface="Calibri"/>
              </a:defRPr>
            </a:pPr>
            <a:r>
              <a:t>Growth — $1,000/mo</a:t>
            </a:r>
          </a:p>
        </p:txBody>
      </p:sp>
      <p:sp>
        <p:nvSpPr>
          <p:cNvPr id="23" name="TextBox 22"/>
          <p:cNvSpPr txBox="1"/>
          <p:nvPr/>
        </p:nvSpPr>
        <p:spPr>
          <a:xfrm>
            <a:off x="3840480" y="5029200"/>
            <a:ext cx="1371600" cy="365760"/>
          </a:xfrm>
          <a:prstGeom prst="rect">
            <a:avLst/>
          </a:prstGeom>
          <a:noFill/>
        </p:spPr>
        <p:txBody>
          <a:bodyPr wrap="square">
            <a:spAutoFit/>
          </a:bodyPr>
          <a:lstStyle/>
          <a:p>
            <a:pPr algn="l">
              <a:defRPr sz="1300" b="1">
                <a:solidFill>
                  <a:srgbClr val="333333"/>
                </a:solidFill>
                <a:latin typeface="Calibri"/>
              </a:defRPr>
            </a:pPr>
            <a:r>
              <a:t>5 seats</a:t>
            </a:r>
          </a:p>
        </p:txBody>
      </p:sp>
      <p:sp>
        <p:nvSpPr>
          <p:cNvPr id="24" name="TextBox 23"/>
          <p:cNvSpPr txBox="1"/>
          <p:nvPr/>
        </p:nvSpPr>
        <p:spPr>
          <a:xfrm>
            <a:off x="5212080" y="5029200"/>
            <a:ext cx="6400800" cy="365760"/>
          </a:xfrm>
          <a:prstGeom prst="rect">
            <a:avLst/>
          </a:prstGeom>
          <a:noFill/>
        </p:spPr>
        <p:txBody>
          <a:bodyPr wrap="square">
            <a:spAutoFit/>
          </a:bodyPr>
          <a:lstStyle/>
          <a:p>
            <a:pPr algn="l">
              <a:defRPr sz="1300" b="0">
                <a:solidFill>
                  <a:srgbClr val="333333"/>
                </a:solidFill>
                <a:latin typeface="Calibri"/>
              </a:defRPr>
            </a:pPr>
            <a:r>
              <a:t>All except Cap Table, FDA Comms, US Investment</a:t>
            </a:r>
          </a:p>
        </p:txBody>
      </p:sp>
      <p:sp>
        <p:nvSpPr>
          <p:cNvPr id="25" name="Rectangle 24"/>
          <p:cNvSpPr/>
          <p:nvPr/>
        </p:nvSpPr>
        <p:spPr>
          <a:xfrm>
            <a:off x="457200" y="5577840"/>
            <a:ext cx="3200400" cy="5486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669280"/>
            <a:ext cx="3017520" cy="365760"/>
          </a:xfrm>
          <a:prstGeom prst="rect">
            <a:avLst/>
          </a:prstGeom>
          <a:noFill/>
        </p:spPr>
        <p:txBody>
          <a:bodyPr wrap="square">
            <a:spAutoFit/>
          </a:bodyPr>
          <a:lstStyle/>
          <a:p>
            <a:pPr algn="l">
              <a:defRPr sz="1400" b="1">
                <a:solidFill>
                  <a:srgbClr val="FFFFFF"/>
                </a:solidFill>
                <a:latin typeface="Calibri"/>
              </a:defRPr>
            </a:pPr>
            <a:r>
              <a:t>Scale — $2,000/mo</a:t>
            </a:r>
          </a:p>
        </p:txBody>
      </p:sp>
      <p:sp>
        <p:nvSpPr>
          <p:cNvPr id="27" name="TextBox 26"/>
          <p:cNvSpPr txBox="1"/>
          <p:nvPr/>
        </p:nvSpPr>
        <p:spPr>
          <a:xfrm>
            <a:off x="3840480" y="5669280"/>
            <a:ext cx="1371600" cy="365760"/>
          </a:xfrm>
          <a:prstGeom prst="rect">
            <a:avLst/>
          </a:prstGeom>
          <a:noFill/>
        </p:spPr>
        <p:txBody>
          <a:bodyPr wrap="square">
            <a:spAutoFit/>
          </a:bodyPr>
          <a:lstStyle/>
          <a:p>
            <a:pPr algn="l">
              <a:defRPr sz="1300" b="1">
                <a:solidFill>
                  <a:srgbClr val="333333"/>
                </a:solidFill>
                <a:latin typeface="Calibri"/>
              </a:defRPr>
            </a:pPr>
            <a:r>
              <a:t>10 seats</a:t>
            </a:r>
          </a:p>
        </p:txBody>
      </p:sp>
      <p:sp>
        <p:nvSpPr>
          <p:cNvPr id="28" name="TextBox 27"/>
          <p:cNvSpPr txBox="1"/>
          <p:nvPr/>
        </p:nvSpPr>
        <p:spPr>
          <a:xfrm>
            <a:off x="5212080" y="5669280"/>
            <a:ext cx="6400800" cy="365760"/>
          </a:xfrm>
          <a:prstGeom prst="rect">
            <a:avLst/>
          </a:prstGeom>
          <a:noFill/>
        </p:spPr>
        <p:txBody>
          <a:bodyPr wrap="square">
            <a:spAutoFit/>
          </a:bodyPr>
          <a:lstStyle/>
          <a:p>
            <a:pPr algn="l">
              <a:defRPr sz="1300" b="0">
                <a:solidFill>
                  <a:srgbClr val="333333"/>
                </a:solidFill>
                <a:latin typeface="Calibri"/>
              </a:defRPr>
            </a:pPr>
            <a:r>
              <a:t>All 16 tabs + FDA Comms + Cap Table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Competitive Comparison: Control Tower vs. Alternatives</a:t>
            </a:r>
          </a:p>
        </p:txBody>
      </p:sp>
      <p:sp>
        <p:nvSpPr>
          <p:cNvPr id="4" name="Rectangle 3"/>
          <p:cNvSpPr/>
          <p:nvPr/>
        </p:nvSpPr>
        <p:spPr>
          <a:xfrm>
            <a:off x="457200" y="1188720"/>
            <a:ext cx="2286000" cy="548640"/>
          </a:xfrm>
          <a:prstGeom prst="rect">
            <a:avLst/>
          </a:prstGeom>
          <a:solidFill>
            <a:srgbClr val="0B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16152"/>
            <a:ext cx="2194560" cy="502920"/>
          </a:xfrm>
          <a:prstGeom prst="rect">
            <a:avLst/>
          </a:prstGeom>
          <a:noFill/>
        </p:spPr>
        <p:txBody>
          <a:bodyPr wrap="square">
            <a:spAutoFit/>
          </a:bodyPr>
          <a:lstStyle/>
          <a:p>
            <a:pPr algn="ctr">
              <a:defRPr sz="1000" b="1">
                <a:solidFill>
                  <a:srgbClr val="FFFFFF"/>
                </a:solidFill>
                <a:latin typeface="Calibri"/>
              </a:defRPr>
            </a:pPr>
            <a:r>
              <a:t>Feature</a:t>
            </a:r>
          </a:p>
        </p:txBody>
      </p:sp>
      <p:sp>
        <p:nvSpPr>
          <p:cNvPr id="6" name="Rectangle 5"/>
          <p:cNvSpPr/>
          <p:nvPr/>
        </p:nvSpPr>
        <p:spPr>
          <a:xfrm>
            <a:off x="2743200" y="1188720"/>
            <a:ext cx="1645920" cy="5486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88920" y="1216152"/>
            <a:ext cx="1554480" cy="502920"/>
          </a:xfrm>
          <a:prstGeom prst="rect">
            <a:avLst/>
          </a:prstGeom>
          <a:noFill/>
        </p:spPr>
        <p:txBody>
          <a:bodyPr wrap="square">
            <a:spAutoFit/>
          </a:bodyPr>
          <a:lstStyle/>
          <a:p>
            <a:pPr algn="ctr">
              <a:defRPr sz="1000" b="1">
                <a:solidFill>
                  <a:srgbClr val="FFFFFF"/>
                </a:solidFill>
                <a:latin typeface="Calibri"/>
              </a:defRPr>
            </a:pPr>
            <a:r>
              <a:t>Control Tower</a:t>
            </a:r>
          </a:p>
        </p:txBody>
      </p:sp>
      <p:sp>
        <p:nvSpPr>
          <p:cNvPr id="8" name="Rectangle 7"/>
          <p:cNvSpPr/>
          <p:nvPr/>
        </p:nvSpPr>
        <p:spPr>
          <a:xfrm>
            <a:off x="4389120" y="1188720"/>
            <a:ext cx="137160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216152"/>
            <a:ext cx="1280160" cy="502920"/>
          </a:xfrm>
          <a:prstGeom prst="rect">
            <a:avLst/>
          </a:prstGeom>
          <a:noFill/>
        </p:spPr>
        <p:txBody>
          <a:bodyPr wrap="square">
            <a:spAutoFit/>
          </a:bodyPr>
          <a:lstStyle/>
          <a:p>
            <a:pPr algn="ctr">
              <a:defRPr sz="1000" b="1">
                <a:solidFill>
                  <a:srgbClr val="333333"/>
                </a:solidFill>
                <a:latin typeface="Calibri"/>
              </a:defRPr>
            </a:pPr>
            <a:r>
              <a:t>Greenlight</a:t>
            </a:r>
            <a:br/>
            <a:r>
              <a:t>Guru</a:t>
            </a:r>
          </a:p>
        </p:txBody>
      </p:sp>
      <p:sp>
        <p:nvSpPr>
          <p:cNvPr id="10" name="Rectangle 9"/>
          <p:cNvSpPr/>
          <p:nvPr/>
        </p:nvSpPr>
        <p:spPr>
          <a:xfrm>
            <a:off x="5760720" y="1188720"/>
            <a:ext cx="137160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06440" y="1216152"/>
            <a:ext cx="1280160" cy="502920"/>
          </a:xfrm>
          <a:prstGeom prst="rect">
            <a:avLst/>
          </a:prstGeom>
          <a:noFill/>
        </p:spPr>
        <p:txBody>
          <a:bodyPr wrap="square">
            <a:spAutoFit/>
          </a:bodyPr>
          <a:lstStyle/>
          <a:p>
            <a:pPr algn="ctr">
              <a:defRPr sz="1000" b="1">
                <a:solidFill>
                  <a:srgbClr val="333333"/>
                </a:solidFill>
                <a:latin typeface="Calibri"/>
              </a:defRPr>
            </a:pPr>
            <a:r>
              <a:t>Master</a:t>
            </a:r>
            <a:br/>
            <a:r>
              <a:t>Control</a:t>
            </a:r>
          </a:p>
        </p:txBody>
      </p:sp>
      <p:sp>
        <p:nvSpPr>
          <p:cNvPr id="12" name="Rectangle 11"/>
          <p:cNvSpPr/>
          <p:nvPr/>
        </p:nvSpPr>
        <p:spPr>
          <a:xfrm>
            <a:off x="7132320" y="1188720"/>
            <a:ext cx="137160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0" y="1216152"/>
            <a:ext cx="1280160" cy="502920"/>
          </a:xfrm>
          <a:prstGeom prst="rect">
            <a:avLst/>
          </a:prstGeom>
          <a:noFill/>
        </p:spPr>
        <p:txBody>
          <a:bodyPr wrap="square">
            <a:spAutoFit/>
          </a:bodyPr>
          <a:lstStyle/>
          <a:p>
            <a:pPr algn="ctr">
              <a:defRPr sz="1000" b="1">
                <a:solidFill>
                  <a:srgbClr val="333333"/>
                </a:solidFill>
                <a:latin typeface="Calibri"/>
              </a:defRPr>
            </a:pPr>
            <a:r>
              <a:t>Jama</a:t>
            </a:r>
            <a:br/>
            <a:r>
              <a:t>Connect</a:t>
            </a:r>
          </a:p>
        </p:txBody>
      </p:sp>
      <p:sp>
        <p:nvSpPr>
          <p:cNvPr id="14" name="Rectangle 13"/>
          <p:cNvSpPr/>
          <p:nvPr/>
        </p:nvSpPr>
        <p:spPr>
          <a:xfrm>
            <a:off x="8503920" y="1188720"/>
            <a:ext cx="118872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1216152"/>
            <a:ext cx="1097280" cy="502920"/>
          </a:xfrm>
          <a:prstGeom prst="rect">
            <a:avLst/>
          </a:prstGeom>
          <a:noFill/>
        </p:spPr>
        <p:txBody>
          <a:bodyPr wrap="square">
            <a:spAutoFit/>
          </a:bodyPr>
          <a:lstStyle/>
          <a:p>
            <a:pPr algn="ctr">
              <a:defRPr sz="1000" b="1">
                <a:solidFill>
                  <a:srgbClr val="333333"/>
                </a:solidFill>
                <a:latin typeface="Calibri"/>
              </a:defRPr>
            </a:pPr>
            <a:r>
              <a:t>Qualio</a:t>
            </a:r>
          </a:p>
        </p:txBody>
      </p:sp>
      <p:sp>
        <p:nvSpPr>
          <p:cNvPr id="16" name="Rectangle 15"/>
          <p:cNvSpPr/>
          <p:nvPr/>
        </p:nvSpPr>
        <p:spPr>
          <a:xfrm>
            <a:off x="9692640" y="1188720"/>
            <a:ext cx="164592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8360" y="1216152"/>
            <a:ext cx="1554480" cy="502920"/>
          </a:xfrm>
          <a:prstGeom prst="rect">
            <a:avLst/>
          </a:prstGeom>
          <a:noFill/>
        </p:spPr>
        <p:txBody>
          <a:bodyPr wrap="square">
            <a:spAutoFit/>
          </a:bodyPr>
          <a:lstStyle/>
          <a:p>
            <a:pPr algn="ctr">
              <a:defRPr sz="1000" b="1">
                <a:solidFill>
                  <a:srgbClr val="333333"/>
                </a:solidFill>
                <a:latin typeface="Calibri"/>
              </a:defRPr>
            </a:pPr>
            <a:r>
              <a:t>Monday.com</a:t>
            </a:r>
            <a:br/>
            <a:r>
              <a:t>/ Asana</a:t>
            </a:r>
          </a:p>
        </p:txBody>
      </p:sp>
      <p:sp>
        <p:nvSpPr>
          <p:cNvPr id="18" name="Rectangle 17"/>
          <p:cNvSpPr/>
          <p:nvPr/>
        </p:nvSpPr>
        <p:spPr>
          <a:xfrm>
            <a:off x="457200" y="173736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1764792"/>
            <a:ext cx="2194560" cy="274320"/>
          </a:xfrm>
          <a:prstGeom prst="rect">
            <a:avLst/>
          </a:prstGeom>
          <a:noFill/>
        </p:spPr>
        <p:txBody>
          <a:bodyPr wrap="square">
            <a:spAutoFit/>
          </a:bodyPr>
          <a:lstStyle/>
          <a:p>
            <a:pPr algn="l">
              <a:defRPr sz="900" b="0">
                <a:solidFill>
                  <a:srgbClr val="333333"/>
                </a:solidFill>
                <a:latin typeface="Calibri"/>
              </a:defRPr>
            </a:pPr>
            <a:r>
              <a:t>Dual-Track Milestones</a:t>
            </a:r>
          </a:p>
        </p:txBody>
      </p:sp>
      <p:sp>
        <p:nvSpPr>
          <p:cNvPr id="20" name="Rectangle 19"/>
          <p:cNvSpPr/>
          <p:nvPr/>
        </p:nvSpPr>
        <p:spPr>
          <a:xfrm>
            <a:off x="2743200" y="173736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176479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22" name="Rectangle 21"/>
          <p:cNvSpPr/>
          <p:nvPr/>
        </p:nvSpPr>
        <p:spPr>
          <a:xfrm>
            <a:off x="4389120" y="173736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176479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24" name="Rectangle 23"/>
          <p:cNvSpPr/>
          <p:nvPr/>
        </p:nvSpPr>
        <p:spPr>
          <a:xfrm>
            <a:off x="5760720" y="173736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06440" y="176479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26" name="Rectangle 25"/>
          <p:cNvSpPr/>
          <p:nvPr/>
        </p:nvSpPr>
        <p:spPr>
          <a:xfrm>
            <a:off x="7132320" y="173736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78040" y="176479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28" name="Rectangle 27"/>
          <p:cNvSpPr/>
          <p:nvPr/>
        </p:nvSpPr>
        <p:spPr>
          <a:xfrm>
            <a:off x="8503920" y="173736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176479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30" name="Rectangle 29"/>
          <p:cNvSpPr/>
          <p:nvPr/>
        </p:nvSpPr>
        <p:spPr>
          <a:xfrm>
            <a:off x="9692640" y="173736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38360" y="176479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32" name="Rectangle 31"/>
          <p:cNvSpPr/>
          <p:nvPr/>
        </p:nvSpPr>
        <p:spPr>
          <a:xfrm>
            <a:off x="457200" y="2057400"/>
            <a:ext cx="22860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2084832"/>
            <a:ext cx="2194560" cy="274320"/>
          </a:xfrm>
          <a:prstGeom prst="rect">
            <a:avLst/>
          </a:prstGeom>
          <a:noFill/>
        </p:spPr>
        <p:txBody>
          <a:bodyPr wrap="square">
            <a:spAutoFit/>
          </a:bodyPr>
          <a:lstStyle/>
          <a:p>
            <a:pPr algn="l">
              <a:defRPr sz="900" b="0">
                <a:solidFill>
                  <a:srgbClr val="333333"/>
                </a:solidFill>
                <a:latin typeface="Calibri"/>
              </a:defRPr>
            </a:pPr>
            <a:r>
              <a:t>Phase-Gate System</a:t>
            </a:r>
          </a:p>
        </p:txBody>
      </p:sp>
      <p:sp>
        <p:nvSpPr>
          <p:cNvPr id="34" name="Rectangle 33"/>
          <p:cNvSpPr/>
          <p:nvPr/>
        </p:nvSpPr>
        <p:spPr>
          <a:xfrm>
            <a:off x="2743200" y="205740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208483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36" name="Rectangle 35"/>
          <p:cNvSpPr/>
          <p:nvPr/>
        </p:nvSpPr>
        <p:spPr>
          <a:xfrm>
            <a:off x="4389120" y="205740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34840" y="208483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38" name="Rectangle 37"/>
          <p:cNvSpPr/>
          <p:nvPr/>
        </p:nvSpPr>
        <p:spPr>
          <a:xfrm>
            <a:off x="5760720" y="205740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06440" y="208483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40" name="Rectangle 39"/>
          <p:cNvSpPr/>
          <p:nvPr/>
        </p:nvSpPr>
        <p:spPr>
          <a:xfrm>
            <a:off x="7132320" y="205740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78040" y="208483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42" name="Rectangle 41"/>
          <p:cNvSpPr/>
          <p:nvPr/>
        </p:nvSpPr>
        <p:spPr>
          <a:xfrm>
            <a:off x="8503920" y="2057400"/>
            <a:ext cx="11887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49640" y="208483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44" name="Rectangle 43"/>
          <p:cNvSpPr/>
          <p:nvPr/>
        </p:nvSpPr>
        <p:spPr>
          <a:xfrm>
            <a:off x="9692640" y="205740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38360" y="208483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46" name="Rectangle 45"/>
          <p:cNvSpPr/>
          <p:nvPr/>
        </p:nvSpPr>
        <p:spPr>
          <a:xfrm>
            <a:off x="457200" y="237744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2404872"/>
            <a:ext cx="2194560" cy="274320"/>
          </a:xfrm>
          <a:prstGeom prst="rect">
            <a:avLst/>
          </a:prstGeom>
          <a:noFill/>
        </p:spPr>
        <p:txBody>
          <a:bodyPr wrap="square">
            <a:spAutoFit/>
          </a:bodyPr>
          <a:lstStyle/>
          <a:p>
            <a:pPr algn="l">
              <a:defRPr sz="900" b="0">
                <a:solidFill>
                  <a:srgbClr val="333333"/>
                </a:solidFill>
                <a:latin typeface="Calibri"/>
              </a:defRPr>
            </a:pPr>
            <a:r>
              <a:t>FDA Q-Sub Generator</a:t>
            </a:r>
          </a:p>
        </p:txBody>
      </p:sp>
      <p:sp>
        <p:nvSpPr>
          <p:cNvPr id="48" name="Rectangle 47"/>
          <p:cNvSpPr/>
          <p:nvPr/>
        </p:nvSpPr>
        <p:spPr>
          <a:xfrm>
            <a:off x="2743200" y="237744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88920" y="240487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50" name="Rectangle 49"/>
          <p:cNvSpPr/>
          <p:nvPr/>
        </p:nvSpPr>
        <p:spPr>
          <a:xfrm>
            <a:off x="4389120" y="237744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34840" y="240487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52" name="Rectangle 51"/>
          <p:cNvSpPr/>
          <p:nvPr/>
        </p:nvSpPr>
        <p:spPr>
          <a:xfrm>
            <a:off x="5760720" y="237744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06440" y="240487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54" name="Rectangle 53"/>
          <p:cNvSpPr/>
          <p:nvPr/>
        </p:nvSpPr>
        <p:spPr>
          <a:xfrm>
            <a:off x="7132320" y="237744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78040" y="240487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56" name="Rectangle 55"/>
          <p:cNvSpPr/>
          <p:nvPr/>
        </p:nvSpPr>
        <p:spPr>
          <a:xfrm>
            <a:off x="8503920" y="237744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49640" y="240487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58" name="Rectangle 57"/>
          <p:cNvSpPr/>
          <p:nvPr/>
        </p:nvSpPr>
        <p:spPr>
          <a:xfrm>
            <a:off x="9692640" y="237744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240487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60" name="Rectangle 59"/>
          <p:cNvSpPr/>
          <p:nvPr/>
        </p:nvSpPr>
        <p:spPr>
          <a:xfrm>
            <a:off x="457200" y="2697480"/>
            <a:ext cx="22860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2724912"/>
            <a:ext cx="2194560" cy="274320"/>
          </a:xfrm>
          <a:prstGeom prst="rect">
            <a:avLst/>
          </a:prstGeom>
          <a:noFill/>
        </p:spPr>
        <p:txBody>
          <a:bodyPr wrap="square">
            <a:spAutoFit/>
          </a:bodyPr>
          <a:lstStyle/>
          <a:p>
            <a:pPr algn="l">
              <a:defRPr sz="900" b="0">
                <a:solidFill>
                  <a:srgbClr val="333333"/>
                </a:solidFill>
                <a:latin typeface="Calibri"/>
              </a:defRPr>
            </a:pPr>
            <a:r>
              <a:t>RTA Pre-Check</a:t>
            </a:r>
          </a:p>
        </p:txBody>
      </p:sp>
      <p:sp>
        <p:nvSpPr>
          <p:cNvPr id="62" name="Rectangle 61"/>
          <p:cNvSpPr/>
          <p:nvPr/>
        </p:nvSpPr>
        <p:spPr>
          <a:xfrm>
            <a:off x="2743200" y="269748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788920" y="272491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64" name="Rectangle 63"/>
          <p:cNvSpPr/>
          <p:nvPr/>
        </p:nvSpPr>
        <p:spPr>
          <a:xfrm>
            <a:off x="4389120" y="269748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34840" y="272491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66" name="Rectangle 65"/>
          <p:cNvSpPr/>
          <p:nvPr/>
        </p:nvSpPr>
        <p:spPr>
          <a:xfrm>
            <a:off x="5760720" y="269748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806440" y="272491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68" name="Rectangle 67"/>
          <p:cNvSpPr/>
          <p:nvPr/>
        </p:nvSpPr>
        <p:spPr>
          <a:xfrm>
            <a:off x="7132320" y="269748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178040" y="272491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70" name="Rectangle 69"/>
          <p:cNvSpPr/>
          <p:nvPr/>
        </p:nvSpPr>
        <p:spPr>
          <a:xfrm>
            <a:off x="8503920" y="2697480"/>
            <a:ext cx="11887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49640" y="272491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72" name="Rectangle 71"/>
          <p:cNvSpPr/>
          <p:nvPr/>
        </p:nvSpPr>
        <p:spPr>
          <a:xfrm>
            <a:off x="9692640" y="269748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38360" y="272491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74" name="Rectangle 73"/>
          <p:cNvSpPr/>
          <p:nvPr/>
        </p:nvSpPr>
        <p:spPr>
          <a:xfrm>
            <a:off x="457200" y="301752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02920" y="3044952"/>
            <a:ext cx="2194560" cy="274320"/>
          </a:xfrm>
          <a:prstGeom prst="rect">
            <a:avLst/>
          </a:prstGeom>
          <a:noFill/>
        </p:spPr>
        <p:txBody>
          <a:bodyPr wrap="square">
            <a:spAutoFit/>
          </a:bodyPr>
          <a:lstStyle/>
          <a:p>
            <a:pPr algn="l">
              <a:defRPr sz="900" b="0">
                <a:solidFill>
                  <a:srgbClr val="333333"/>
                </a:solidFill>
                <a:latin typeface="Calibri"/>
              </a:defRPr>
            </a:pPr>
            <a:r>
              <a:t>ISO 14971 Risk Dashboard</a:t>
            </a:r>
          </a:p>
        </p:txBody>
      </p:sp>
      <p:sp>
        <p:nvSpPr>
          <p:cNvPr id="76" name="Rectangle 75"/>
          <p:cNvSpPr/>
          <p:nvPr/>
        </p:nvSpPr>
        <p:spPr>
          <a:xfrm>
            <a:off x="2743200" y="301752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788920" y="304495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78" name="Rectangle 77"/>
          <p:cNvSpPr/>
          <p:nvPr/>
        </p:nvSpPr>
        <p:spPr>
          <a:xfrm>
            <a:off x="4389120" y="301752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434840" y="304495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80" name="Rectangle 79"/>
          <p:cNvSpPr/>
          <p:nvPr/>
        </p:nvSpPr>
        <p:spPr>
          <a:xfrm>
            <a:off x="5760720" y="301752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06440" y="304495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82" name="Rectangle 81"/>
          <p:cNvSpPr/>
          <p:nvPr/>
        </p:nvSpPr>
        <p:spPr>
          <a:xfrm>
            <a:off x="7132320" y="301752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78040" y="304495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84" name="Rectangle 83"/>
          <p:cNvSpPr/>
          <p:nvPr/>
        </p:nvSpPr>
        <p:spPr>
          <a:xfrm>
            <a:off x="8503920" y="301752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549640" y="304495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86" name="Rectangle 85"/>
          <p:cNvSpPr/>
          <p:nvPr/>
        </p:nvSpPr>
        <p:spPr>
          <a:xfrm>
            <a:off x="9692640" y="301752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738360" y="304495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88" name="Rectangle 87"/>
          <p:cNvSpPr/>
          <p:nvPr/>
        </p:nvSpPr>
        <p:spPr>
          <a:xfrm>
            <a:off x="457200" y="3337560"/>
            <a:ext cx="22860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02920" y="3364992"/>
            <a:ext cx="2194560" cy="274320"/>
          </a:xfrm>
          <a:prstGeom prst="rect">
            <a:avLst/>
          </a:prstGeom>
          <a:noFill/>
        </p:spPr>
        <p:txBody>
          <a:bodyPr wrap="square">
            <a:spAutoFit/>
          </a:bodyPr>
          <a:lstStyle/>
          <a:p>
            <a:pPr algn="l">
              <a:defRPr sz="900" b="0">
                <a:solidFill>
                  <a:srgbClr val="333333"/>
                </a:solidFill>
                <a:latin typeface="Calibri"/>
              </a:defRPr>
            </a:pPr>
            <a:r>
              <a:t>DHF/DMR Tracking</a:t>
            </a:r>
          </a:p>
        </p:txBody>
      </p:sp>
      <p:sp>
        <p:nvSpPr>
          <p:cNvPr id="90" name="Rectangle 89"/>
          <p:cNvSpPr/>
          <p:nvPr/>
        </p:nvSpPr>
        <p:spPr>
          <a:xfrm>
            <a:off x="2743200" y="333756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788920" y="336499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92" name="Rectangle 91"/>
          <p:cNvSpPr/>
          <p:nvPr/>
        </p:nvSpPr>
        <p:spPr>
          <a:xfrm>
            <a:off x="4389120" y="333756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434840" y="336499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94" name="Rectangle 93"/>
          <p:cNvSpPr/>
          <p:nvPr/>
        </p:nvSpPr>
        <p:spPr>
          <a:xfrm>
            <a:off x="5760720" y="333756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806440" y="336499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96" name="Rectangle 95"/>
          <p:cNvSpPr/>
          <p:nvPr/>
        </p:nvSpPr>
        <p:spPr>
          <a:xfrm>
            <a:off x="7132320" y="333756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178040" y="336499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98" name="Rectangle 97"/>
          <p:cNvSpPr/>
          <p:nvPr/>
        </p:nvSpPr>
        <p:spPr>
          <a:xfrm>
            <a:off x="8503920" y="3337560"/>
            <a:ext cx="11887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549640" y="3364992"/>
            <a:ext cx="10972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00" name="Rectangle 99"/>
          <p:cNvSpPr/>
          <p:nvPr/>
        </p:nvSpPr>
        <p:spPr>
          <a:xfrm>
            <a:off x="9692640" y="333756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738360" y="336499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02" name="Rectangle 101"/>
          <p:cNvSpPr/>
          <p:nvPr/>
        </p:nvSpPr>
        <p:spPr>
          <a:xfrm>
            <a:off x="457200" y="365760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02920" y="3685032"/>
            <a:ext cx="2194560" cy="274320"/>
          </a:xfrm>
          <a:prstGeom prst="rect">
            <a:avLst/>
          </a:prstGeom>
          <a:noFill/>
        </p:spPr>
        <p:txBody>
          <a:bodyPr wrap="square">
            <a:spAutoFit/>
          </a:bodyPr>
          <a:lstStyle/>
          <a:p>
            <a:pPr algn="l">
              <a:defRPr sz="900" b="0">
                <a:solidFill>
                  <a:srgbClr val="333333"/>
                </a:solidFill>
                <a:latin typeface="Calibri"/>
              </a:defRPr>
            </a:pPr>
            <a:r>
              <a:t>CAPA Management</a:t>
            </a:r>
          </a:p>
        </p:txBody>
      </p:sp>
      <p:sp>
        <p:nvSpPr>
          <p:cNvPr id="104" name="Rectangle 103"/>
          <p:cNvSpPr/>
          <p:nvPr/>
        </p:nvSpPr>
        <p:spPr>
          <a:xfrm>
            <a:off x="2743200" y="365760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788920" y="368503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06" name="Rectangle 105"/>
          <p:cNvSpPr/>
          <p:nvPr/>
        </p:nvSpPr>
        <p:spPr>
          <a:xfrm>
            <a:off x="4389120" y="365760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434840" y="368503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08" name="Rectangle 107"/>
          <p:cNvSpPr/>
          <p:nvPr/>
        </p:nvSpPr>
        <p:spPr>
          <a:xfrm>
            <a:off x="5760720" y="365760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806440" y="368503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10" name="Rectangle 109"/>
          <p:cNvSpPr/>
          <p:nvPr/>
        </p:nvSpPr>
        <p:spPr>
          <a:xfrm>
            <a:off x="7132320" y="365760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178040" y="368503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12" name="Rectangle 111"/>
          <p:cNvSpPr/>
          <p:nvPr/>
        </p:nvSpPr>
        <p:spPr>
          <a:xfrm>
            <a:off x="8503920" y="365760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549640" y="3685032"/>
            <a:ext cx="10972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14" name="Rectangle 113"/>
          <p:cNvSpPr/>
          <p:nvPr/>
        </p:nvSpPr>
        <p:spPr>
          <a:xfrm>
            <a:off x="9692640" y="365760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738360" y="368503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16" name="Rectangle 115"/>
          <p:cNvSpPr/>
          <p:nvPr/>
        </p:nvSpPr>
        <p:spPr>
          <a:xfrm>
            <a:off x="457200" y="3977640"/>
            <a:ext cx="22860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02920" y="4005072"/>
            <a:ext cx="2194560" cy="274320"/>
          </a:xfrm>
          <a:prstGeom prst="rect">
            <a:avLst/>
          </a:prstGeom>
          <a:noFill/>
        </p:spPr>
        <p:txBody>
          <a:bodyPr wrap="square">
            <a:spAutoFit/>
          </a:bodyPr>
          <a:lstStyle/>
          <a:p>
            <a:pPr algn="l">
              <a:defRPr sz="900" b="0">
                <a:solidFill>
                  <a:srgbClr val="333333"/>
                </a:solidFill>
                <a:latin typeface="Calibri"/>
              </a:defRPr>
            </a:pPr>
            <a:r>
              <a:t>Standards Compliance</a:t>
            </a:r>
          </a:p>
        </p:txBody>
      </p:sp>
      <p:sp>
        <p:nvSpPr>
          <p:cNvPr id="118" name="Rectangle 117"/>
          <p:cNvSpPr/>
          <p:nvPr/>
        </p:nvSpPr>
        <p:spPr>
          <a:xfrm>
            <a:off x="2743200" y="397764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788920" y="400507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20" name="Rectangle 119"/>
          <p:cNvSpPr/>
          <p:nvPr/>
        </p:nvSpPr>
        <p:spPr>
          <a:xfrm>
            <a:off x="4389120" y="397764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434840" y="4005072"/>
            <a:ext cx="1280160" cy="274320"/>
          </a:xfrm>
          <a:prstGeom prst="rect">
            <a:avLst/>
          </a:prstGeom>
          <a:noFill/>
        </p:spPr>
        <p:txBody>
          <a:bodyPr wrap="square">
            <a:spAutoFit/>
          </a:bodyPr>
          <a:lstStyle/>
          <a:p>
            <a:pPr algn="ctr">
              <a:defRPr sz="900" b="0">
                <a:solidFill>
                  <a:srgbClr val="333333"/>
                </a:solidFill>
                <a:latin typeface="Calibri"/>
              </a:defRPr>
            </a:pPr>
            <a:r>
              <a:t>⚠️</a:t>
            </a:r>
          </a:p>
        </p:txBody>
      </p:sp>
      <p:sp>
        <p:nvSpPr>
          <p:cNvPr id="122" name="Rectangle 121"/>
          <p:cNvSpPr/>
          <p:nvPr/>
        </p:nvSpPr>
        <p:spPr>
          <a:xfrm>
            <a:off x="5760720" y="397764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806440" y="400507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24" name="Rectangle 123"/>
          <p:cNvSpPr/>
          <p:nvPr/>
        </p:nvSpPr>
        <p:spPr>
          <a:xfrm>
            <a:off x="7132320" y="397764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178040" y="400507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26" name="Rectangle 125"/>
          <p:cNvSpPr/>
          <p:nvPr/>
        </p:nvSpPr>
        <p:spPr>
          <a:xfrm>
            <a:off x="8503920" y="3977640"/>
            <a:ext cx="11887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549640" y="4005072"/>
            <a:ext cx="1097280" cy="274320"/>
          </a:xfrm>
          <a:prstGeom prst="rect">
            <a:avLst/>
          </a:prstGeom>
          <a:noFill/>
        </p:spPr>
        <p:txBody>
          <a:bodyPr wrap="square">
            <a:spAutoFit/>
          </a:bodyPr>
          <a:lstStyle/>
          <a:p>
            <a:pPr algn="ctr">
              <a:defRPr sz="900" b="0">
                <a:solidFill>
                  <a:srgbClr val="333333"/>
                </a:solidFill>
                <a:latin typeface="Calibri"/>
              </a:defRPr>
            </a:pPr>
            <a:r>
              <a:t>⚠️</a:t>
            </a:r>
          </a:p>
        </p:txBody>
      </p:sp>
      <p:sp>
        <p:nvSpPr>
          <p:cNvPr id="128" name="Rectangle 127"/>
          <p:cNvSpPr/>
          <p:nvPr/>
        </p:nvSpPr>
        <p:spPr>
          <a:xfrm>
            <a:off x="9692640" y="397764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738360" y="400507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30" name="Rectangle 129"/>
          <p:cNvSpPr/>
          <p:nvPr/>
        </p:nvSpPr>
        <p:spPr>
          <a:xfrm>
            <a:off x="457200" y="429768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02920" y="4325112"/>
            <a:ext cx="2194560" cy="274320"/>
          </a:xfrm>
          <a:prstGeom prst="rect">
            <a:avLst/>
          </a:prstGeom>
          <a:noFill/>
        </p:spPr>
        <p:txBody>
          <a:bodyPr wrap="square">
            <a:spAutoFit/>
          </a:bodyPr>
          <a:lstStyle/>
          <a:p>
            <a:pPr algn="l">
              <a:defRPr sz="900" b="0">
                <a:solidFill>
                  <a:srgbClr val="333333"/>
                </a:solidFill>
                <a:latin typeface="Calibri"/>
              </a:defRPr>
            </a:pPr>
            <a:r>
              <a:t>Budget &amp; Cash Runway</a:t>
            </a:r>
          </a:p>
        </p:txBody>
      </p:sp>
      <p:sp>
        <p:nvSpPr>
          <p:cNvPr id="132" name="Rectangle 131"/>
          <p:cNvSpPr/>
          <p:nvPr/>
        </p:nvSpPr>
        <p:spPr>
          <a:xfrm>
            <a:off x="2743200" y="429768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788920" y="432511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34" name="Rectangle 133"/>
          <p:cNvSpPr/>
          <p:nvPr/>
        </p:nvSpPr>
        <p:spPr>
          <a:xfrm>
            <a:off x="4389120" y="429768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434840" y="432511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36" name="Rectangle 135"/>
          <p:cNvSpPr/>
          <p:nvPr/>
        </p:nvSpPr>
        <p:spPr>
          <a:xfrm>
            <a:off x="5760720" y="429768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806440" y="432511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38" name="Rectangle 137"/>
          <p:cNvSpPr/>
          <p:nvPr/>
        </p:nvSpPr>
        <p:spPr>
          <a:xfrm>
            <a:off x="7132320" y="429768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178040" y="432511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40" name="Rectangle 139"/>
          <p:cNvSpPr/>
          <p:nvPr/>
        </p:nvSpPr>
        <p:spPr>
          <a:xfrm>
            <a:off x="8503920" y="429768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8549640" y="432511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42" name="Rectangle 141"/>
          <p:cNvSpPr/>
          <p:nvPr/>
        </p:nvSpPr>
        <p:spPr>
          <a:xfrm>
            <a:off x="9692640" y="429768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38360" y="432511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44" name="Rectangle 143"/>
          <p:cNvSpPr/>
          <p:nvPr/>
        </p:nvSpPr>
        <p:spPr>
          <a:xfrm>
            <a:off x="457200" y="4617720"/>
            <a:ext cx="22860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02920" y="4645152"/>
            <a:ext cx="2194560" cy="274320"/>
          </a:xfrm>
          <a:prstGeom prst="rect">
            <a:avLst/>
          </a:prstGeom>
          <a:noFill/>
        </p:spPr>
        <p:txBody>
          <a:bodyPr wrap="square">
            <a:spAutoFit/>
          </a:bodyPr>
          <a:lstStyle/>
          <a:p>
            <a:pPr algn="l">
              <a:defRPr sz="900" b="0">
                <a:solidFill>
                  <a:srgbClr val="333333"/>
                </a:solidFill>
                <a:latin typeface="Calibri"/>
              </a:defRPr>
            </a:pPr>
            <a:r>
              <a:t>Investor Pipeline</a:t>
            </a:r>
          </a:p>
        </p:txBody>
      </p:sp>
      <p:sp>
        <p:nvSpPr>
          <p:cNvPr id="146" name="Rectangle 145"/>
          <p:cNvSpPr/>
          <p:nvPr/>
        </p:nvSpPr>
        <p:spPr>
          <a:xfrm>
            <a:off x="2743200" y="461772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2788920" y="464515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48" name="Rectangle 147"/>
          <p:cNvSpPr/>
          <p:nvPr/>
        </p:nvSpPr>
        <p:spPr>
          <a:xfrm>
            <a:off x="4389120" y="461772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434840" y="464515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50" name="Rectangle 149"/>
          <p:cNvSpPr/>
          <p:nvPr/>
        </p:nvSpPr>
        <p:spPr>
          <a:xfrm>
            <a:off x="5760720" y="461772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806440" y="464515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52" name="Rectangle 151"/>
          <p:cNvSpPr/>
          <p:nvPr/>
        </p:nvSpPr>
        <p:spPr>
          <a:xfrm>
            <a:off x="7132320" y="461772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7178040" y="464515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54" name="Rectangle 153"/>
          <p:cNvSpPr/>
          <p:nvPr/>
        </p:nvSpPr>
        <p:spPr>
          <a:xfrm>
            <a:off x="8503920" y="4617720"/>
            <a:ext cx="11887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8549640" y="464515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56" name="Rectangle 155"/>
          <p:cNvSpPr/>
          <p:nvPr/>
        </p:nvSpPr>
        <p:spPr>
          <a:xfrm>
            <a:off x="9692640" y="461772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738360" y="464515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58" name="Rectangle 157"/>
          <p:cNvSpPr/>
          <p:nvPr/>
        </p:nvSpPr>
        <p:spPr>
          <a:xfrm>
            <a:off x="457200" y="493776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02920" y="4965192"/>
            <a:ext cx="2194560" cy="274320"/>
          </a:xfrm>
          <a:prstGeom prst="rect">
            <a:avLst/>
          </a:prstGeom>
          <a:noFill/>
        </p:spPr>
        <p:txBody>
          <a:bodyPr wrap="square">
            <a:spAutoFit/>
          </a:bodyPr>
          <a:lstStyle/>
          <a:p>
            <a:pPr algn="l">
              <a:defRPr sz="900" b="0">
                <a:solidFill>
                  <a:srgbClr val="333333"/>
                </a:solidFill>
                <a:latin typeface="Calibri"/>
              </a:defRPr>
            </a:pPr>
            <a:r>
              <a:t>Cap Table</a:t>
            </a:r>
          </a:p>
        </p:txBody>
      </p:sp>
      <p:sp>
        <p:nvSpPr>
          <p:cNvPr id="160" name="Rectangle 159"/>
          <p:cNvSpPr/>
          <p:nvPr/>
        </p:nvSpPr>
        <p:spPr>
          <a:xfrm>
            <a:off x="2743200" y="493776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788920" y="496519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62" name="Rectangle 161"/>
          <p:cNvSpPr/>
          <p:nvPr/>
        </p:nvSpPr>
        <p:spPr>
          <a:xfrm>
            <a:off x="4389120" y="493776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4434840" y="496519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64" name="Rectangle 163"/>
          <p:cNvSpPr/>
          <p:nvPr/>
        </p:nvSpPr>
        <p:spPr>
          <a:xfrm>
            <a:off x="5760720" y="493776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5806440" y="496519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66" name="Rectangle 165"/>
          <p:cNvSpPr/>
          <p:nvPr/>
        </p:nvSpPr>
        <p:spPr>
          <a:xfrm>
            <a:off x="7132320" y="493776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7178040" y="496519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68" name="Rectangle 167"/>
          <p:cNvSpPr/>
          <p:nvPr/>
        </p:nvSpPr>
        <p:spPr>
          <a:xfrm>
            <a:off x="8503920" y="493776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549640" y="496519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70" name="Rectangle 169"/>
          <p:cNvSpPr/>
          <p:nvPr/>
        </p:nvSpPr>
        <p:spPr>
          <a:xfrm>
            <a:off x="9692640" y="493776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738360" y="496519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72" name="Rectangle 171"/>
          <p:cNvSpPr/>
          <p:nvPr/>
        </p:nvSpPr>
        <p:spPr>
          <a:xfrm>
            <a:off x="457200" y="5257800"/>
            <a:ext cx="22860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02920" y="5285232"/>
            <a:ext cx="2194560" cy="274320"/>
          </a:xfrm>
          <a:prstGeom prst="rect">
            <a:avLst/>
          </a:prstGeom>
          <a:noFill/>
        </p:spPr>
        <p:txBody>
          <a:bodyPr wrap="square">
            <a:spAutoFit/>
          </a:bodyPr>
          <a:lstStyle/>
          <a:p>
            <a:pPr algn="l">
              <a:defRPr sz="900" b="0">
                <a:solidFill>
                  <a:srgbClr val="333333"/>
                </a:solidFill>
                <a:latin typeface="Calibri"/>
              </a:defRPr>
            </a:pPr>
            <a:r>
              <a:t>Trilingual (EN/CN/KO)</a:t>
            </a:r>
          </a:p>
        </p:txBody>
      </p:sp>
      <p:sp>
        <p:nvSpPr>
          <p:cNvPr id="174" name="Rectangle 173"/>
          <p:cNvSpPr/>
          <p:nvPr/>
        </p:nvSpPr>
        <p:spPr>
          <a:xfrm>
            <a:off x="2743200" y="525780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2788920" y="528523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76" name="Rectangle 175"/>
          <p:cNvSpPr/>
          <p:nvPr/>
        </p:nvSpPr>
        <p:spPr>
          <a:xfrm>
            <a:off x="4389120" y="525780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4434840" y="528523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78" name="Rectangle 177"/>
          <p:cNvSpPr/>
          <p:nvPr/>
        </p:nvSpPr>
        <p:spPr>
          <a:xfrm>
            <a:off x="5760720" y="525780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806440" y="528523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80" name="Rectangle 179"/>
          <p:cNvSpPr/>
          <p:nvPr/>
        </p:nvSpPr>
        <p:spPr>
          <a:xfrm>
            <a:off x="7132320" y="525780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7178040" y="5285232"/>
            <a:ext cx="128016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82" name="Rectangle 181"/>
          <p:cNvSpPr/>
          <p:nvPr/>
        </p:nvSpPr>
        <p:spPr>
          <a:xfrm>
            <a:off x="8503920" y="5257800"/>
            <a:ext cx="11887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8549640" y="5285232"/>
            <a:ext cx="10972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84" name="Rectangle 183"/>
          <p:cNvSpPr/>
          <p:nvPr/>
        </p:nvSpPr>
        <p:spPr>
          <a:xfrm>
            <a:off x="9692640" y="525780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9738360" y="528523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186" name="Rectangle 185"/>
          <p:cNvSpPr/>
          <p:nvPr/>
        </p:nvSpPr>
        <p:spPr>
          <a:xfrm>
            <a:off x="457200" y="557784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02920" y="5605272"/>
            <a:ext cx="2194560" cy="274320"/>
          </a:xfrm>
          <a:prstGeom prst="rect">
            <a:avLst/>
          </a:prstGeom>
          <a:noFill/>
        </p:spPr>
        <p:txBody>
          <a:bodyPr wrap="square">
            <a:spAutoFit/>
          </a:bodyPr>
          <a:lstStyle/>
          <a:p>
            <a:pPr algn="l">
              <a:defRPr sz="900" b="0">
                <a:solidFill>
                  <a:srgbClr val="333333"/>
                </a:solidFill>
                <a:latin typeface="Calibri"/>
              </a:defRPr>
            </a:pPr>
            <a:r>
              <a:t>21 CFR Part 11 Audit Trail</a:t>
            </a:r>
          </a:p>
        </p:txBody>
      </p:sp>
      <p:sp>
        <p:nvSpPr>
          <p:cNvPr id="188" name="Rectangle 187"/>
          <p:cNvSpPr/>
          <p:nvPr/>
        </p:nvSpPr>
        <p:spPr>
          <a:xfrm>
            <a:off x="2743200" y="557784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2788920" y="560527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90" name="Rectangle 189"/>
          <p:cNvSpPr/>
          <p:nvPr/>
        </p:nvSpPr>
        <p:spPr>
          <a:xfrm>
            <a:off x="4389120" y="557784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4434840" y="560527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92" name="Rectangle 191"/>
          <p:cNvSpPr/>
          <p:nvPr/>
        </p:nvSpPr>
        <p:spPr>
          <a:xfrm>
            <a:off x="5760720" y="557784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5806440" y="560527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94" name="Rectangle 193"/>
          <p:cNvSpPr/>
          <p:nvPr/>
        </p:nvSpPr>
        <p:spPr>
          <a:xfrm>
            <a:off x="7132320" y="557784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7178040" y="5605272"/>
            <a:ext cx="1280160" cy="274320"/>
          </a:xfrm>
          <a:prstGeom prst="rect">
            <a:avLst/>
          </a:prstGeom>
          <a:noFill/>
        </p:spPr>
        <p:txBody>
          <a:bodyPr wrap="square">
            <a:spAutoFit/>
          </a:bodyPr>
          <a:lstStyle/>
          <a:p>
            <a:pPr algn="ctr">
              <a:defRPr sz="900" b="0">
                <a:solidFill>
                  <a:srgbClr val="333333"/>
                </a:solidFill>
                <a:latin typeface="Calibri"/>
              </a:defRPr>
            </a:pPr>
            <a:r>
              <a:t>⚠️</a:t>
            </a:r>
          </a:p>
        </p:txBody>
      </p:sp>
      <p:sp>
        <p:nvSpPr>
          <p:cNvPr id="196" name="Rectangle 195"/>
          <p:cNvSpPr/>
          <p:nvPr/>
        </p:nvSpPr>
        <p:spPr>
          <a:xfrm>
            <a:off x="8503920" y="557784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549640" y="5605272"/>
            <a:ext cx="10972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198" name="Rectangle 197"/>
          <p:cNvSpPr/>
          <p:nvPr/>
        </p:nvSpPr>
        <p:spPr>
          <a:xfrm>
            <a:off x="9692640" y="557784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9738360" y="5605272"/>
            <a:ext cx="1554480" cy="274320"/>
          </a:xfrm>
          <a:prstGeom prst="rect">
            <a:avLst/>
          </a:prstGeom>
          <a:noFill/>
        </p:spPr>
        <p:txBody>
          <a:bodyPr wrap="square">
            <a:spAutoFit/>
          </a:bodyPr>
          <a:lstStyle/>
          <a:p>
            <a:pPr algn="ctr">
              <a:defRPr sz="900" b="0">
                <a:solidFill>
                  <a:srgbClr val="E53E3E"/>
                </a:solidFill>
                <a:latin typeface="Calibri"/>
              </a:defRPr>
            </a:pPr>
            <a:r>
              <a:t>❌</a:t>
            </a:r>
          </a:p>
        </p:txBody>
      </p:sp>
      <p:sp>
        <p:nvSpPr>
          <p:cNvPr id="200" name="Rectangle 199"/>
          <p:cNvSpPr/>
          <p:nvPr/>
        </p:nvSpPr>
        <p:spPr>
          <a:xfrm>
            <a:off x="457200" y="5897880"/>
            <a:ext cx="22860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502920" y="5925312"/>
            <a:ext cx="2194560" cy="274320"/>
          </a:xfrm>
          <a:prstGeom prst="rect">
            <a:avLst/>
          </a:prstGeom>
          <a:noFill/>
        </p:spPr>
        <p:txBody>
          <a:bodyPr wrap="square">
            <a:spAutoFit/>
          </a:bodyPr>
          <a:lstStyle/>
          <a:p>
            <a:pPr algn="l">
              <a:defRPr sz="900" b="0">
                <a:solidFill>
                  <a:srgbClr val="333333"/>
                </a:solidFill>
                <a:latin typeface="Calibri"/>
              </a:defRPr>
            </a:pPr>
            <a:r>
              <a:t>Role-Based Access</a:t>
            </a:r>
          </a:p>
        </p:txBody>
      </p:sp>
      <p:sp>
        <p:nvSpPr>
          <p:cNvPr id="202" name="Rectangle 201"/>
          <p:cNvSpPr/>
          <p:nvPr/>
        </p:nvSpPr>
        <p:spPr>
          <a:xfrm>
            <a:off x="2743200" y="589788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788920" y="5925312"/>
            <a:ext cx="15544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204" name="Rectangle 203"/>
          <p:cNvSpPr/>
          <p:nvPr/>
        </p:nvSpPr>
        <p:spPr>
          <a:xfrm>
            <a:off x="4389120" y="589788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4434840" y="592531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206" name="Rectangle 205"/>
          <p:cNvSpPr/>
          <p:nvPr/>
        </p:nvSpPr>
        <p:spPr>
          <a:xfrm>
            <a:off x="5760720" y="589788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5806440" y="592531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208" name="Rectangle 207"/>
          <p:cNvSpPr/>
          <p:nvPr/>
        </p:nvSpPr>
        <p:spPr>
          <a:xfrm>
            <a:off x="7132320" y="5897880"/>
            <a:ext cx="137160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178040" y="5925312"/>
            <a:ext cx="128016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210" name="Rectangle 209"/>
          <p:cNvSpPr/>
          <p:nvPr/>
        </p:nvSpPr>
        <p:spPr>
          <a:xfrm>
            <a:off x="8503920" y="5897880"/>
            <a:ext cx="11887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8549640" y="5925312"/>
            <a:ext cx="1097280" cy="274320"/>
          </a:xfrm>
          <a:prstGeom prst="rect">
            <a:avLst/>
          </a:prstGeom>
          <a:noFill/>
        </p:spPr>
        <p:txBody>
          <a:bodyPr wrap="square">
            <a:spAutoFit/>
          </a:bodyPr>
          <a:lstStyle/>
          <a:p>
            <a:pPr algn="ctr">
              <a:defRPr sz="900" b="0">
                <a:solidFill>
                  <a:srgbClr val="2E7D32"/>
                </a:solidFill>
                <a:latin typeface="Calibri"/>
              </a:defRPr>
            </a:pPr>
            <a:r>
              <a:t>✅</a:t>
            </a:r>
          </a:p>
        </p:txBody>
      </p:sp>
      <p:sp>
        <p:nvSpPr>
          <p:cNvPr id="212" name="Rectangle 211"/>
          <p:cNvSpPr/>
          <p:nvPr/>
        </p:nvSpPr>
        <p:spPr>
          <a:xfrm>
            <a:off x="9692640" y="5897880"/>
            <a:ext cx="164592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9738360" y="5925312"/>
            <a:ext cx="1554480" cy="274320"/>
          </a:xfrm>
          <a:prstGeom prst="rect">
            <a:avLst/>
          </a:prstGeom>
          <a:noFill/>
        </p:spPr>
        <p:txBody>
          <a:bodyPr wrap="square">
            <a:spAutoFit/>
          </a:bodyPr>
          <a:lstStyle/>
          <a:p>
            <a:pPr algn="ctr">
              <a:defRPr sz="900" b="0">
                <a:solidFill>
                  <a:srgbClr val="333333"/>
                </a:solidFill>
                <a:latin typeface="Calibri"/>
              </a:defRPr>
            </a:pPr>
            <a:r>
              <a:t>⚠️</a:t>
            </a:r>
          </a:p>
        </p:txBody>
      </p:sp>
      <p:sp>
        <p:nvSpPr>
          <p:cNvPr id="214" name="Rectangle 213"/>
          <p:cNvSpPr/>
          <p:nvPr/>
        </p:nvSpPr>
        <p:spPr>
          <a:xfrm>
            <a:off x="457200" y="6217920"/>
            <a:ext cx="22860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502920" y="6245352"/>
            <a:ext cx="2194560" cy="274320"/>
          </a:xfrm>
          <a:prstGeom prst="rect">
            <a:avLst/>
          </a:prstGeom>
          <a:noFill/>
        </p:spPr>
        <p:txBody>
          <a:bodyPr wrap="square">
            <a:spAutoFit/>
          </a:bodyPr>
          <a:lstStyle/>
          <a:p>
            <a:pPr algn="l">
              <a:defRPr sz="900" b="0">
                <a:solidFill>
                  <a:srgbClr val="333333"/>
                </a:solidFill>
                <a:latin typeface="Calibri"/>
              </a:defRPr>
            </a:pPr>
            <a:r>
              <a:t>Starting Price</a:t>
            </a:r>
          </a:p>
        </p:txBody>
      </p:sp>
      <p:sp>
        <p:nvSpPr>
          <p:cNvPr id="216" name="Rectangle 215"/>
          <p:cNvSpPr/>
          <p:nvPr/>
        </p:nvSpPr>
        <p:spPr>
          <a:xfrm>
            <a:off x="2743200" y="621792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2788920" y="6245352"/>
            <a:ext cx="1554480" cy="274320"/>
          </a:xfrm>
          <a:prstGeom prst="rect">
            <a:avLst/>
          </a:prstGeom>
          <a:noFill/>
        </p:spPr>
        <p:txBody>
          <a:bodyPr wrap="square">
            <a:spAutoFit/>
          </a:bodyPr>
          <a:lstStyle/>
          <a:p>
            <a:pPr algn="ctr">
              <a:defRPr sz="900" b="0">
                <a:solidFill>
                  <a:srgbClr val="333333"/>
                </a:solidFill>
                <a:latin typeface="Calibri"/>
              </a:defRPr>
            </a:pPr>
            <a:r>
              <a:t>$500/mo</a:t>
            </a:r>
          </a:p>
        </p:txBody>
      </p:sp>
      <p:sp>
        <p:nvSpPr>
          <p:cNvPr id="218" name="Rectangle 217"/>
          <p:cNvSpPr/>
          <p:nvPr/>
        </p:nvSpPr>
        <p:spPr>
          <a:xfrm>
            <a:off x="4389120" y="621792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4434840" y="6245352"/>
            <a:ext cx="1280160" cy="274320"/>
          </a:xfrm>
          <a:prstGeom prst="rect">
            <a:avLst/>
          </a:prstGeom>
          <a:noFill/>
        </p:spPr>
        <p:txBody>
          <a:bodyPr wrap="square">
            <a:spAutoFit/>
          </a:bodyPr>
          <a:lstStyle/>
          <a:p>
            <a:pPr algn="ctr">
              <a:defRPr sz="900" b="0">
                <a:solidFill>
                  <a:srgbClr val="333333"/>
                </a:solidFill>
                <a:latin typeface="Calibri"/>
              </a:defRPr>
            </a:pPr>
            <a:r>
              <a:t>~$1K/mo</a:t>
            </a:r>
          </a:p>
        </p:txBody>
      </p:sp>
      <p:sp>
        <p:nvSpPr>
          <p:cNvPr id="220" name="Rectangle 219"/>
          <p:cNvSpPr/>
          <p:nvPr/>
        </p:nvSpPr>
        <p:spPr>
          <a:xfrm>
            <a:off x="5760720" y="621792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5806440" y="6245352"/>
            <a:ext cx="1280160" cy="274320"/>
          </a:xfrm>
          <a:prstGeom prst="rect">
            <a:avLst/>
          </a:prstGeom>
          <a:noFill/>
        </p:spPr>
        <p:txBody>
          <a:bodyPr wrap="square">
            <a:spAutoFit/>
          </a:bodyPr>
          <a:lstStyle/>
          <a:p>
            <a:pPr algn="ctr">
              <a:defRPr sz="900" b="0">
                <a:solidFill>
                  <a:srgbClr val="333333"/>
                </a:solidFill>
                <a:latin typeface="Calibri"/>
              </a:defRPr>
            </a:pPr>
            <a:r>
              <a:t>~$4K/mo</a:t>
            </a:r>
          </a:p>
        </p:txBody>
      </p:sp>
      <p:sp>
        <p:nvSpPr>
          <p:cNvPr id="222" name="Rectangle 221"/>
          <p:cNvSpPr/>
          <p:nvPr/>
        </p:nvSpPr>
        <p:spPr>
          <a:xfrm>
            <a:off x="7132320" y="6217920"/>
            <a:ext cx="13716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178040" y="6245352"/>
            <a:ext cx="1280160" cy="274320"/>
          </a:xfrm>
          <a:prstGeom prst="rect">
            <a:avLst/>
          </a:prstGeom>
          <a:noFill/>
        </p:spPr>
        <p:txBody>
          <a:bodyPr wrap="square">
            <a:spAutoFit/>
          </a:bodyPr>
          <a:lstStyle/>
          <a:p>
            <a:pPr algn="ctr">
              <a:defRPr sz="900" b="0">
                <a:solidFill>
                  <a:srgbClr val="333333"/>
                </a:solidFill>
                <a:latin typeface="Calibri"/>
              </a:defRPr>
            </a:pPr>
            <a:r>
              <a:t>~$3K/mo</a:t>
            </a:r>
          </a:p>
        </p:txBody>
      </p:sp>
      <p:sp>
        <p:nvSpPr>
          <p:cNvPr id="224" name="Rectangle 223"/>
          <p:cNvSpPr/>
          <p:nvPr/>
        </p:nvSpPr>
        <p:spPr>
          <a:xfrm>
            <a:off x="8503920" y="6217920"/>
            <a:ext cx="11887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549640" y="6245352"/>
            <a:ext cx="1097280" cy="274320"/>
          </a:xfrm>
          <a:prstGeom prst="rect">
            <a:avLst/>
          </a:prstGeom>
          <a:noFill/>
        </p:spPr>
        <p:txBody>
          <a:bodyPr wrap="square">
            <a:spAutoFit/>
          </a:bodyPr>
          <a:lstStyle/>
          <a:p>
            <a:pPr algn="ctr">
              <a:defRPr sz="900" b="0">
                <a:solidFill>
                  <a:srgbClr val="333333"/>
                </a:solidFill>
                <a:latin typeface="Calibri"/>
              </a:defRPr>
            </a:pPr>
            <a:r>
              <a:t>~$1K/mo</a:t>
            </a:r>
          </a:p>
        </p:txBody>
      </p:sp>
      <p:sp>
        <p:nvSpPr>
          <p:cNvPr id="226" name="Rectangle 225"/>
          <p:cNvSpPr/>
          <p:nvPr/>
        </p:nvSpPr>
        <p:spPr>
          <a:xfrm>
            <a:off x="9692640" y="6217920"/>
            <a:ext cx="1645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738360" y="6245352"/>
            <a:ext cx="1554480" cy="274320"/>
          </a:xfrm>
          <a:prstGeom prst="rect">
            <a:avLst/>
          </a:prstGeom>
          <a:noFill/>
        </p:spPr>
        <p:txBody>
          <a:bodyPr wrap="square">
            <a:spAutoFit/>
          </a:bodyPr>
          <a:lstStyle/>
          <a:p>
            <a:pPr algn="ctr">
              <a:defRPr sz="900" b="0">
                <a:solidFill>
                  <a:srgbClr val="333333"/>
                </a:solidFill>
                <a:latin typeface="Calibri"/>
              </a:defRPr>
            </a:pPr>
            <a:r>
              <a:t>$10/seat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233A"/>
        </a:solidFill>
        <a:effectLst/>
      </p:bgPr>
    </p:bg>
    <p:spTree>
      <p:nvGrpSpPr>
        <p:cNvPr id="1" name=""/>
        <p:cNvGrpSpPr/>
        <p:nvPr/>
      </p:nvGrpSpPr>
      <p:grpSpPr/>
      <p:sp>
        <p:nvSpPr>
          <p:cNvPr id="2" name="TextBox 1"/>
          <p:cNvSpPr txBox="1"/>
          <p:nvPr/>
        </p:nvSpPr>
        <p:spPr>
          <a:xfrm>
            <a:off x="914400" y="1097280"/>
            <a:ext cx="10058400" cy="914400"/>
          </a:xfrm>
          <a:prstGeom prst="rect">
            <a:avLst/>
          </a:prstGeom>
          <a:noFill/>
        </p:spPr>
        <p:txBody>
          <a:bodyPr wrap="square">
            <a:spAutoFit/>
          </a:bodyPr>
          <a:lstStyle/>
          <a:p>
            <a:pPr algn="ctr">
              <a:defRPr sz="4200" b="1">
                <a:solidFill>
                  <a:srgbClr val="FFFFFF"/>
                </a:solidFill>
                <a:latin typeface="Calibri"/>
              </a:defRPr>
            </a:pPr>
            <a:r>
              <a:t>Why Control Tower?</a:t>
            </a:r>
          </a:p>
        </p:txBody>
      </p:sp>
      <p:sp>
        <p:nvSpPr>
          <p:cNvPr id="3" name="TextBox 2"/>
          <p:cNvSpPr txBox="1"/>
          <p:nvPr/>
        </p:nvSpPr>
        <p:spPr>
          <a:xfrm>
            <a:off x="1371600" y="2286000"/>
            <a:ext cx="9144000" cy="2743200"/>
          </a:xfrm>
          <a:prstGeom prst="rect">
            <a:avLst/>
          </a:prstGeom>
          <a:noFill/>
        </p:spPr>
        <p:txBody>
          <a:bodyPr wrap="square">
            <a:spAutoFit/>
          </a:bodyPr>
          <a:lstStyle/>
          <a:p>
            <a:pPr algn="ctr">
              <a:defRPr sz="1800" b="0">
                <a:solidFill>
                  <a:srgbClr val="FFFFFF"/>
                </a:solidFill>
                <a:latin typeface="Calibri"/>
              </a:defRPr>
            </a:pPr>
            <a:r>
              <a:t>The only platform purpose-built for FDA 510(k) medical device development.</a:t>
            </a:r>
            <a:br/>
            <a:br/>
            <a:r>
              <a:t>✓  Replaces 6+ standalone tools (PM, QMS, risk, finance, investor, comms)</a:t>
            </a:r>
            <a:br/>
            <a:r>
              <a:t>✓  Automates FDA Q-Sub generation, RTA pre-checks, and MDUFA timeline tracking</a:t>
            </a:r>
            <a:br/>
            <a:r>
              <a:t>✓  Trilingual for US-China and US-Korea market corridors</a:t>
            </a:r>
            <a:br/>
            <a:r>
              <a:t>✓  21 CFR Part 11 audit trail from Day 1</a:t>
            </a:r>
            <a:br/>
            <a:r>
              <a:t>✓  7 device templates — productive in minutes, not weeks</a:t>
            </a:r>
            <a:br/>
            <a:r>
              <a:t>✓  Starting at $500/month — 10× cheaper than enterprise QMS platforms</a:t>
            </a:r>
            <a:br/>
            <a:br/>
            <a:r>
              <a:t>From Pre-Submission to FDA Clearance — one platform, one team, one source of truth.</a:t>
            </a:r>
          </a:p>
        </p:txBody>
      </p:sp>
      <p:sp>
        <p:nvSpPr>
          <p:cNvPr id="4" name="Rectangle 3"/>
          <p:cNvSpPr/>
          <p:nvPr/>
        </p:nvSpPr>
        <p:spPr>
          <a:xfrm>
            <a:off x="3657600" y="5394960"/>
            <a:ext cx="4846320" cy="2743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669280"/>
            <a:ext cx="10058400" cy="731520"/>
          </a:xfrm>
          <a:prstGeom prst="rect">
            <a:avLst/>
          </a:prstGeom>
          <a:noFill/>
        </p:spPr>
        <p:txBody>
          <a:bodyPr wrap="square">
            <a:spAutoFit/>
          </a:bodyPr>
          <a:lstStyle/>
          <a:p>
            <a:pPr algn="ctr">
              <a:defRPr sz="1600" b="0">
                <a:solidFill>
                  <a:srgbClr val="009688"/>
                </a:solidFill>
                <a:latin typeface="Calibri"/>
              </a:defRPr>
            </a:pPr>
            <a:r>
              <a:t>510(k) Bridge  •  Gresham, Oregon  •  www.510kbridge.com</a:t>
            </a:r>
            <a:br/>
            <a:r>
              <a:t>Schedule a Demo  •  info@510kbridge.com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