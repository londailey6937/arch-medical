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B233A"/>
        </a:solidFill>
        <a:effectLst/>
      </p:bgPr>
    </p:bg>
    <p:spTree>
      <p:nvGrpSpPr>
        <p:cNvPr id="1" name=""/>
        <p:cNvGrpSpPr/>
        <p:nvPr/>
      </p:nvGrpSpPr>
      <p:grpSpPr/>
      <p:sp>
        <p:nvSpPr>
          <p:cNvPr id="2" name="TextBox 1"/>
          <p:cNvSpPr txBox="1"/>
          <p:nvPr/>
        </p:nvSpPr>
        <p:spPr>
          <a:xfrm>
            <a:off x="914400" y="1371600"/>
            <a:ext cx="10058400" cy="914400"/>
          </a:xfrm>
          <a:prstGeom prst="rect">
            <a:avLst/>
          </a:prstGeom>
          <a:noFill/>
        </p:spPr>
        <p:txBody>
          <a:bodyPr wrap="square">
            <a:spAutoFit/>
          </a:bodyPr>
          <a:lstStyle/>
          <a:p>
            <a:pPr algn="ctr">
              <a:defRPr sz="4400" b="1">
                <a:solidFill>
                  <a:srgbClr val="FFFFFF"/>
                </a:solidFill>
                <a:latin typeface="Calibri"/>
              </a:defRPr>
            </a:pPr>
            <a:r>
              <a:t>510(k) Bridge Control Tower</a:t>
            </a:r>
          </a:p>
        </p:txBody>
      </p:sp>
      <p:sp>
        <p:nvSpPr>
          <p:cNvPr id="3" name="TextBox 2"/>
          <p:cNvSpPr txBox="1"/>
          <p:nvPr/>
        </p:nvSpPr>
        <p:spPr>
          <a:xfrm>
            <a:off x="914400" y="2377440"/>
            <a:ext cx="10058400" cy="731520"/>
          </a:xfrm>
          <a:prstGeom prst="rect">
            <a:avLst/>
          </a:prstGeom>
          <a:noFill/>
        </p:spPr>
        <p:txBody>
          <a:bodyPr wrap="square">
            <a:spAutoFit/>
          </a:bodyPr>
          <a:lstStyle/>
          <a:p>
            <a:pPr algn="ctr">
              <a:defRPr sz="2200" b="0">
                <a:solidFill>
                  <a:srgbClr val="009688"/>
                </a:solidFill>
                <a:latin typeface="Calibri"/>
              </a:defRPr>
            </a:pPr>
            <a:r>
              <a:t>The First Purpose-Built FDA 510(k) Project Management Platform</a:t>
            </a:r>
          </a:p>
        </p:txBody>
      </p:sp>
      <p:sp>
        <p:nvSpPr>
          <p:cNvPr id="4" name="TextBox 3"/>
          <p:cNvSpPr txBox="1"/>
          <p:nvPr/>
        </p:nvSpPr>
        <p:spPr>
          <a:xfrm>
            <a:off x="1828800" y="3474720"/>
            <a:ext cx="8229600" cy="1371600"/>
          </a:xfrm>
          <a:prstGeom prst="rect">
            <a:avLst/>
          </a:prstGeom>
          <a:noFill/>
        </p:spPr>
        <p:txBody>
          <a:bodyPr wrap="square">
            <a:spAutoFit/>
          </a:bodyPr>
          <a:lstStyle/>
          <a:p>
            <a:pPr algn="ctr">
              <a:defRPr sz="1600" b="0">
                <a:solidFill>
                  <a:srgbClr val="FFFFFF"/>
                </a:solidFill>
                <a:latin typeface="Calibri"/>
              </a:defRPr>
            </a:pPr>
            <a:r>
              <a:t>18 integrated tabs  •  Trilingual (EN / 中文 / 한국어)  •  Role-based access</a:t>
            </a:r>
            <a:br/>
            <a:r>
              <a:t>21 CFR Part 11 audit trail  •  ISO 14971 risk management  •  FDA Q-Sub automation</a:t>
            </a:r>
            <a:br/>
            <a:r>
              <a:t>Real-time cloud sync  •  7 pre-configured device templates  •  3 subscription tiers</a:t>
            </a:r>
          </a:p>
        </p:txBody>
      </p:sp>
      <p:sp>
        <p:nvSpPr>
          <p:cNvPr id="5" name="Rectangle 4"/>
          <p:cNvSpPr/>
          <p:nvPr/>
        </p:nvSpPr>
        <p:spPr>
          <a:xfrm>
            <a:off x="3657600" y="5120640"/>
            <a:ext cx="4846320" cy="27432"/>
          </a:xfrm>
          <a:prstGeom prst="rect">
            <a:avLst/>
          </a:prstGeom>
          <a:solidFill>
            <a:srgbClr val="0096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14400" y="5486400"/>
            <a:ext cx="10058400" cy="457200"/>
          </a:xfrm>
          <a:prstGeom prst="rect">
            <a:avLst/>
          </a:prstGeom>
          <a:noFill/>
        </p:spPr>
        <p:txBody>
          <a:bodyPr wrap="square">
            <a:spAutoFit/>
          </a:bodyPr>
          <a:lstStyle/>
          <a:p>
            <a:pPr algn="ctr">
              <a:defRPr sz="1400" b="0">
                <a:solidFill>
                  <a:srgbClr val="FFFFFF"/>
                </a:solidFill>
                <a:latin typeface="Calibri"/>
              </a:defRPr>
            </a:pPr>
            <a:r>
              <a:t>510(k) Bridge  •  Gresham, Oregon  •  www.510kbridge.com</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05840"/>
          </a:xfrm>
          <a:prstGeom prst="rect">
            <a:avLst/>
          </a:prstGeom>
          <a:solidFill>
            <a:srgbClr val="0B23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74320"/>
            <a:ext cx="9144000" cy="548640"/>
          </a:xfrm>
          <a:prstGeom prst="rect">
            <a:avLst/>
          </a:prstGeom>
          <a:noFill/>
        </p:spPr>
        <p:txBody>
          <a:bodyPr wrap="square">
            <a:spAutoFit/>
          </a:bodyPr>
          <a:lstStyle/>
          <a:p>
            <a:pPr algn="l">
              <a:defRPr sz="2800" b="1">
                <a:solidFill>
                  <a:srgbClr val="FFFFFF"/>
                </a:solidFill>
                <a:latin typeface="Calibri"/>
              </a:defRPr>
            </a:pPr>
            <a:r>
              <a:t>The Problem: No FDA-Specific Project Management Platform Exists</a:t>
            </a:r>
          </a:p>
        </p:txBody>
      </p:sp>
      <p:sp>
        <p:nvSpPr>
          <p:cNvPr id="4" name="TextBox 3"/>
          <p:cNvSpPr txBox="1"/>
          <p:nvPr/>
        </p:nvSpPr>
        <p:spPr>
          <a:xfrm>
            <a:off x="731520" y="1280160"/>
            <a:ext cx="5303520" cy="5029200"/>
          </a:xfrm>
          <a:prstGeom prst="rect">
            <a:avLst/>
          </a:prstGeom>
          <a:noFill/>
        </p:spPr>
        <p:txBody>
          <a:bodyPr wrap="square">
            <a:spAutoFit/>
          </a:bodyPr>
          <a:lstStyle/>
          <a:p>
            <a:pPr>
              <a:spcAft>
                <a:spcPts val="800"/>
              </a:spcAft>
              <a:defRPr sz="2200" b="1">
                <a:solidFill>
                  <a:srgbClr val="0B233A"/>
                </a:solidFill>
                <a:latin typeface="Calibri"/>
              </a:defRPr>
            </a:pPr>
            <a:r>
              <a:t>Why the Industry Needs Control Tower</a:t>
            </a:r>
          </a:p>
          <a:p>
            <a:pPr>
              <a:spcAft>
                <a:spcPts val="400"/>
              </a:spcAft>
              <a:defRPr sz="1500">
                <a:solidFill>
                  <a:srgbClr val="333333"/>
                </a:solidFill>
                <a:latin typeface="Calibri"/>
              </a:defRPr>
            </a:pPr>
            <a:r>
              <a:t>▸ Medical device companies use generic PM tools (Jira, Asana, Monday.com) that have zero FDA awareness</a:t>
            </a:r>
          </a:p>
          <a:p>
            <a:pPr>
              <a:spcAft>
                <a:spcPts val="400"/>
              </a:spcAft>
              <a:defRPr sz="1500">
                <a:solidFill>
                  <a:srgbClr val="333333"/>
                </a:solidFill>
                <a:latin typeface="Calibri"/>
              </a:defRPr>
            </a:pPr>
            <a:r>
              <a:t>▸ Regulatory consultants rely on spreadsheets, email threads, and tribal knowledge</a:t>
            </a:r>
          </a:p>
          <a:p>
            <a:pPr>
              <a:spcAft>
                <a:spcPts val="400"/>
              </a:spcAft>
              <a:defRPr sz="1500">
                <a:solidFill>
                  <a:srgbClr val="333333"/>
                </a:solidFill>
                <a:latin typeface="Calibri"/>
              </a:defRPr>
            </a:pPr>
            <a:r>
              <a:t>▸ No existing platform connects technical milestones to FDA regulatory gates</a:t>
            </a:r>
          </a:p>
          <a:p>
            <a:pPr>
              <a:spcAft>
                <a:spcPts val="400"/>
              </a:spcAft>
              <a:defRPr sz="1500">
                <a:solidFill>
                  <a:srgbClr val="333333"/>
                </a:solidFill>
                <a:latin typeface="Calibri"/>
              </a:defRPr>
            </a:pPr>
            <a:r>
              <a:t>▸ 510(k) submissions average 6-9 months of rework due to disorganized documentation (DHF/DMR gaps)</a:t>
            </a:r>
          </a:p>
          <a:p>
            <a:pPr>
              <a:spcAft>
                <a:spcPts val="400"/>
              </a:spcAft>
              <a:defRPr sz="1500">
                <a:solidFill>
                  <a:srgbClr val="333333"/>
                </a:solidFill>
                <a:latin typeface="Calibri"/>
              </a:defRPr>
            </a:pPr>
            <a:r>
              <a:t>▸ Companies send 2-3 FDA Q-Sub requests before getting accepted — each cycle costs $10K-$25K in delays</a:t>
            </a:r>
          </a:p>
          <a:p>
            <a:pPr>
              <a:spcAft>
                <a:spcPts val="400"/>
              </a:spcAft>
              <a:defRPr sz="1500">
                <a:solidFill>
                  <a:srgbClr val="333333"/>
                </a:solidFill>
                <a:latin typeface="Calibri"/>
              </a:defRPr>
            </a:pPr>
            <a:r>
              <a:t>▸ ISO 14971 risk management is tracked in standalone documents, disconnected from project decisions</a:t>
            </a:r>
          </a:p>
          <a:p>
            <a:pPr>
              <a:spcAft>
                <a:spcPts val="400"/>
              </a:spcAft>
              <a:defRPr sz="1500">
                <a:solidFill>
                  <a:srgbClr val="333333"/>
                </a:solidFill>
                <a:latin typeface="Calibri"/>
              </a:defRPr>
            </a:pPr>
            <a:r>
              <a:t>▸ International teams (US-China, US-Korea corridors) lack a unified multilingual workspace</a:t>
            </a:r>
          </a:p>
        </p:txBody>
      </p:sp>
      <p:sp>
        <p:nvSpPr>
          <p:cNvPr id="5" name="TextBox 4"/>
          <p:cNvSpPr txBox="1"/>
          <p:nvPr/>
        </p:nvSpPr>
        <p:spPr>
          <a:xfrm>
            <a:off x="6400800" y="1280160"/>
            <a:ext cx="5303520" cy="5029200"/>
          </a:xfrm>
          <a:prstGeom prst="rect">
            <a:avLst/>
          </a:prstGeom>
          <a:noFill/>
        </p:spPr>
        <p:txBody>
          <a:bodyPr wrap="square">
            <a:spAutoFit/>
          </a:bodyPr>
          <a:lstStyle/>
          <a:p>
            <a:pPr>
              <a:spcAft>
                <a:spcPts val="800"/>
              </a:spcAft>
              <a:defRPr sz="2200" b="1">
                <a:solidFill>
                  <a:srgbClr val="E53E3E"/>
                </a:solidFill>
                <a:latin typeface="Calibri"/>
              </a:defRPr>
            </a:pPr>
            <a:r>
              <a:t>Competitive Landscape Gaps</a:t>
            </a:r>
          </a:p>
          <a:p>
            <a:pPr>
              <a:spcAft>
                <a:spcPts val="400"/>
              </a:spcAft>
              <a:defRPr sz="1500">
                <a:solidFill>
                  <a:srgbClr val="333333"/>
                </a:solidFill>
                <a:latin typeface="Calibri"/>
              </a:defRPr>
            </a:pPr>
            <a:r>
              <a:t>▸ Greenlight Guru — QMS-focused, not project management; no milestone/gate tracking; $$$</a:t>
            </a:r>
          </a:p>
          <a:p>
            <a:pPr>
              <a:spcAft>
                <a:spcPts val="400"/>
              </a:spcAft>
              <a:defRPr sz="1500">
                <a:solidFill>
                  <a:srgbClr val="333333"/>
                </a:solidFill>
                <a:latin typeface="Calibri"/>
              </a:defRPr>
            </a:pPr>
            <a:r>
              <a:t>▸ MasterControl — Enterprise QMS; complex, expensive ($50K+/yr); no 510(k) workflow</a:t>
            </a:r>
          </a:p>
          <a:p>
            <a:pPr>
              <a:spcAft>
                <a:spcPts val="400"/>
              </a:spcAft>
              <a:defRPr sz="1500">
                <a:solidFill>
                  <a:srgbClr val="333333"/>
                </a:solidFill>
                <a:latin typeface="Calibri"/>
              </a:defRPr>
            </a:pPr>
            <a:r>
              <a:t>▸ Jama Connect — Requirements management only; no budget, risk matrix, or FDA comms</a:t>
            </a:r>
          </a:p>
          <a:p>
            <a:pPr>
              <a:spcAft>
                <a:spcPts val="400"/>
              </a:spcAft>
              <a:defRPr sz="1500">
                <a:solidFill>
                  <a:srgbClr val="333333"/>
                </a:solidFill>
                <a:latin typeface="Calibri"/>
              </a:defRPr>
            </a:pPr>
            <a:r>
              <a:t>▸ Arena Solutions (PTC) — PLM/BOM-focused; no regulatory submission tools</a:t>
            </a:r>
          </a:p>
          <a:p>
            <a:pPr>
              <a:spcAft>
                <a:spcPts val="400"/>
              </a:spcAft>
              <a:defRPr sz="1500">
                <a:solidFill>
                  <a:srgbClr val="333333"/>
                </a:solidFill>
                <a:latin typeface="Calibri"/>
              </a:defRPr>
            </a:pPr>
            <a:r>
              <a:t>▸ Qualio — Document-centric QMS; no dual-track milestones, no gate system</a:t>
            </a:r>
          </a:p>
          <a:p>
            <a:pPr>
              <a:spcAft>
                <a:spcPts val="400"/>
              </a:spcAft>
              <a:defRPr sz="1500">
                <a:solidFill>
                  <a:srgbClr val="333333"/>
                </a:solidFill>
                <a:latin typeface="Calibri"/>
              </a:defRPr>
            </a:pPr>
            <a:r>
              <a:t>▸ Monday.com / Asana — Generic PM; zero FDA vocabulary or compliance features</a:t>
            </a:r>
          </a:p>
          <a:p>
            <a:pPr>
              <a:spcAft>
                <a:spcPts val="400"/>
              </a:spcAft>
              <a:defRPr sz="1500">
                <a:solidFill>
                  <a:srgbClr val="333333"/>
                </a:solidFill>
                <a:latin typeface="Calibri"/>
              </a:defRPr>
            </a:pPr>
          </a:p>
          <a:p>
            <a:pPr>
              <a:spcAft>
                <a:spcPts val="400"/>
              </a:spcAft>
              <a:defRPr sz="1500">
                <a:solidFill>
                  <a:srgbClr val="333333"/>
                </a:solidFill>
                <a:latin typeface="Calibri"/>
              </a:defRPr>
            </a:pPr>
            <a:r>
              <a:t>None of these platforms provide an integrated 510(k) project lifecycle from Pre-Sub through clearance with built-in FDA automation, trilingual support, and role-based governance.</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05840"/>
          </a:xfrm>
          <a:prstGeom prst="rect">
            <a:avLst/>
          </a:prstGeom>
          <a:solidFill>
            <a:srgbClr val="0B23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74320"/>
            <a:ext cx="9144000" cy="548640"/>
          </a:xfrm>
          <a:prstGeom prst="rect">
            <a:avLst/>
          </a:prstGeom>
          <a:noFill/>
        </p:spPr>
        <p:txBody>
          <a:bodyPr wrap="square">
            <a:spAutoFit/>
          </a:bodyPr>
          <a:lstStyle/>
          <a:p>
            <a:pPr algn="l">
              <a:defRPr sz="2800" b="1">
                <a:solidFill>
                  <a:srgbClr val="FFFFFF"/>
                </a:solidFill>
                <a:latin typeface="Calibri"/>
              </a:defRPr>
            </a:pPr>
            <a:r>
              <a:t>Platform Architecture: 17 Integrated Tabs in 5 Groups</a:t>
            </a:r>
          </a:p>
        </p:txBody>
      </p:sp>
      <p:sp>
        <p:nvSpPr>
          <p:cNvPr id="4" name="Rectangle 3"/>
          <p:cNvSpPr/>
          <p:nvPr/>
        </p:nvSpPr>
        <p:spPr>
          <a:xfrm>
            <a:off x="457200" y="1371600"/>
            <a:ext cx="2194560" cy="457200"/>
          </a:xfrm>
          <a:prstGeom prst="rect">
            <a:avLst/>
          </a:prstGeom>
          <a:solidFill>
            <a:srgbClr val="0096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417320"/>
            <a:ext cx="2194560" cy="365760"/>
          </a:xfrm>
          <a:prstGeom prst="rect">
            <a:avLst/>
          </a:prstGeom>
          <a:noFill/>
        </p:spPr>
        <p:txBody>
          <a:bodyPr wrap="square">
            <a:spAutoFit/>
          </a:bodyPr>
          <a:lstStyle/>
          <a:p>
            <a:pPr algn="ctr">
              <a:defRPr sz="1300" b="1">
                <a:solidFill>
                  <a:srgbClr val="FFFFFF"/>
                </a:solidFill>
                <a:latin typeface="Calibri"/>
              </a:defRPr>
            </a:pPr>
            <a:r>
              <a:t>PROGRAM MGMT</a:t>
            </a:r>
          </a:p>
        </p:txBody>
      </p:sp>
      <p:sp>
        <p:nvSpPr>
          <p:cNvPr id="6" name="Rectangle 5"/>
          <p:cNvSpPr/>
          <p:nvPr/>
        </p:nvSpPr>
        <p:spPr>
          <a:xfrm>
            <a:off x="457200" y="1828800"/>
            <a:ext cx="2194560" cy="2743200"/>
          </a:xfrm>
          <a:prstGeom prst="rect">
            <a:avLst/>
          </a:prstGeom>
          <a:solidFill>
            <a:srgbClr val="F5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94360" y="1920240"/>
            <a:ext cx="1920240" cy="2560320"/>
          </a:xfrm>
          <a:prstGeom prst="rect">
            <a:avLst/>
          </a:prstGeom>
          <a:noFill/>
        </p:spPr>
        <p:txBody>
          <a:bodyPr wrap="square">
            <a:spAutoFit/>
          </a:bodyPr>
          <a:lstStyle/>
          <a:p>
            <a:pPr>
              <a:spcAft>
                <a:spcPts val="400"/>
              </a:spcAft>
              <a:defRPr sz="1300">
                <a:solidFill>
                  <a:srgbClr val="333333"/>
                </a:solidFill>
                <a:latin typeface="Calibri"/>
              </a:defRPr>
            </a:pPr>
            <a:r>
              <a:t>1. Dual-Track Milestones</a:t>
            </a:r>
          </a:p>
          <a:p>
            <a:pPr>
              <a:spcAft>
                <a:spcPts val="400"/>
              </a:spcAft>
              <a:defRPr sz="1300">
                <a:solidFill>
                  <a:srgbClr val="333333"/>
                </a:solidFill>
                <a:latin typeface="Calibri"/>
              </a:defRPr>
            </a:pPr>
            <a:r>
              <a:t>2. Gate System</a:t>
            </a:r>
          </a:p>
          <a:p>
            <a:pPr>
              <a:spcAft>
                <a:spcPts val="400"/>
              </a:spcAft>
              <a:defRPr sz="1300">
                <a:solidFill>
                  <a:srgbClr val="333333"/>
                </a:solidFill>
                <a:latin typeface="Calibri"/>
              </a:defRPr>
            </a:pPr>
            <a:r>
              <a:t>3. Timeline</a:t>
            </a:r>
          </a:p>
          <a:p>
            <a:pPr>
              <a:spcAft>
                <a:spcPts val="400"/>
              </a:spcAft>
              <a:defRPr sz="1300">
                <a:solidFill>
                  <a:srgbClr val="333333"/>
                </a:solidFill>
                <a:latin typeface="Calibri"/>
              </a:defRPr>
            </a:pPr>
            <a:r>
              <a:t>4. Actions Panel</a:t>
            </a:r>
          </a:p>
        </p:txBody>
      </p:sp>
      <p:sp>
        <p:nvSpPr>
          <p:cNvPr id="8" name="Rectangle 7"/>
          <p:cNvSpPr/>
          <p:nvPr/>
        </p:nvSpPr>
        <p:spPr>
          <a:xfrm>
            <a:off x="2788920" y="1371600"/>
            <a:ext cx="2194560" cy="457200"/>
          </a:xfrm>
          <a:prstGeom prst="rect">
            <a:avLst/>
          </a:prstGeom>
          <a:solidFill>
            <a:srgbClr val="E65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2788920" y="1417320"/>
            <a:ext cx="2194560" cy="365760"/>
          </a:xfrm>
          <a:prstGeom prst="rect">
            <a:avLst/>
          </a:prstGeom>
          <a:noFill/>
        </p:spPr>
        <p:txBody>
          <a:bodyPr wrap="square">
            <a:spAutoFit/>
          </a:bodyPr>
          <a:lstStyle/>
          <a:p>
            <a:pPr algn="ctr">
              <a:defRPr sz="1300" b="1">
                <a:solidFill>
                  <a:srgbClr val="FFFFFF"/>
                </a:solidFill>
                <a:latin typeface="Calibri"/>
              </a:defRPr>
            </a:pPr>
            <a:r>
              <a:t>REGULATORY</a:t>
            </a:r>
          </a:p>
        </p:txBody>
      </p:sp>
      <p:sp>
        <p:nvSpPr>
          <p:cNvPr id="10" name="Rectangle 9"/>
          <p:cNvSpPr/>
          <p:nvPr/>
        </p:nvSpPr>
        <p:spPr>
          <a:xfrm>
            <a:off x="2788920" y="1828800"/>
            <a:ext cx="2194560" cy="2743200"/>
          </a:xfrm>
          <a:prstGeom prst="rect">
            <a:avLst/>
          </a:prstGeom>
          <a:solidFill>
            <a:srgbClr val="F5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2926080" y="1920240"/>
            <a:ext cx="1920240" cy="2560320"/>
          </a:xfrm>
          <a:prstGeom prst="rect">
            <a:avLst/>
          </a:prstGeom>
          <a:noFill/>
        </p:spPr>
        <p:txBody>
          <a:bodyPr wrap="square">
            <a:spAutoFit/>
          </a:bodyPr>
          <a:lstStyle/>
          <a:p>
            <a:pPr>
              <a:spcAft>
                <a:spcPts val="400"/>
              </a:spcAft>
              <a:defRPr sz="1300">
                <a:solidFill>
                  <a:srgbClr val="333333"/>
                </a:solidFill>
                <a:latin typeface="Calibri"/>
              </a:defRPr>
            </a:pPr>
            <a:r>
              <a:t>5. Regulatory Tracker</a:t>
            </a:r>
          </a:p>
          <a:p>
            <a:pPr>
              <a:spcAft>
                <a:spcPts val="400"/>
              </a:spcAft>
              <a:defRPr sz="1300">
                <a:solidFill>
                  <a:srgbClr val="333333"/>
                </a:solidFill>
                <a:latin typeface="Calibri"/>
              </a:defRPr>
            </a:pPr>
            <a:r>
              <a:t>6. Risk Dashboard</a:t>
            </a:r>
          </a:p>
          <a:p>
            <a:pPr>
              <a:spcAft>
                <a:spcPts val="400"/>
              </a:spcAft>
              <a:defRPr sz="1300">
                <a:solidFill>
                  <a:srgbClr val="333333"/>
                </a:solidFill>
                <a:latin typeface="Calibri"/>
              </a:defRPr>
            </a:pPr>
            <a:r>
              <a:t>7. FDA Comms Center</a:t>
            </a:r>
          </a:p>
          <a:p>
            <a:pPr>
              <a:spcAft>
                <a:spcPts val="400"/>
              </a:spcAft>
              <a:defRPr sz="1300">
                <a:solidFill>
                  <a:srgbClr val="333333"/>
                </a:solidFill>
                <a:latin typeface="Calibri"/>
              </a:defRPr>
            </a:pPr>
            <a:r>
              <a:t>17. Predicate Finder</a:t>
            </a:r>
          </a:p>
          <a:p>
            <a:pPr>
              <a:spcAft>
                <a:spcPts val="400"/>
              </a:spcAft>
              <a:defRPr sz="1300">
                <a:solidFill>
                  <a:srgbClr val="333333"/>
                </a:solidFill>
                <a:latin typeface="Calibri"/>
              </a:defRPr>
            </a:pPr>
            <a:r>
              <a:t>18. Guidance Docs</a:t>
            </a:r>
          </a:p>
        </p:txBody>
      </p:sp>
      <p:sp>
        <p:nvSpPr>
          <p:cNvPr id="12" name="Rectangle 11"/>
          <p:cNvSpPr/>
          <p:nvPr/>
        </p:nvSpPr>
        <p:spPr>
          <a:xfrm>
            <a:off x="5120640" y="1371600"/>
            <a:ext cx="2194560" cy="457200"/>
          </a:xfrm>
          <a:prstGeom prst="rect">
            <a:avLst/>
          </a:prstGeom>
          <a:solidFill>
            <a:srgbClr val="007A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120640" y="1417320"/>
            <a:ext cx="2194560" cy="365760"/>
          </a:xfrm>
          <a:prstGeom prst="rect">
            <a:avLst/>
          </a:prstGeom>
          <a:noFill/>
        </p:spPr>
        <p:txBody>
          <a:bodyPr wrap="square">
            <a:spAutoFit/>
          </a:bodyPr>
          <a:lstStyle/>
          <a:p>
            <a:pPr algn="ctr">
              <a:defRPr sz="1300" b="1">
                <a:solidFill>
                  <a:srgbClr val="FFFFFF"/>
                </a:solidFill>
                <a:latin typeface="Calibri"/>
              </a:defRPr>
            </a:pPr>
            <a:r>
              <a:t>DOCUMENTS</a:t>
            </a:r>
          </a:p>
        </p:txBody>
      </p:sp>
      <p:sp>
        <p:nvSpPr>
          <p:cNvPr id="14" name="Rectangle 13"/>
          <p:cNvSpPr/>
          <p:nvPr/>
        </p:nvSpPr>
        <p:spPr>
          <a:xfrm>
            <a:off x="5120640" y="1828800"/>
            <a:ext cx="2194560" cy="2743200"/>
          </a:xfrm>
          <a:prstGeom prst="rect">
            <a:avLst/>
          </a:prstGeom>
          <a:solidFill>
            <a:srgbClr val="F5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257800" y="1920240"/>
            <a:ext cx="1920240" cy="2560320"/>
          </a:xfrm>
          <a:prstGeom prst="rect">
            <a:avLst/>
          </a:prstGeom>
          <a:noFill/>
        </p:spPr>
        <p:txBody>
          <a:bodyPr wrap="square">
            <a:spAutoFit/>
          </a:bodyPr>
          <a:lstStyle/>
          <a:p>
            <a:pPr>
              <a:spcAft>
                <a:spcPts val="400"/>
              </a:spcAft>
              <a:defRPr sz="1300">
                <a:solidFill>
                  <a:srgbClr val="333333"/>
                </a:solidFill>
                <a:latin typeface="Calibri"/>
              </a:defRPr>
            </a:pPr>
            <a:r>
              <a:t>8. Document Control</a:t>
            </a:r>
          </a:p>
          <a:p>
            <a:pPr>
              <a:spcAft>
                <a:spcPts val="400"/>
              </a:spcAft>
              <a:defRPr sz="1300">
                <a:solidFill>
                  <a:srgbClr val="333333"/>
                </a:solidFill>
                <a:latin typeface="Calibri"/>
              </a:defRPr>
            </a:pPr>
            <a:r>
              <a:t>9. Audit Trail</a:t>
            </a:r>
          </a:p>
        </p:txBody>
      </p:sp>
      <p:sp>
        <p:nvSpPr>
          <p:cNvPr id="16" name="Rectangle 15"/>
          <p:cNvSpPr/>
          <p:nvPr/>
        </p:nvSpPr>
        <p:spPr>
          <a:xfrm>
            <a:off x="7452360" y="1371600"/>
            <a:ext cx="2194560" cy="457200"/>
          </a:xfrm>
          <a:prstGeom prst="rect">
            <a:avLst/>
          </a:prstGeom>
          <a:solidFill>
            <a:srgbClr val="7B1FA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452360" y="1417320"/>
            <a:ext cx="2194560" cy="365760"/>
          </a:xfrm>
          <a:prstGeom prst="rect">
            <a:avLst/>
          </a:prstGeom>
          <a:noFill/>
        </p:spPr>
        <p:txBody>
          <a:bodyPr wrap="square">
            <a:spAutoFit/>
          </a:bodyPr>
          <a:lstStyle/>
          <a:p>
            <a:pPr algn="ctr">
              <a:defRPr sz="1300" b="1">
                <a:solidFill>
                  <a:srgbClr val="FFFFFF"/>
                </a:solidFill>
                <a:latin typeface="Calibri"/>
              </a:defRPr>
            </a:pPr>
            <a:r>
              <a:t>FINANCE</a:t>
            </a:r>
          </a:p>
        </p:txBody>
      </p:sp>
      <p:sp>
        <p:nvSpPr>
          <p:cNvPr id="18" name="Rectangle 17"/>
          <p:cNvSpPr/>
          <p:nvPr/>
        </p:nvSpPr>
        <p:spPr>
          <a:xfrm>
            <a:off x="7452360" y="1828800"/>
            <a:ext cx="2194560" cy="2743200"/>
          </a:xfrm>
          <a:prstGeom prst="rect">
            <a:avLst/>
          </a:prstGeom>
          <a:solidFill>
            <a:srgbClr val="F5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589520" y="1920240"/>
            <a:ext cx="1920240" cy="2560320"/>
          </a:xfrm>
          <a:prstGeom prst="rect">
            <a:avLst/>
          </a:prstGeom>
          <a:noFill/>
        </p:spPr>
        <p:txBody>
          <a:bodyPr wrap="square">
            <a:spAutoFit/>
          </a:bodyPr>
          <a:lstStyle/>
          <a:p>
            <a:pPr>
              <a:spcAft>
                <a:spcPts val="400"/>
              </a:spcAft>
              <a:defRPr sz="1300">
                <a:solidFill>
                  <a:srgbClr val="333333"/>
                </a:solidFill>
                <a:latin typeface="Calibri"/>
              </a:defRPr>
            </a:pPr>
            <a:r>
              <a:t>10. Budget</a:t>
            </a:r>
          </a:p>
          <a:p>
            <a:pPr>
              <a:spcAft>
                <a:spcPts val="400"/>
              </a:spcAft>
              <a:defRPr sz="1300">
                <a:solidFill>
                  <a:srgbClr val="333333"/>
                </a:solidFill>
                <a:latin typeface="Calibri"/>
              </a:defRPr>
            </a:pPr>
            <a:r>
              <a:t>11. Cash / Runway</a:t>
            </a:r>
          </a:p>
          <a:p>
            <a:pPr>
              <a:spcAft>
                <a:spcPts val="400"/>
              </a:spcAft>
              <a:defRPr sz="1300">
                <a:solidFill>
                  <a:srgbClr val="333333"/>
                </a:solidFill>
                <a:latin typeface="Calibri"/>
              </a:defRPr>
            </a:pPr>
            <a:r>
              <a:t>12. US Investment</a:t>
            </a:r>
          </a:p>
        </p:txBody>
      </p:sp>
      <p:sp>
        <p:nvSpPr>
          <p:cNvPr id="20" name="Rectangle 19"/>
          <p:cNvSpPr/>
          <p:nvPr/>
        </p:nvSpPr>
        <p:spPr>
          <a:xfrm>
            <a:off x="9784080" y="1371600"/>
            <a:ext cx="2194560" cy="457200"/>
          </a:xfrm>
          <a:prstGeom prst="rect">
            <a:avLst/>
          </a:prstGeom>
          <a:solidFill>
            <a:srgbClr val="2E7D3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784080" y="1417320"/>
            <a:ext cx="2194560" cy="365760"/>
          </a:xfrm>
          <a:prstGeom prst="rect">
            <a:avLst/>
          </a:prstGeom>
          <a:noFill/>
        </p:spPr>
        <p:txBody>
          <a:bodyPr wrap="square">
            <a:spAutoFit/>
          </a:bodyPr>
          <a:lstStyle/>
          <a:p>
            <a:pPr algn="ctr">
              <a:defRPr sz="1300" b="1">
                <a:solidFill>
                  <a:srgbClr val="FFFFFF"/>
                </a:solidFill>
                <a:latin typeface="Calibri"/>
              </a:defRPr>
            </a:pPr>
            <a:r>
              <a:t>OPERATIONS</a:t>
            </a:r>
          </a:p>
        </p:txBody>
      </p:sp>
      <p:sp>
        <p:nvSpPr>
          <p:cNvPr id="22" name="Rectangle 21"/>
          <p:cNvSpPr/>
          <p:nvPr/>
        </p:nvSpPr>
        <p:spPr>
          <a:xfrm>
            <a:off x="9784080" y="1828800"/>
            <a:ext cx="2194560" cy="2743200"/>
          </a:xfrm>
          <a:prstGeom prst="rect">
            <a:avLst/>
          </a:prstGeom>
          <a:solidFill>
            <a:srgbClr val="F5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9921240" y="1920240"/>
            <a:ext cx="1920240" cy="2560320"/>
          </a:xfrm>
          <a:prstGeom prst="rect">
            <a:avLst/>
          </a:prstGeom>
          <a:noFill/>
        </p:spPr>
        <p:txBody>
          <a:bodyPr wrap="square">
            <a:spAutoFit/>
          </a:bodyPr>
          <a:lstStyle/>
          <a:p>
            <a:pPr>
              <a:spcAft>
                <a:spcPts val="400"/>
              </a:spcAft>
              <a:defRPr sz="1300">
                <a:solidFill>
                  <a:srgbClr val="333333"/>
                </a:solidFill>
                <a:latin typeface="Calibri"/>
              </a:defRPr>
            </a:pPr>
            <a:r>
              <a:t>13. Resources</a:t>
            </a:r>
          </a:p>
          <a:p>
            <a:pPr>
              <a:spcAft>
                <a:spcPts val="400"/>
              </a:spcAft>
              <a:defRPr sz="1300">
                <a:solidFill>
                  <a:srgbClr val="333333"/>
                </a:solidFill>
                <a:latin typeface="Calibri"/>
              </a:defRPr>
            </a:pPr>
            <a:r>
              <a:t>14. Suppliers</a:t>
            </a:r>
          </a:p>
          <a:p>
            <a:pPr>
              <a:spcAft>
                <a:spcPts val="400"/>
              </a:spcAft>
              <a:defRPr sz="1300">
                <a:solidFill>
                  <a:srgbClr val="333333"/>
                </a:solidFill>
                <a:latin typeface="Calibri"/>
              </a:defRPr>
            </a:pPr>
            <a:r>
              <a:t>15. Message Board</a:t>
            </a:r>
          </a:p>
        </p:txBody>
      </p:sp>
      <p:sp>
        <p:nvSpPr>
          <p:cNvPr id="24" name="Rectangle 23"/>
          <p:cNvSpPr/>
          <p:nvPr/>
        </p:nvSpPr>
        <p:spPr>
          <a:xfrm>
            <a:off x="457200" y="4846320"/>
            <a:ext cx="11247120" cy="45720"/>
          </a:xfrm>
          <a:prstGeom prst="rect">
            <a:avLst/>
          </a:prstGeom>
          <a:solidFill>
            <a:srgbClr val="0096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457200" y="5029200"/>
            <a:ext cx="11247120" cy="1371600"/>
          </a:xfrm>
          <a:prstGeom prst="rect">
            <a:avLst/>
          </a:prstGeom>
          <a:noFill/>
        </p:spPr>
        <p:txBody>
          <a:bodyPr wrap="square">
            <a:spAutoFit/>
          </a:bodyPr>
          <a:lstStyle/>
          <a:p>
            <a:pPr>
              <a:spcAft>
                <a:spcPts val="800"/>
              </a:spcAft>
              <a:defRPr sz="1800" b="1">
                <a:solidFill>
                  <a:srgbClr val="0B233A"/>
                </a:solidFill>
                <a:latin typeface="Calibri"/>
              </a:defRPr>
            </a:pPr>
            <a:r>
              <a:t>Cross-Cutting Platform Capabilities</a:t>
            </a:r>
          </a:p>
          <a:p>
            <a:pPr>
              <a:spcAft>
                <a:spcPts val="400"/>
              </a:spcAft>
              <a:defRPr sz="1400">
                <a:solidFill>
                  <a:srgbClr val="333333"/>
                </a:solidFill>
                <a:latin typeface="Calibri"/>
              </a:defRPr>
            </a:pPr>
            <a:r>
              <a:t>Trilingual (EN/中文/한국어)  •  Role-Based Access (PMP / Tech / Business / Accounting)  •  3 Subscription Tiers ($500–$2,000/mo)  •  7 Device Templates  •  Supabase Cloud + Offline  •  21 CFR Part 11 Audit Trail  •  Setup Wizard  •  Real-Time Collaboration</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05840"/>
          </a:xfrm>
          <a:prstGeom prst="rect">
            <a:avLst/>
          </a:prstGeom>
          <a:solidFill>
            <a:srgbClr val="0B23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37160"/>
            <a:ext cx="7315200" cy="457200"/>
          </a:xfrm>
          <a:prstGeom prst="rect">
            <a:avLst/>
          </a:prstGeom>
          <a:noFill/>
        </p:spPr>
        <p:txBody>
          <a:bodyPr wrap="square">
            <a:spAutoFit/>
          </a:bodyPr>
          <a:lstStyle/>
          <a:p>
            <a:pPr algn="l">
              <a:defRPr sz="1300" b="1">
                <a:solidFill>
                  <a:srgbClr val="009688"/>
                </a:solidFill>
                <a:latin typeface="Calibri"/>
              </a:defRPr>
            </a:pPr>
            <a:r>
              <a:t>PROGRAM MANAGEMENT</a:t>
            </a:r>
          </a:p>
        </p:txBody>
      </p:sp>
      <p:sp>
        <p:nvSpPr>
          <p:cNvPr id="4" name="TextBox 3"/>
          <p:cNvSpPr txBox="1"/>
          <p:nvPr/>
        </p:nvSpPr>
        <p:spPr>
          <a:xfrm>
            <a:off x="548640" y="411480"/>
            <a:ext cx="9144000" cy="502920"/>
          </a:xfrm>
          <a:prstGeom prst="rect">
            <a:avLst/>
          </a:prstGeom>
          <a:noFill/>
        </p:spPr>
        <p:txBody>
          <a:bodyPr wrap="square">
            <a:spAutoFit/>
          </a:bodyPr>
          <a:lstStyle/>
          <a:p>
            <a:pPr algn="l">
              <a:defRPr sz="2600" b="1">
                <a:solidFill>
                  <a:srgbClr val="FFFFFF"/>
                </a:solidFill>
                <a:latin typeface="Calibri"/>
              </a:defRPr>
            </a:pPr>
            <a:r>
              <a:t>Tab 1: Dual-Track Milestones</a:t>
            </a:r>
          </a:p>
        </p:txBody>
      </p:sp>
      <p:sp>
        <p:nvSpPr>
          <p:cNvPr id="5" name="TextBox 4"/>
          <p:cNvSpPr txBox="1"/>
          <p:nvPr/>
        </p:nvSpPr>
        <p:spPr>
          <a:xfrm>
            <a:off x="9601200" y="274320"/>
            <a:ext cx="2286000" cy="457200"/>
          </a:xfrm>
          <a:prstGeom prst="rect">
            <a:avLst/>
          </a:prstGeom>
          <a:noFill/>
        </p:spPr>
        <p:txBody>
          <a:bodyPr wrap="square">
            <a:spAutoFit/>
          </a:bodyPr>
          <a:lstStyle/>
          <a:p>
            <a:pPr algn="r">
              <a:defRPr sz="1600" b="1">
                <a:solidFill>
                  <a:srgbClr val="009688"/>
                </a:solidFill>
                <a:latin typeface="Calibri"/>
              </a:defRPr>
            </a:pPr>
            <a:r>
              <a:t>510(k) Bridge</a:t>
            </a:r>
          </a:p>
        </p:txBody>
      </p:sp>
      <p:sp>
        <p:nvSpPr>
          <p:cNvPr id="6" name="TextBox 5"/>
          <p:cNvSpPr txBox="1"/>
          <p:nvPr/>
        </p:nvSpPr>
        <p:spPr>
          <a:xfrm>
            <a:off x="9601200" y="548640"/>
            <a:ext cx="2286000" cy="365760"/>
          </a:xfrm>
          <a:prstGeom prst="rect">
            <a:avLst/>
          </a:prstGeom>
          <a:noFill/>
        </p:spPr>
        <p:txBody>
          <a:bodyPr wrap="square">
            <a:spAutoFit/>
          </a:bodyPr>
          <a:lstStyle/>
          <a:p>
            <a:pPr algn="r">
              <a:defRPr sz="1200" b="0">
                <a:solidFill>
                  <a:srgbClr val="FFFFFF"/>
                </a:solidFill>
                <a:latin typeface="Calibri"/>
              </a:defRPr>
            </a:pPr>
            <a:r>
              <a:t>Control Tower</a:t>
            </a:r>
          </a:p>
        </p:txBody>
      </p:sp>
      <p:pic>
        <p:nvPicPr>
          <p:cNvPr id="7" name="Picture 6" descr="dual-track.png"/>
          <p:cNvPicPr>
            <a:picLocks noChangeAspect="1"/>
          </p:cNvPicPr>
          <p:nvPr/>
        </p:nvPicPr>
        <p:blipFill>
          <a:blip r:embed="rId2"/>
          <a:stretch>
            <a:fillRect/>
          </a:stretch>
        </p:blipFill>
        <p:spPr>
          <a:xfrm>
            <a:off x="365760" y="1188720"/>
            <a:ext cx="5669280" cy="3543300"/>
          </a:xfrm>
          <a:prstGeom prst="rect">
            <a:avLst/>
          </a:prstGeom>
        </p:spPr>
      </p:pic>
      <p:sp>
        <p:nvSpPr>
          <p:cNvPr id="8" name="TextBox 7"/>
          <p:cNvSpPr txBox="1"/>
          <p:nvPr/>
        </p:nvSpPr>
        <p:spPr>
          <a:xfrm>
            <a:off x="6309360" y="1188720"/>
            <a:ext cx="5486400" cy="3200400"/>
          </a:xfrm>
          <a:prstGeom prst="rect">
            <a:avLst/>
          </a:prstGeom>
          <a:noFill/>
        </p:spPr>
        <p:txBody>
          <a:bodyPr wrap="square">
            <a:spAutoFit/>
          </a:bodyPr>
          <a:lstStyle/>
          <a:p>
            <a:pPr>
              <a:spcAft>
                <a:spcPts val="800"/>
              </a:spcAft>
              <a:defRPr sz="1600" b="1">
                <a:solidFill>
                  <a:srgbClr val="009688"/>
                </a:solidFill>
                <a:latin typeface="Calibri"/>
              </a:defRPr>
            </a:pPr>
            <a:r>
              <a:t>Value Proposition</a:t>
            </a:r>
          </a:p>
          <a:p>
            <a:pPr>
              <a:spcAft>
                <a:spcPts val="400"/>
              </a:spcAft>
              <a:defRPr sz="1200">
                <a:solidFill>
                  <a:srgbClr val="333333"/>
                </a:solidFill>
                <a:latin typeface="Calibri"/>
              </a:defRPr>
            </a:pPr>
            <a:r>
              <a:t>▸ Parallel technical &amp; regulatory milestone tracking — the ONLY platform that visualizes both tracks side-by-side</a:t>
            </a:r>
          </a:p>
          <a:p>
            <a:pPr>
              <a:spcAft>
                <a:spcPts val="400"/>
              </a:spcAft>
              <a:defRPr sz="1200">
                <a:solidFill>
                  <a:srgbClr val="333333"/>
                </a:solidFill>
                <a:latin typeface="Calibri"/>
              </a:defRPr>
            </a:pPr>
            <a:r>
              <a:t>▸ Technical track: Design freeze → Prototype → Bench verification → V&amp;V → Design transfer</a:t>
            </a:r>
          </a:p>
          <a:p>
            <a:pPr>
              <a:spcAft>
                <a:spcPts val="400"/>
              </a:spcAft>
              <a:defRPr sz="1200">
                <a:solidFill>
                  <a:srgbClr val="333333"/>
                </a:solidFill>
                <a:latin typeface="Calibri"/>
              </a:defRPr>
            </a:pPr>
            <a:r>
              <a:t>▸ Regulatory track: Pre-Sub Q-Meeting → 510(k) prep → Submission → Expected clearance</a:t>
            </a:r>
          </a:p>
          <a:p>
            <a:pPr>
              <a:spcAft>
                <a:spcPts val="400"/>
              </a:spcAft>
              <a:defRPr sz="1200">
                <a:solidFill>
                  <a:srgbClr val="333333"/>
                </a:solidFill>
                <a:latin typeface="Calibri"/>
              </a:defRPr>
            </a:pPr>
            <a:r>
              <a:t>▸ Auto-populated timelines based on project duration (18-23 months typical)</a:t>
            </a:r>
          </a:p>
          <a:p>
            <a:pPr>
              <a:spcAft>
                <a:spcPts val="400"/>
              </a:spcAft>
              <a:defRPr sz="1200">
                <a:solidFill>
                  <a:srgbClr val="333333"/>
                </a:solidFill>
                <a:latin typeface="Calibri"/>
              </a:defRPr>
            </a:pPr>
            <a:r>
              <a:t>▸ Status cycling (Not Started → In Progress → Complete / Blocked) with full audit logging</a:t>
            </a:r>
          </a:p>
          <a:p>
            <a:pPr>
              <a:spcAft>
                <a:spcPts val="400"/>
              </a:spcAft>
              <a:defRPr sz="1200">
                <a:solidFill>
                  <a:srgbClr val="333333"/>
                </a:solidFill>
                <a:latin typeface="Calibri"/>
              </a:defRPr>
            </a:pPr>
            <a:r>
              <a:t>▸ Owner assignment per milestone (Tech, Regulatory, or Business) ensures accountability</a:t>
            </a:r>
          </a:p>
        </p:txBody>
      </p:sp>
      <p:sp>
        <p:nvSpPr>
          <p:cNvPr id="9" name="Rectangle 8"/>
          <p:cNvSpPr/>
          <p:nvPr/>
        </p:nvSpPr>
        <p:spPr>
          <a:xfrm>
            <a:off x="274320" y="5120640"/>
            <a:ext cx="11612880" cy="1463040"/>
          </a:xfrm>
          <a:prstGeom prst="rect">
            <a:avLst/>
          </a:prstGeom>
          <a:solidFill>
            <a:srgbClr val="F5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57200" y="5166360"/>
            <a:ext cx="2743200" cy="320040"/>
          </a:xfrm>
          <a:prstGeom prst="rect">
            <a:avLst/>
          </a:prstGeom>
          <a:noFill/>
        </p:spPr>
        <p:txBody>
          <a:bodyPr wrap="square">
            <a:spAutoFit/>
          </a:bodyPr>
          <a:lstStyle/>
          <a:p>
            <a:pPr algn="l">
              <a:defRPr sz="1300" b="1">
                <a:solidFill>
                  <a:srgbClr val="E53E3E"/>
                </a:solidFill>
                <a:latin typeface="Calibri"/>
              </a:defRPr>
            </a:pPr>
            <a:r>
              <a:t>Competitor Gap Analysis</a:t>
            </a:r>
          </a:p>
        </p:txBody>
      </p:sp>
      <p:sp>
        <p:nvSpPr>
          <p:cNvPr id="11" name="TextBox 10"/>
          <p:cNvSpPr txBox="1"/>
          <p:nvPr/>
        </p:nvSpPr>
        <p:spPr>
          <a:xfrm>
            <a:off x="457200" y="5440680"/>
            <a:ext cx="11247120" cy="1097280"/>
          </a:xfrm>
          <a:prstGeom prst="rect">
            <a:avLst/>
          </a:prstGeom>
          <a:noFill/>
        </p:spPr>
        <p:txBody>
          <a:bodyPr wrap="square">
            <a:spAutoFit/>
          </a:bodyPr>
          <a:lstStyle/>
          <a:p>
            <a:pPr algn="l">
              <a:defRPr sz="1200" b="0">
                <a:solidFill>
                  <a:srgbClr val="333333"/>
                </a:solidFill>
                <a:latin typeface="Calibri"/>
              </a:defRPr>
            </a:pPr>
            <a:r>
              <a:t>Jira/Asana have task boards but no concept of synchronized technical + regulatory tracks. Greenlight Guru tracks QMS documents but not engineering milestones. No competitor links a prototype testing schedule to an FDA submission timeline.</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05840"/>
          </a:xfrm>
          <a:prstGeom prst="rect">
            <a:avLst/>
          </a:prstGeom>
          <a:solidFill>
            <a:srgbClr val="0B23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37160"/>
            <a:ext cx="7315200" cy="457200"/>
          </a:xfrm>
          <a:prstGeom prst="rect">
            <a:avLst/>
          </a:prstGeom>
          <a:noFill/>
        </p:spPr>
        <p:txBody>
          <a:bodyPr wrap="square">
            <a:spAutoFit/>
          </a:bodyPr>
          <a:lstStyle/>
          <a:p>
            <a:pPr algn="l">
              <a:defRPr sz="1300" b="1">
                <a:solidFill>
                  <a:srgbClr val="009688"/>
                </a:solidFill>
                <a:latin typeface="Calibri"/>
              </a:defRPr>
            </a:pPr>
            <a:r>
              <a:t>PROGRAM MANAGEMENT</a:t>
            </a:r>
          </a:p>
        </p:txBody>
      </p:sp>
      <p:sp>
        <p:nvSpPr>
          <p:cNvPr id="4" name="TextBox 3"/>
          <p:cNvSpPr txBox="1"/>
          <p:nvPr/>
        </p:nvSpPr>
        <p:spPr>
          <a:xfrm>
            <a:off x="548640" y="411480"/>
            <a:ext cx="9144000" cy="502920"/>
          </a:xfrm>
          <a:prstGeom prst="rect">
            <a:avLst/>
          </a:prstGeom>
          <a:noFill/>
        </p:spPr>
        <p:txBody>
          <a:bodyPr wrap="square">
            <a:spAutoFit/>
          </a:bodyPr>
          <a:lstStyle/>
          <a:p>
            <a:pPr algn="l">
              <a:defRPr sz="2600" b="1">
                <a:solidFill>
                  <a:srgbClr val="FFFFFF"/>
                </a:solidFill>
                <a:latin typeface="Calibri"/>
              </a:defRPr>
            </a:pPr>
            <a:r>
              <a:t>Tab 2: Gate System</a:t>
            </a:r>
          </a:p>
        </p:txBody>
      </p:sp>
      <p:sp>
        <p:nvSpPr>
          <p:cNvPr id="5" name="TextBox 4"/>
          <p:cNvSpPr txBox="1"/>
          <p:nvPr/>
        </p:nvSpPr>
        <p:spPr>
          <a:xfrm>
            <a:off x="9601200" y="274320"/>
            <a:ext cx="2286000" cy="457200"/>
          </a:xfrm>
          <a:prstGeom prst="rect">
            <a:avLst/>
          </a:prstGeom>
          <a:noFill/>
        </p:spPr>
        <p:txBody>
          <a:bodyPr wrap="square">
            <a:spAutoFit/>
          </a:bodyPr>
          <a:lstStyle/>
          <a:p>
            <a:pPr algn="r">
              <a:defRPr sz="1600" b="1">
                <a:solidFill>
                  <a:srgbClr val="009688"/>
                </a:solidFill>
                <a:latin typeface="Calibri"/>
              </a:defRPr>
            </a:pPr>
            <a:r>
              <a:t>510(k) Bridge</a:t>
            </a:r>
          </a:p>
        </p:txBody>
      </p:sp>
      <p:sp>
        <p:nvSpPr>
          <p:cNvPr id="6" name="TextBox 5"/>
          <p:cNvSpPr txBox="1"/>
          <p:nvPr/>
        </p:nvSpPr>
        <p:spPr>
          <a:xfrm>
            <a:off x="9601200" y="548640"/>
            <a:ext cx="2286000" cy="365760"/>
          </a:xfrm>
          <a:prstGeom prst="rect">
            <a:avLst/>
          </a:prstGeom>
          <a:noFill/>
        </p:spPr>
        <p:txBody>
          <a:bodyPr wrap="square">
            <a:spAutoFit/>
          </a:bodyPr>
          <a:lstStyle/>
          <a:p>
            <a:pPr algn="r">
              <a:defRPr sz="1200" b="0">
                <a:solidFill>
                  <a:srgbClr val="FFFFFF"/>
                </a:solidFill>
                <a:latin typeface="Calibri"/>
              </a:defRPr>
            </a:pPr>
            <a:r>
              <a:t>Control Tower</a:t>
            </a:r>
          </a:p>
        </p:txBody>
      </p:sp>
      <p:pic>
        <p:nvPicPr>
          <p:cNvPr id="7" name="Picture 6" descr="gate-system.png"/>
          <p:cNvPicPr>
            <a:picLocks noChangeAspect="1"/>
          </p:cNvPicPr>
          <p:nvPr/>
        </p:nvPicPr>
        <p:blipFill>
          <a:blip r:embed="rId2"/>
          <a:stretch>
            <a:fillRect/>
          </a:stretch>
        </p:blipFill>
        <p:spPr>
          <a:xfrm>
            <a:off x="365760" y="1188720"/>
            <a:ext cx="5669280" cy="3543300"/>
          </a:xfrm>
          <a:prstGeom prst="rect">
            <a:avLst/>
          </a:prstGeom>
        </p:spPr>
      </p:pic>
      <p:sp>
        <p:nvSpPr>
          <p:cNvPr id="8" name="TextBox 7"/>
          <p:cNvSpPr txBox="1"/>
          <p:nvPr/>
        </p:nvSpPr>
        <p:spPr>
          <a:xfrm>
            <a:off x="6309360" y="1188720"/>
            <a:ext cx="5486400" cy="3200400"/>
          </a:xfrm>
          <a:prstGeom prst="rect">
            <a:avLst/>
          </a:prstGeom>
          <a:noFill/>
        </p:spPr>
        <p:txBody>
          <a:bodyPr wrap="square">
            <a:spAutoFit/>
          </a:bodyPr>
          <a:lstStyle/>
          <a:p>
            <a:pPr>
              <a:spcAft>
                <a:spcPts val="800"/>
              </a:spcAft>
              <a:defRPr sz="1600" b="1">
                <a:solidFill>
                  <a:srgbClr val="009688"/>
                </a:solidFill>
                <a:latin typeface="Calibri"/>
              </a:defRPr>
            </a:pPr>
            <a:r>
              <a:t>Value Proposition</a:t>
            </a:r>
          </a:p>
          <a:p>
            <a:pPr>
              <a:spcAft>
                <a:spcPts val="400"/>
              </a:spcAft>
              <a:defRPr sz="1200">
                <a:solidFill>
                  <a:srgbClr val="333333"/>
                </a:solidFill>
                <a:latin typeface="Calibri"/>
              </a:defRPr>
            </a:pPr>
            <a:r>
              <a:t>▸ Phase-gate governance with digital review — checklist-based criteria per gate</a:t>
            </a:r>
          </a:p>
          <a:p>
            <a:pPr>
              <a:spcAft>
                <a:spcPts val="400"/>
              </a:spcAft>
              <a:defRPr sz="1200">
                <a:solidFill>
                  <a:srgbClr val="333333"/>
                </a:solidFill>
                <a:latin typeface="Calibri"/>
              </a:defRPr>
            </a:pPr>
            <a:r>
              <a:t>▸ 2-6 gates auto-generated based on project length</a:t>
            </a:r>
          </a:p>
          <a:p>
            <a:pPr>
              <a:spcAft>
                <a:spcPts val="400"/>
              </a:spcAft>
              <a:defRPr sz="1200">
                <a:solidFill>
                  <a:srgbClr val="333333"/>
                </a:solidFill>
                <a:latin typeface="Calibri"/>
              </a:defRPr>
            </a:pPr>
            <a:r>
              <a:t>▸ Gate decisions: Proceed / No-Go / Conditional — PMP records with timestamp attribution</a:t>
            </a:r>
          </a:p>
          <a:p>
            <a:pPr>
              <a:spcAft>
                <a:spcPts val="400"/>
              </a:spcAft>
              <a:defRPr sz="1200">
                <a:solidFill>
                  <a:srgbClr val="333333"/>
                </a:solidFill>
                <a:latin typeface="Calibri"/>
              </a:defRPr>
            </a:pPr>
            <a:r>
              <a:t>▸ Stakeholder inputs from Tech and Business teams feed into each gate decision</a:t>
            </a:r>
          </a:p>
          <a:p>
            <a:pPr>
              <a:spcAft>
                <a:spcPts val="400"/>
              </a:spcAft>
              <a:defRPr sz="1200">
                <a:solidFill>
                  <a:srgbClr val="333333"/>
                </a:solidFill>
                <a:latin typeface="Calibri"/>
              </a:defRPr>
            </a:pPr>
            <a:r>
              <a:t>▸ Gate notes capture discussion points, conditions, and commitments</a:t>
            </a:r>
          </a:p>
          <a:p>
            <a:pPr>
              <a:spcAft>
                <a:spcPts val="400"/>
              </a:spcAft>
              <a:defRPr sz="1200">
                <a:solidFill>
                  <a:srgbClr val="333333"/>
                </a:solidFill>
                <a:latin typeface="Calibri"/>
              </a:defRPr>
            </a:pPr>
            <a:r>
              <a:t>▸ Gate status auto-updates (Not Started → Pending Review → Approved → Blocked) as criteria complete</a:t>
            </a:r>
          </a:p>
        </p:txBody>
      </p:sp>
      <p:sp>
        <p:nvSpPr>
          <p:cNvPr id="9" name="Rectangle 8"/>
          <p:cNvSpPr/>
          <p:nvPr/>
        </p:nvSpPr>
        <p:spPr>
          <a:xfrm>
            <a:off x="274320" y="5120640"/>
            <a:ext cx="11612880" cy="1463040"/>
          </a:xfrm>
          <a:prstGeom prst="rect">
            <a:avLst/>
          </a:prstGeom>
          <a:solidFill>
            <a:srgbClr val="F5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57200" y="5166360"/>
            <a:ext cx="2743200" cy="320040"/>
          </a:xfrm>
          <a:prstGeom prst="rect">
            <a:avLst/>
          </a:prstGeom>
          <a:noFill/>
        </p:spPr>
        <p:txBody>
          <a:bodyPr wrap="square">
            <a:spAutoFit/>
          </a:bodyPr>
          <a:lstStyle/>
          <a:p>
            <a:pPr algn="l">
              <a:defRPr sz="1300" b="1">
                <a:solidFill>
                  <a:srgbClr val="E53E3E"/>
                </a:solidFill>
                <a:latin typeface="Calibri"/>
              </a:defRPr>
            </a:pPr>
            <a:r>
              <a:t>Competitor Gap Analysis</a:t>
            </a:r>
          </a:p>
        </p:txBody>
      </p:sp>
      <p:sp>
        <p:nvSpPr>
          <p:cNvPr id="11" name="TextBox 10"/>
          <p:cNvSpPr txBox="1"/>
          <p:nvPr/>
        </p:nvSpPr>
        <p:spPr>
          <a:xfrm>
            <a:off x="457200" y="5440680"/>
            <a:ext cx="11247120" cy="1097280"/>
          </a:xfrm>
          <a:prstGeom prst="rect">
            <a:avLst/>
          </a:prstGeom>
          <a:noFill/>
        </p:spPr>
        <p:txBody>
          <a:bodyPr wrap="square">
            <a:spAutoFit/>
          </a:bodyPr>
          <a:lstStyle/>
          <a:p>
            <a:pPr algn="l">
              <a:defRPr sz="1200" b="0">
                <a:solidFill>
                  <a:srgbClr val="333333"/>
                </a:solidFill>
                <a:latin typeface="Calibri"/>
              </a:defRPr>
            </a:pPr>
            <a:r>
              <a:t>Stage-Gate® is a well-known methodology, but no SaaS tool implements it for medical devices. Generic PM tools require manual spreadsheet gates. Control Tower's gate system directly references 510(k) deliverables — e.g., 'DHF complete?' as an actual gate criterion linked to the DHF tracker.</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05840"/>
          </a:xfrm>
          <a:prstGeom prst="rect">
            <a:avLst/>
          </a:prstGeom>
          <a:solidFill>
            <a:srgbClr val="0B23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37160"/>
            <a:ext cx="7315200" cy="457200"/>
          </a:xfrm>
          <a:prstGeom prst="rect">
            <a:avLst/>
          </a:prstGeom>
          <a:noFill/>
        </p:spPr>
        <p:txBody>
          <a:bodyPr wrap="square">
            <a:spAutoFit/>
          </a:bodyPr>
          <a:lstStyle/>
          <a:p>
            <a:pPr algn="l">
              <a:defRPr sz="1300" b="1">
                <a:solidFill>
                  <a:srgbClr val="009688"/>
                </a:solidFill>
                <a:latin typeface="Calibri"/>
              </a:defRPr>
            </a:pPr>
            <a:r>
              <a:t>PROGRAM MANAGEMENT</a:t>
            </a:r>
          </a:p>
        </p:txBody>
      </p:sp>
      <p:sp>
        <p:nvSpPr>
          <p:cNvPr id="4" name="TextBox 3"/>
          <p:cNvSpPr txBox="1"/>
          <p:nvPr/>
        </p:nvSpPr>
        <p:spPr>
          <a:xfrm>
            <a:off x="548640" y="411480"/>
            <a:ext cx="9144000" cy="502920"/>
          </a:xfrm>
          <a:prstGeom prst="rect">
            <a:avLst/>
          </a:prstGeom>
          <a:noFill/>
        </p:spPr>
        <p:txBody>
          <a:bodyPr wrap="square">
            <a:spAutoFit/>
          </a:bodyPr>
          <a:lstStyle/>
          <a:p>
            <a:pPr algn="l">
              <a:defRPr sz="2600" b="1">
                <a:solidFill>
                  <a:srgbClr val="FFFFFF"/>
                </a:solidFill>
                <a:latin typeface="Calibri"/>
              </a:defRPr>
            </a:pPr>
            <a:r>
              <a:t>Tab 3: Timeline</a:t>
            </a:r>
          </a:p>
        </p:txBody>
      </p:sp>
      <p:sp>
        <p:nvSpPr>
          <p:cNvPr id="5" name="TextBox 4"/>
          <p:cNvSpPr txBox="1"/>
          <p:nvPr/>
        </p:nvSpPr>
        <p:spPr>
          <a:xfrm>
            <a:off x="9601200" y="274320"/>
            <a:ext cx="2286000" cy="457200"/>
          </a:xfrm>
          <a:prstGeom prst="rect">
            <a:avLst/>
          </a:prstGeom>
          <a:noFill/>
        </p:spPr>
        <p:txBody>
          <a:bodyPr wrap="square">
            <a:spAutoFit/>
          </a:bodyPr>
          <a:lstStyle/>
          <a:p>
            <a:pPr algn="r">
              <a:defRPr sz="1600" b="1">
                <a:solidFill>
                  <a:srgbClr val="009688"/>
                </a:solidFill>
                <a:latin typeface="Calibri"/>
              </a:defRPr>
            </a:pPr>
            <a:r>
              <a:t>510(k) Bridge</a:t>
            </a:r>
          </a:p>
        </p:txBody>
      </p:sp>
      <p:sp>
        <p:nvSpPr>
          <p:cNvPr id="6" name="TextBox 5"/>
          <p:cNvSpPr txBox="1"/>
          <p:nvPr/>
        </p:nvSpPr>
        <p:spPr>
          <a:xfrm>
            <a:off x="9601200" y="548640"/>
            <a:ext cx="2286000" cy="365760"/>
          </a:xfrm>
          <a:prstGeom prst="rect">
            <a:avLst/>
          </a:prstGeom>
          <a:noFill/>
        </p:spPr>
        <p:txBody>
          <a:bodyPr wrap="square">
            <a:spAutoFit/>
          </a:bodyPr>
          <a:lstStyle/>
          <a:p>
            <a:pPr algn="r">
              <a:defRPr sz="1200" b="0">
                <a:solidFill>
                  <a:srgbClr val="FFFFFF"/>
                </a:solidFill>
                <a:latin typeface="Calibri"/>
              </a:defRPr>
            </a:pPr>
            <a:r>
              <a:t>Control Tower</a:t>
            </a:r>
          </a:p>
        </p:txBody>
      </p:sp>
      <p:pic>
        <p:nvPicPr>
          <p:cNvPr id="7" name="Picture 6" descr="timeline.png"/>
          <p:cNvPicPr>
            <a:picLocks noChangeAspect="1"/>
          </p:cNvPicPr>
          <p:nvPr/>
        </p:nvPicPr>
        <p:blipFill>
          <a:blip r:embed="rId2"/>
          <a:stretch>
            <a:fillRect/>
          </a:stretch>
        </p:blipFill>
        <p:spPr>
          <a:xfrm>
            <a:off x="365760" y="1188720"/>
            <a:ext cx="5669280" cy="3543300"/>
          </a:xfrm>
          <a:prstGeom prst="rect">
            <a:avLst/>
          </a:prstGeom>
        </p:spPr>
      </p:pic>
      <p:sp>
        <p:nvSpPr>
          <p:cNvPr id="8" name="TextBox 7"/>
          <p:cNvSpPr txBox="1"/>
          <p:nvPr/>
        </p:nvSpPr>
        <p:spPr>
          <a:xfrm>
            <a:off x="6309360" y="1188720"/>
            <a:ext cx="5486400" cy="3200400"/>
          </a:xfrm>
          <a:prstGeom prst="rect">
            <a:avLst/>
          </a:prstGeom>
          <a:noFill/>
        </p:spPr>
        <p:txBody>
          <a:bodyPr wrap="square">
            <a:spAutoFit/>
          </a:bodyPr>
          <a:lstStyle/>
          <a:p>
            <a:pPr>
              <a:spcAft>
                <a:spcPts val="800"/>
              </a:spcAft>
              <a:defRPr sz="1600" b="1">
                <a:solidFill>
                  <a:srgbClr val="009688"/>
                </a:solidFill>
                <a:latin typeface="Calibri"/>
              </a:defRPr>
            </a:pPr>
            <a:r>
              <a:t>Value Proposition</a:t>
            </a:r>
          </a:p>
          <a:p>
            <a:pPr>
              <a:spcAft>
                <a:spcPts val="400"/>
              </a:spcAft>
              <a:defRPr sz="1200">
                <a:solidFill>
                  <a:srgbClr val="333333"/>
                </a:solidFill>
                <a:latin typeface="Calibri"/>
              </a:defRPr>
            </a:pPr>
            <a:r>
              <a:t>▸ Month-by-month consolidated project view showing technical + business activities</a:t>
            </a:r>
          </a:p>
          <a:p>
            <a:pPr>
              <a:spcAft>
                <a:spcPts val="400"/>
              </a:spcAft>
              <a:defRPr sz="1200">
                <a:solidFill>
                  <a:srgbClr val="333333"/>
                </a:solidFill>
                <a:latin typeface="Calibri"/>
              </a:defRPr>
            </a:pPr>
            <a:r>
              <a:t>▸ Impact indicators: Neutral (|), Warning (⚠), Critical (🔴) for schedule risk</a:t>
            </a:r>
          </a:p>
          <a:p>
            <a:pPr>
              <a:spcAft>
                <a:spcPts val="400"/>
              </a:spcAft>
              <a:defRPr sz="1200">
                <a:solidFill>
                  <a:srgbClr val="333333"/>
                </a:solidFill>
                <a:latin typeface="Calibri"/>
              </a:defRPr>
            </a:pPr>
            <a:r>
              <a:t>▸ Auto-generated from device template or wizard inputs — instant project skeleton</a:t>
            </a:r>
          </a:p>
          <a:p>
            <a:pPr>
              <a:spcAft>
                <a:spcPts val="400"/>
              </a:spcAft>
              <a:defRPr sz="1200">
                <a:solidFill>
                  <a:srgbClr val="333333"/>
                </a:solidFill>
                <a:latin typeface="Calibri"/>
              </a:defRPr>
            </a:pPr>
            <a:r>
              <a:t>▸ Editable events with team-modifiable text and impact levels</a:t>
            </a:r>
          </a:p>
          <a:p>
            <a:pPr>
              <a:spcAft>
                <a:spcPts val="400"/>
              </a:spcAft>
              <a:defRPr sz="1200">
                <a:solidFill>
                  <a:srgbClr val="333333"/>
                </a:solidFill>
                <a:latin typeface="Calibri"/>
              </a:defRPr>
            </a:pPr>
            <a:r>
              <a:t>▸ Events linked to Dual-Track milestones for full traceability</a:t>
            </a:r>
          </a:p>
          <a:p>
            <a:pPr>
              <a:spcAft>
                <a:spcPts val="400"/>
              </a:spcAft>
              <a:defRPr sz="1200">
                <a:solidFill>
                  <a:srgbClr val="333333"/>
                </a:solidFill>
                <a:latin typeface="Calibri"/>
              </a:defRPr>
            </a:pPr>
            <a:r>
              <a:t>▸ Gives executives a single-page view of the entire 510(k) program lifecycle</a:t>
            </a:r>
          </a:p>
        </p:txBody>
      </p:sp>
      <p:sp>
        <p:nvSpPr>
          <p:cNvPr id="9" name="Rectangle 8"/>
          <p:cNvSpPr/>
          <p:nvPr/>
        </p:nvSpPr>
        <p:spPr>
          <a:xfrm>
            <a:off x="274320" y="5120640"/>
            <a:ext cx="11612880" cy="1463040"/>
          </a:xfrm>
          <a:prstGeom prst="rect">
            <a:avLst/>
          </a:prstGeom>
          <a:solidFill>
            <a:srgbClr val="F5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57200" y="5166360"/>
            <a:ext cx="2743200" cy="320040"/>
          </a:xfrm>
          <a:prstGeom prst="rect">
            <a:avLst/>
          </a:prstGeom>
          <a:noFill/>
        </p:spPr>
        <p:txBody>
          <a:bodyPr wrap="square">
            <a:spAutoFit/>
          </a:bodyPr>
          <a:lstStyle/>
          <a:p>
            <a:pPr algn="l">
              <a:defRPr sz="1300" b="1">
                <a:solidFill>
                  <a:srgbClr val="E53E3E"/>
                </a:solidFill>
                <a:latin typeface="Calibri"/>
              </a:defRPr>
            </a:pPr>
            <a:r>
              <a:t>Competitor Gap Analysis</a:t>
            </a:r>
          </a:p>
        </p:txBody>
      </p:sp>
      <p:sp>
        <p:nvSpPr>
          <p:cNvPr id="11" name="TextBox 10"/>
          <p:cNvSpPr txBox="1"/>
          <p:nvPr/>
        </p:nvSpPr>
        <p:spPr>
          <a:xfrm>
            <a:off x="457200" y="5440680"/>
            <a:ext cx="11247120" cy="1097280"/>
          </a:xfrm>
          <a:prstGeom prst="rect">
            <a:avLst/>
          </a:prstGeom>
          <a:noFill/>
        </p:spPr>
        <p:txBody>
          <a:bodyPr wrap="square">
            <a:spAutoFit/>
          </a:bodyPr>
          <a:lstStyle/>
          <a:p>
            <a:pPr algn="l">
              <a:defRPr sz="1200" b="0">
                <a:solidFill>
                  <a:srgbClr val="333333"/>
                </a:solidFill>
                <a:latin typeface="Calibri"/>
              </a:defRPr>
            </a:pPr>
            <a:r>
              <a:t>Gantt charts in MS Project or Monday.com are generic bars — they don't know an FDA milestone from a marketing campaign. Control Tower's timeline is purpose-built for 510(k) programs with built-in FDA terminology and impact-flagging.</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05840"/>
          </a:xfrm>
          <a:prstGeom prst="rect">
            <a:avLst/>
          </a:prstGeom>
          <a:solidFill>
            <a:srgbClr val="0B23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37160"/>
            <a:ext cx="7315200" cy="457200"/>
          </a:xfrm>
          <a:prstGeom prst="rect">
            <a:avLst/>
          </a:prstGeom>
          <a:noFill/>
        </p:spPr>
        <p:txBody>
          <a:bodyPr wrap="square">
            <a:spAutoFit/>
          </a:bodyPr>
          <a:lstStyle/>
          <a:p>
            <a:pPr algn="l">
              <a:defRPr sz="1300" b="1">
                <a:solidFill>
                  <a:srgbClr val="009688"/>
                </a:solidFill>
                <a:latin typeface="Calibri"/>
              </a:defRPr>
            </a:pPr>
            <a:r>
              <a:t>PROGRAM MANAGEMENT</a:t>
            </a:r>
          </a:p>
        </p:txBody>
      </p:sp>
      <p:sp>
        <p:nvSpPr>
          <p:cNvPr id="4" name="TextBox 3"/>
          <p:cNvSpPr txBox="1"/>
          <p:nvPr/>
        </p:nvSpPr>
        <p:spPr>
          <a:xfrm>
            <a:off x="548640" y="411480"/>
            <a:ext cx="9144000" cy="502920"/>
          </a:xfrm>
          <a:prstGeom prst="rect">
            <a:avLst/>
          </a:prstGeom>
          <a:noFill/>
        </p:spPr>
        <p:txBody>
          <a:bodyPr wrap="square">
            <a:spAutoFit/>
          </a:bodyPr>
          <a:lstStyle/>
          <a:p>
            <a:pPr algn="l">
              <a:defRPr sz="2600" b="1">
                <a:solidFill>
                  <a:srgbClr val="FFFFFF"/>
                </a:solidFill>
                <a:latin typeface="Calibri"/>
              </a:defRPr>
            </a:pPr>
            <a:r>
              <a:t>Tab 4: Actions Panel</a:t>
            </a:r>
          </a:p>
        </p:txBody>
      </p:sp>
      <p:sp>
        <p:nvSpPr>
          <p:cNvPr id="5" name="TextBox 4"/>
          <p:cNvSpPr txBox="1"/>
          <p:nvPr/>
        </p:nvSpPr>
        <p:spPr>
          <a:xfrm>
            <a:off x="9601200" y="274320"/>
            <a:ext cx="2286000" cy="457200"/>
          </a:xfrm>
          <a:prstGeom prst="rect">
            <a:avLst/>
          </a:prstGeom>
          <a:noFill/>
        </p:spPr>
        <p:txBody>
          <a:bodyPr wrap="square">
            <a:spAutoFit/>
          </a:bodyPr>
          <a:lstStyle/>
          <a:p>
            <a:pPr algn="r">
              <a:defRPr sz="1600" b="1">
                <a:solidFill>
                  <a:srgbClr val="009688"/>
                </a:solidFill>
                <a:latin typeface="Calibri"/>
              </a:defRPr>
            </a:pPr>
            <a:r>
              <a:t>510(k) Bridge</a:t>
            </a:r>
          </a:p>
        </p:txBody>
      </p:sp>
      <p:sp>
        <p:nvSpPr>
          <p:cNvPr id="6" name="TextBox 5"/>
          <p:cNvSpPr txBox="1"/>
          <p:nvPr/>
        </p:nvSpPr>
        <p:spPr>
          <a:xfrm>
            <a:off x="9601200" y="548640"/>
            <a:ext cx="2286000" cy="365760"/>
          </a:xfrm>
          <a:prstGeom prst="rect">
            <a:avLst/>
          </a:prstGeom>
          <a:noFill/>
        </p:spPr>
        <p:txBody>
          <a:bodyPr wrap="square">
            <a:spAutoFit/>
          </a:bodyPr>
          <a:lstStyle/>
          <a:p>
            <a:pPr algn="r">
              <a:defRPr sz="1200" b="0">
                <a:solidFill>
                  <a:srgbClr val="FFFFFF"/>
                </a:solidFill>
                <a:latin typeface="Calibri"/>
              </a:defRPr>
            </a:pPr>
            <a:r>
              <a:t>Control Tower</a:t>
            </a:r>
          </a:p>
        </p:txBody>
      </p:sp>
      <p:pic>
        <p:nvPicPr>
          <p:cNvPr id="7" name="Picture 6" descr="actions.png"/>
          <p:cNvPicPr>
            <a:picLocks noChangeAspect="1"/>
          </p:cNvPicPr>
          <p:nvPr/>
        </p:nvPicPr>
        <p:blipFill>
          <a:blip r:embed="rId2"/>
          <a:stretch>
            <a:fillRect/>
          </a:stretch>
        </p:blipFill>
        <p:spPr>
          <a:xfrm>
            <a:off x="365760" y="1188720"/>
            <a:ext cx="5669280" cy="3543300"/>
          </a:xfrm>
          <a:prstGeom prst="rect">
            <a:avLst/>
          </a:prstGeom>
        </p:spPr>
      </p:pic>
      <p:sp>
        <p:nvSpPr>
          <p:cNvPr id="8" name="TextBox 7"/>
          <p:cNvSpPr txBox="1"/>
          <p:nvPr/>
        </p:nvSpPr>
        <p:spPr>
          <a:xfrm>
            <a:off x="6309360" y="1188720"/>
            <a:ext cx="5486400" cy="3200400"/>
          </a:xfrm>
          <a:prstGeom prst="rect">
            <a:avLst/>
          </a:prstGeom>
          <a:noFill/>
        </p:spPr>
        <p:txBody>
          <a:bodyPr wrap="square">
            <a:spAutoFit/>
          </a:bodyPr>
          <a:lstStyle/>
          <a:p>
            <a:pPr>
              <a:spcAft>
                <a:spcPts val="800"/>
              </a:spcAft>
              <a:defRPr sz="1600" b="1">
                <a:solidFill>
                  <a:srgbClr val="009688"/>
                </a:solidFill>
                <a:latin typeface="Calibri"/>
              </a:defRPr>
            </a:pPr>
            <a:r>
              <a:t>Value Proposition</a:t>
            </a:r>
          </a:p>
          <a:p>
            <a:pPr>
              <a:spcAft>
                <a:spcPts val="400"/>
              </a:spcAft>
              <a:defRPr sz="1200">
                <a:solidFill>
                  <a:srgbClr val="333333"/>
                </a:solidFill>
                <a:latin typeface="Calibri"/>
              </a:defRPr>
            </a:pPr>
            <a:r>
              <a:t>▸ Full task board: title, assignee, priority (H/M/L), status (Todo/In Progress/Done/Blocked), due date</a:t>
            </a:r>
          </a:p>
          <a:p>
            <a:pPr>
              <a:spcAft>
                <a:spcPts val="400"/>
              </a:spcAft>
              <a:defRPr sz="1200">
                <a:solidFill>
                  <a:srgbClr val="333333"/>
                </a:solidFill>
                <a:latin typeface="Calibri"/>
              </a:defRPr>
            </a:pPr>
            <a:r>
              <a:t>▸ Gate-linked actions — each task can reference a specific gate (G1, G2, etc.)</a:t>
            </a:r>
          </a:p>
          <a:p>
            <a:pPr>
              <a:spcAft>
                <a:spcPts val="400"/>
              </a:spcAft>
              <a:defRPr sz="1200">
                <a:solidFill>
                  <a:srgbClr val="333333"/>
                </a:solidFill>
                <a:latin typeface="Calibri"/>
              </a:defRPr>
            </a:pPr>
            <a:r>
              <a:t>▸ DHF Document Tracker — 21 CFR 820.30 Design History File document checklist</a:t>
            </a:r>
          </a:p>
          <a:p>
            <a:pPr>
              <a:spcAft>
                <a:spcPts val="400"/>
              </a:spcAft>
              <a:defRPr sz="1200">
                <a:solidFill>
                  <a:srgbClr val="333333"/>
                </a:solidFill>
                <a:latin typeface="Calibri"/>
              </a:defRPr>
            </a:pPr>
            <a:r>
              <a:t>▸ DMR Document Tracker — 21 CFR 820.181 Device Master Record (12 document types)</a:t>
            </a:r>
          </a:p>
          <a:p>
            <a:pPr>
              <a:spcAft>
                <a:spcPts val="400"/>
              </a:spcAft>
              <a:defRPr sz="1200">
                <a:solidFill>
                  <a:srgbClr val="333333"/>
                </a:solidFill>
                <a:latin typeface="Calibri"/>
              </a:defRPr>
            </a:pPr>
            <a:r>
              <a:t>▸ CAPA Log — Corrective &amp; Preventive Actions with risk linkage from Risk Dashboard</a:t>
            </a:r>
          </a:p>
          <a:p>
            <a:pPr>
              <a:spcAft>
                <a:spcPts val="400"/>
              </a:spcAft>
              <a:defRPr sz="1200">
                <a:solidFill>
                  <a:srgbClr val="333333"/>
                </a:solidFill>
                <a:latin typeface="Calibri"/>
              </a:defRPr>
            </a:pPr>
            <a:r>
              <a:t>▸ Four integrated sub-sections in one tab: Tasks + DHF + DMR + CAPA</a:t>
            </a:r>
          </a:p>
        </p:txBody>
      </p:sp>
      <p:sp>
        <p:nvSpPr>
          <p:cNvPr id="9" name="Rectangle 8"/>
          <p:cNvSpPr/>
          <p:nvPr/>
        </p:nvSpPr>
        <p:spPr>
          <a:xfrm>
            <a:off x="274320" y="5120640"/>
            <a:ext cx="11612880" cy="1463040"/>
          </a:xfrm>
          <a:prstGeom prst="rect">
            <a:avLst/>
          </a:prstGeom>
          <a:solidFill>
            <a:srgbClr val="F5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57200" y="5166360"/>
            <a:ext cx="2743200" cy="320040"/>
          </a:xfrm>
          <a:prstGeom prst="rect">
            <a:avLst/>
          </a:prstGeom>
          <a:noFill/>
        </p:spPr>
        <p:txBody>
          <a:bodyPr wrap="square">
            <a:spAutoFit/>
          </a:bodyPr>
          <a:lstStyle/>
          <a:p>
            <a:pPr algn="l">
              <a:defRPr sz="1300" b="1">
                <a:solidFill>
                  <a:srgbClr val="E53E3E"/>
                </a:solidFill>
                <a:latin typeface="Calibri"/>
              </a:defRPr>
            </a:pPr>
            <a:r>
              <a:t>Competitor Gap Analysis</a:t>
            </a:r>
          </a:p>
        </p:txBody>
      </p:sp>
      <p:sp>
        <p:nvSpPr>
          <p:cNvPr id="11" name="TextBox 10"/>
          <p:cNvSpPr txBox="1"/>
          <p:nvPr/>
        </p:nvSpPr>
        <p:spPr>
          <a:xfrm>
            <a:off x="457200" y="5440680"/>
            <a:ext cx="11247120" cy="1097280"/>
          </a:xfrm>
          <a:prstGeom prst="rect">
            <a:avLst/>
          </a:prstGeom>
          <a:noFill/>
        </p:spPr>
        <p:txBody>
          <a:bodyPr wrap="square">
            <a:spAutoFit/>
          </a:bodyPr>
          <a:lstStyle/>
          <a:p>
            <a:pPr algn="l">
              <a:defRPr sz="1200" b="0">
                <a:solidFill>
                  <a:srgbClr val="333333"/>
                </a:solidFill>
                <a:latin typeface="Calibri"/>
              </a:defRPr>
            </a:pPr>
            <a:r>
              <a:t>Greenlight Guru has DHF tracking but it's siloed from project management tasks. Jira has task boards but no DHF/DMR/CAPA awareness. Control Tower uniquely combines task management with FDA documentation checklists and links CAPAs directly to risks identified in the Risk Dashboard.</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05840"/>
          </a:xfrm>
          <a:prstGeom prst="rect">
            <a:avLst/>
          </a:prstGeom>
          <a:solidFill>
            <a:srgbClr val="0B23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37160"/>
            <a:ext cx="7315200" cy="457200"/>
          </a:xfrm>
          <a:prstGeom prst="rect">
            <a:avLst/>
          </a:prstGeom>
          <a:noFill/>
        </p:spPr>
        <p:txBody>
          <a:bodyPr wrap="square">
            <a:spAutoFit/>
          </a:bodyPr>
          <a:lstStyle/>
          <a:p>
            <a:pPr algn="l">
              <a:defRPr sz="1300" b="1">
                <a:solidFill>
                  <a:srgbClr val="009688"/>
                </a:solidFill>
                <a:latin typeface="Calibri"/>
              </a:defRPr>
            </a:pPr>
            <a:r>
              <a:t>REGULATORY</a:t>
            </a:r>
          </a:p>
        </p:txBody>
      </p:sp>
      <p:sp>
        <p:nvSpPr>
          <p:cNvPr id="4" name="TextBox 3"/>
          <p:cNvSpPr txBox="1"/>
          <p:nvPr/>
        </p:nvSpPr>
        <p:spPr>
          <a:xfrm>
            <a:off x="548640" y="411480"/>
            <a:ext cx="9144000" cy="502920"/>
          </a:xfrm>
          <a:prstGeom prst="rect">
            <a:avLst/>
          </a:prstGeom>
          <a:noFill/>
        </p:spPr>
        <p:txBody>
          <a:bodyPr wrap="square">
            <a:spAutoFit/>
          </a:bodyPr>
          <a:lstStyle/>
          <a:p>
            <a:pPr algn="l">
              <a:defRPr sz="2600" b="1">
                <a:solidFill>
                  <a:srgbClr val="FFFFFF"/>
                </a:solidFill>
                <a:latin typeface="Calibri"/>
              </a:defRPr>
            </a:pPr>
            <a:r>
              <a:t>Tab 5: Regulatory Tracker</a:t>
            </a:r>
          </a:p>
        </p:txBody>
      </p:sp>
      <p:sp>
        <p:nvSpPr>
          <p:cNvPr id="5" name="TextBox 4"/>
          <p:cNvSpPr txBox="1"/>
          <p:nvPr/>
        </p:nvSpPr>
        <p:spPr>
          <a:xfrm>
            <a:off x="9601200" y="274320"/>
            <a:ext cx="2286000" cy="457200"/>
          </a:xfrm>
          <a:prstGeom prst="rect">
            <a:avLst/>
          </a:prstGeom>
          <a:noFill/>
        </p:spPr>
        <p:txBody>
          <a:bodyPr wrap="square">
            <a:spAutoFit/>
          </a:bodyPr>
          <a:lstStyle/>
          <a:p>
            <a:pPr algn="r">
              <a:defRPr sz="1600" b="1">
                <a:solidFill>
                  <a:srgbClr val="009688"/>
                </a:solidFill>
                <a:latin typeface="Calibri"/>
              </a:defRPr>
            </a:pPr>
            <a:r>
              <a:t>510(k) Bridge</a:t>
            </a:r>
          </a:p>
        </p:txBody>
      </p:sp>
      <p:sp>
        <p:nvSpPr>
          <p:cNvPr id="6" name="TextBox 5"/>
          <p:cNvSpPr txBox="1"/>
          <p:nvPr/>
        </p:nvSpPr>
        <p:spPr>
          <a:xfrm>
            <a:off x="9601200" y="548640"/>
            <a:ext cx="2286000" cy="365760"/>
          </a:xfrm>
          <a:prstGeom prst="rect">
            <a:avLst/>
          </a:prstGeom>
          <a:noFill/>
        </p:spPr>
        <p:txBody>
          <a:bodyPr wrap="square">
            <a:spAutoFit/>
          </a:bodyPr>
          <a:lstStyle/>
          <a:p>
            <a:pPr algn="r">
              <a:defRPr sz="1200" b="0">
                <a:solidFill>
                  <a:srgbClr val="FFFFFF"/>
                </a:solidFill>
                <a:latin typeface="Calibri"/>
              </a:defRPr>
            </a:pPr>
            <a:r>
              <a:t>Control Tower</a:t>
            </a:r>
          </a:p>
        </p:txBody>
      </p:sp>
      <p:pic>
        <p:nvPicPr>
          <p:cNvPr id="7" name="Picture 6" descr="regulatory-tracker.png"/>
          <p:cNvPicPr>
            <a:picLocks noChangeAspect="1"/>
          </p:cNvPicPr>
          <p:nvPr/>
        </p:nvPicPr>
        <p:blipFill>
          <a:blip r:embed="rId2"/>
          <a:stretch>
            <a:fillRect/>
          </a:stretch>
        </p:blipFill>
        <p:spPr>
          <a:xfrm>
            <a:off x="365760" y="1188720"/>
            <a:ext cx="5669280" cy="3543300"/>
          </a:xfrm>
          <a:prstGeom prst="rect">
            <a:avLst/>
          </a:prstGeom>
        </p:spPr>
      </p:pic>
      <p:sp>
        <p:nvSpPr>
          <p:cNvPr id="8" name="TextBox 7"/>
          <p:cNvSpPr txBox="1"/>
          <p:nvPr/>
        </p:nvSpPr>
        <p:spPr>
          <a:xfrm>
            <a:off x="6309360" y="1188720"/>
            <a:ext cx="5486400" cy="3200400"/>
          </a:xfrm>
          <a:prstGeom prst="rect">
            <a:avLst/>
          </a:prstGeom>
          <a:noFill/>
        </p:spPr>
        <p:txBody>
          <a:bodyPr wrap="square">
            <a:spAutoFit/>
          </a:bodyPr>
          <a:lstStyle/>
          <a:p>
            <a:pPr>
              <a:spcAft>
                <a:spcPts val="800"/>
              </a:spcAft>
              <a:defRPr sz="1600" b="1">
                <a:solidFill>
                  <a:srgbClr val="009688"/>
                </a:solidFill>
                <a:latin typeface="Calibri"/>
              </a:defRPr>
            </a:pPr>
            <a:r>
              <a:t>Value Proposition</a:t>
            </a:r>
          </a:p>
          <a:p>
            <a:pPr>
              <a:spcAft>
                <a:spcPts val="400"/>
              </a:spcAft>
              <a:defRPr sz="1200">
                <a:solidFill>
                  <a:srgbClr val="333333"/>
                </a:solidFill>
                <a:latin typeface="Calibri"/>
              </a:defRPr>
            </a:pPr>
            <a:r>
              <a:t>▸ Standards compliance dashboard auto-populated from device template</a:t>
            </a:r>
          </a:p>
          <a:p>
            <a:pPr>
              <a:spcAft>
                <a:spcPts val="400"/>
              </a:spcAft>
              <a:defRPr sz="1200">
                <a:solidFill>
                  <a:srgbClr val="333333"/>
                </a:solidFill>
                <a:latin typeface="Calibri"/>
              </a:defRPr>
            </a:pPr>
            <a:r>
              <a:t>▸ Tracks IEC 60601-1, IEC 60601-1-2, ISO 10993, ISO 14971, IEC 62304, 21 CFR 820, ISO 13485</a:t>
            </a:r>
          </a:p>
          <a:p>
            <a:pPr>
              <a:spcAft>
                <a:spcPts val="400"/>
              </a:spcAft>
              <a:defRPr sz="1200">
                <a:solidFill>
                  <a:srgbClr val="333333"/>
                </a:solidFill>
                <a:latin typeface="Calibri"/>
              </a:defRPr>
            </a:pPr>
            <a:r>
              <a:t>▸ Clause-level tracking — drill down to individual sub-clauses (e.g., ISO 10993-5, -10)</a:t>
            </a:r>
          </a:p>
          <a:p>
            <a:pPr>
              <a:spcAft>
                <a:spcPts val="400"/>
              </a:spcAft>
              <a:defRPr sz="1200">
                <a:solidFill>
                  <a:srgbClr val="333333"/>
                </a:solidFill>
                <a:latin typeface="Calibri"/>
              </a:defRPr>
            </a:pPr>
            <a:r>
              <a:t>▸ 0-100% progress bar per standard with status cycling</a:t>
            </a:r>
          </a:p>
          <a:p>
            <a:pPr>
              <a:spcAft>
                <a:spcPts val="400"/>
              </a:spcAft>
              <a:defRPr sz="1200">
                <a:solidFill>
                  <a:srgbClr val="333333"/>
                </a:solidFill>
                <a:latin typeface="Calibri"/>
              </a:defRPr>
            </a:pPr>
            <a:r>
              <a:t>▸ Evidence linking — attach document references to each clause</a:t>
            </a:r>
          </a:p>
          <a:p>
            <a:pPr>
              <a:spcAft>
                <a:spcPts val="400"/>
              </a:spcAft>
              <a:defRPr sz="1200">
                <a:solidFill>
                  <a:srgbClr val="333333"/>
                </a:solidFill>
                <a:latin typeface="Calibri"/>
              </a:defRPr>
            </a:pPr>
            <a:r>
              <a:t>▸ Instantly shows which standards are behind schedule, focusing team effort</a:t>
            </a:r>
          </a:p>
        </p:txBody>
      </p:sp>
      <p:sp>
        <p:nvSpPr>
          <p:cNvPr id="9" name="Rectangle 8"/>
          <p:cNvSpPr/>
          <p:nvPr/>
        </p:nvSpPr>
        <p:spPr>
          <a:xfrm>
            <a:off x="274320" y="5120640"/>
            <a:ext cx="11612880" cy="1463040"/>
          </a:xfrm>
          <a:prstGeom prst="rect">
            <a:avLst/>
          </a:prstGeom>
          <a:solidFill>
            <a:srgbClr val="F5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57200" y="5166360"/>
            <a:ext cx="2743200" cy="320040"/>
          </a:xfrm>
          <a:prstGeom prst="rect">
            <a:avLst/>
          </a:prstGeom>
          <a:noFill/>
        </p:spPr>
        <p:txBody>
          <a:bodyPr wrap="square">
            <a:spAutoFit/>
          </a:bodyPr>
          <a:lstStyle/>
          <a:p>
            <a:pPr algn="l">
              <a:defRPr sz="1300" b="1">
                <a:solidFill>
                  <a:srgbClr val="E53E3E"/>
                </a:solidFill>
                <a:latin typeface="Calibri"/>
              </a:defRPr>
            </a:pPr>
            <a:r>
              <a:t>Competitor Gap Analysis</a:t>
            </a:r>
          </a:p>
        </p:txBody>
      </p:sp>
      <p:sp>
        <p:nvSpPr>
          <p:cNvPr id="11" name="TextBox 10"/>
          <p:cNvSpPr txBox="1"/>
          <p:nvPr/>
        </p:nvSpPr>
        <p:spPr>
          <a:xfrm>
            <a:off x="457200" y="5440680"/>
            <a:ext cx="11247120" cy="1097280"/>
          </a:xfrm>
          <a:prstGeom prst="rect">
            <a:avLst/>
          </a:prstGeom>
          <a:noFill/>
        </p:spPr>
        <p:txBody>
          <a:bodyPr wrap="square">
            <a:spAutoFit/>
          </a:bodyPr>
          <a:lstStyle/>
          <a:p>
            <a:pPr algn="l">
              <a:defRPr sz="1200" b="0">
                <a:solidFill>
                  <a:srgbClr val="333333"/>
                </a:solidFill>
                <a:latin typeface="Calibri"/>
              </a:defRPr>
            </a:pPr>
            <a:r>
              <a:t>Qualio and MasterControl track document compliance but not standard-by-standard progress. No competitor auto-populates applicable standards based on device type. Teams currently maintain compliance matrices in Excel — Control Tower eliminates that spreadsheet and makes it live.</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05840"/>
          </a:xfrm>
          <a:prstGeom prst="rect">
            <a:avLst/>
          </a:prstGeom>
          <a:solidFill>
            <a:srgbClr val="0B23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37160"/>
            <a:ext cx="7315200" cy="457200"/>
          </a:xfrm>
          <a:prstGeom prst="rect">
            <a:avLst/>
          </a:prstGeom>
          <a:noFill/>
        </p:spPr>
        <p:txBody>
          <a:bodyPr wrap="square">
            <a:spAutoFit/>
          </a:bodyPr>
          <a:lstStyle/>
          <a:p>
            <a:pPr algn="l">
              <a:defRPr sz="1300" b="1">
                <a:solidFill>
                  <a:srgbClr val="009688"/>
                </a:solidFill>
                <a:latin typeface="Calibri"/>
              </a:defRPr>
            </a:pPr>
            <a:r>
              <a:t>REGULATORY</a:t>
            </a:r>
          </a:p>
        </p:txBody>
      </p:sp>
      <p:sp>
        <p:nvSpPr>
          <p:cNvPr id="4" name="TextBox 3"/>
          <p:cNvSpPr txBox="1"/>
          <p:nvPr/>
        </p:nvSpPr>
        <p:spPr>
          <a:xfrm>
            <a:off x="548640" y="411480"/>
            <a:ext cx="9144000" cy="502920"/>
          </a:xfrm>
          <a:prstGeom prst="rect">
            <a:avLst/>
          </a:prstGeom>
          <a:noFill/>
        </p:spPr>
        <p:txBody>
          <a:bodyPr wrap="square">
            <a:spAutoFit/>
          </a:bodyPr>
          <a:lstStyle/>
          <a:p>
            <a:pPr algn="l">
              <a:defRPr sz="2600" b="1">
                <a:solidFill>
                  <a:srgbClr val="FFFFFF"/>
                </a:solidFill>
                <a:latin typeface="Calibri"/>
              </a:defRPr>
            </a:pPr>
            <a:r>
              <a:t>Tab 6: Risk Dashboard</a:t>
            </a:r>
          </a:p>
        </p:txBody>
      </p:sp>
      <p:sp>
        <p:nvSpPr>
          <p:cNvPr id="5" name="TextBox 4"/>
          <p:cNvSpPr txBox="1"/>
          <p:nvPr/>
        </p:nvSpPr>
        <p:spPr>
          <a:xfrm>
            <a:off x="9601200" y="274320"/>
            <a:ext cx="2286000" cy="457200"/>
          </a:xfrm>
          <a:prstGeom prst="rect">
            <a:avLst/>
          </a:prstGeom>
          <a:noFill/>
        </p:spPr>
        <p:txBody>
          <a:bodyPr wrap="square">
            <a:spAutoFit/>
          </a:bodyPr>
          <a:lstStyle/>
          <a:p>
            <a:pPr algn="r">
              <a:defRPr sz="1600" b="1">
                <a:solidFill>
                  <a:srgbClr val="009688"/>
                </a:solidFill>
                <a:latin typeface="Calibri"/>
              </a:defRPr>
            </a:pPr>
            <a:r>
              <a:t>510(k) Bridge</a:t>
            </a:r>
          </a:p>
        </p:txBody>
      </p:sp>
      <p:sp>
        <p:nvSpPr>
          <p:cNvPr id="6" name="TextBox 5"/>
          <p:cNvSpPr txBox="1"/>
          <p:nvPr/>
        </p:nvSpPr>
        <p:spPr>
          <a:xfrm>
            <a:off x="9601200" y="548640"/>
            <a:ext cx="2286000" cy="365760"/>
          </a:xfrm>
          <a:prstGeom prst="rect">
            <a:avLst/>
          </a:prstGeom>
          <a:noFill/>
        </p:spPr>
        <p:txBody>
          <a:bodyPr wrap="square">
            <a:spAutoFit/>
          </a:bodyPr>
          <a:lstStyle/>
          <a:p>
            <a:pPr algn="r">
              <a:defRPr sz="1200" b="0">
                <a:solidFill>
                  <a:srgbClr val="FFFFFF"/>
                </a:solidFill>
                <a:latin typeface="Calibri"/>
              </a:defRPr>
            </a:pPr>
            <a:r>
              <a:t>Control Tower</a:t>
            </a:r>
          </a:p>
        </p:txBody>
      </p:sp>
      <p:pic>
        <p:nvPicPr>
          <p:cNvPr id="7" name="Picture 6" descr="risk-dashboard.png"/>
          <p:cNvPicPr>
            <a:picLocks noChangeAspect="1"/>
          </p:cNvPicPr>
          <p:nvPr/>
        </p:nvPicPr>
        <p:blipFill>
          <a:blip r:embed="rId2"/>
          <a:stretch>
            <a:fillRect/>
          </a:stretch>
        </p:blipFill>
        <p:spPr>
          <a:xfrm>
            <a:off x="365760" y="1188720"/>
            <a:ext cx="5669280" cy="3543300"/>
          </a:xfrm>
          <a:prstGeom prst="rect">
            <a:avLst/>
          </a:prstGeom>
        </p:spPr>
      </p:pic>
      <p:sp>
        <p:nvSpPr>
          <p:cNvPr id="8" name="TextBox 7"/>
          <p:cNvSpPr txBox="1"/>
          <p:nvPr/>
        </p:nvSpPr>
        <p:spPr>
          <a:xfrm>
            <a:off x="6309360" y="1188720"/>
            <a:ext cx="5486400" cy="3200400"/>
          </a:xfrm>
          <a:prstGeom prst="rect">
            <a:avLst/>
          </a:prstGeom>
          <a:noFill/>
        </p:spPr>
        <p:txBody>
          <a:bodyPr wrap="square">
            <a:spAutoFit/>
          </a:bodyPr>
          <a:lstStyle/>
          <a:p>
            <a:pPr>
              <a:spcAft>
                <a:spcPts val="800"/>
              </a:spcAft>
              <a:defRPr sz="1600" b="1">
                <a:solidFill>
                  <a:srgbClr val="009688"/>
                </a:solidFill>
                <a:latin typeface="Calibri"/>
              </a:defRPr>
            </a:pPr>
            <a:r>
              <a:t>Value Proposition</a:t>
            </a:r>
          </a:p>
          <a:p>
            <a:pPr>
              <a:spcAft>
                <a:spcPts val="400"/>
              </a:spcAft>
              <a:defRPr sz="1200">
                <a:solidFill>
                  <a:srgbClr val="333333"/>
                </a:solidFill>
                <a:latin typeface="Calibri"/>
              </a:defRPr>
            </a:pPr>
            <a:r>
              <a:t>▸ Full ISO 14971 risk management visualization with severity × probability matrix</a:t>
            </a:r>
          </a:p>
          <a:p>
            <a:pPr>
              <a:spcAft>
                <a:spcPts val="400"/>
              </a:spcAft>
              <a:defRPr sz="1200">
                <a:solidFill>
                  <a:srgbClr val="333333"/>
                </a:solidFill>
                <a:latin typeface="Calibri"/>
              </a:defRPr>
            </a:pPr>
            <a:r>
              <a:t>▸ Color-coded risk levels: Green (Acceptable) → Yellow (ALARP) → Red (Unacceptable)</a:t>
            </a:r>
          </a:p>
          <a:p>
            <a:pPr>
              <a:spcAft>
                <a:spcPts val="400"/>
              </a:spcAft>
              <a:defRPr sz="1200">
                <a:solidFill>
                  <a:srgbClr val="333333"/>
                </a:solidFill>
                <a:latin typeface="Calibri"/>
              </a:defRPr>
            </a:pPr>
            <a:r>
              <a:t>▸ Per-risk fields: severity, probability, controls, residual risk, mitigation status, module, standard</a:t>
            </a:r>
          </a:p>
          <a:p>
            <a:pPr>
              <a:spcAft>
                <a:spcPts val="400"/>
              </a:spcAft>
              <a:defRPr sz="1200">
                <a:solidFill>
                  <a:srgbClr val="333333"/>
                </a:solidFill>
                <a:latin typeface="Calibri"/>
              </a:defRPr>
            </a:pPr>
            <a:r>
              <a:t>▸ Red-risk alerts automatically trigger warnings in the FDA Comms tab</a:t>
            </a:r>
          </a:p>
          <a:p>
            <a:pPr>
              <a:spcAft>
                <a:spcPts val="400"/>
              </a:spcAft>
              <a:defRPr sz="1200">
                <a:solidFill>
                  <a:srgbClr val="333333"/>
                </a:solidFill>
                <a:latin typeface="Calibri"/>
              </a:defRPr>
            </a:pPr>
            <a:r>
              <a:t>▸ Template-pre-populated risks (5-8 per device category — e.g., respiratory gets EMG-specific risks)</a:t>
            </a:r>
          </a:p>
          <a:p>
            <a:pPr>
              <a:spcAft>
                <a:spcPts val="400"/>
              </a:spcAft>
              <a:defRPr sz="1200">
                <a:solidFill>
                  <a:srgbClr val="333333"/>
                </a:solidFill>
                <a:latin typeface="Calibri"/>
              </a:defRPr>
            </a:pPr>
            <a:r>
              <a:t>▸ Click risk ID to open detailed editor — all changes audit-logged</a:t>
            </a:r>
          </a:p>
        </p:txBody>
      </p:sp>
      <p:sp>
        <p:nvSpPr>
          <p:cNvPr id="9" name="Rectangle 8"/>
          <p:cNvSpPr/>
          <p:nvPr/>
        </p:nvSpPr>
        <p:spPr>
          <a:xfrm>
            <a:off x="274320" y="5120640"/>
            <a:ext cx="11612880" cy="1463040"/>
          </a:xfrm>
          <a:prstGeom prst="rect">
            <a:avLst/>
          </a:prstGeom>
          <a:solidFill>
            <a:srgbClr val="F5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57200" y="5166360"/>
            <a:ext cx="2743200" cy="320040"/>
          </a:xfrm>
          <a:prstGeom prst="rect">
            <a:avLst/>
          </a:prstGeom>
          <a:noFill/>
        </p:spPr>
        <p:txBody>
          <a:bodyPr wrap="square">
            <a:spAutoFit/>
          </a:bodyPr>
          <a:lstStyle/>
          <a:p>
            <a:pPr algn="l">
              <a:defRPr sz="1300" b="1">
                <a:solidFill>
                  <a:srgbClr val="E53E3E"/>
                </a:solidFill>
                <a:latin typeface="Calibri"/>
              </a:defRPr>
            </a:pPr>
            <a:r>
              <a:t>Competitor Gap Analysis</a:t>
            </a:r>
          </a:p>
        </p:txBody>
      </p:sp>
      <p:sp>
        <p:nvSpPr>
          <p:cNvPr id="11" name="TextBox 10"/>
          <p:cNvSpPr txBox="1"/>
          <p:nvPr/>
        </p:nvSpPr>
        <p:spPr>
          <a:xfrm>
            <a:off x="457200" y="5440680"/>
            <a:ext cx="11247120" cy="1097280"/>
          </a:xfrm>
          <a:prstGeom prst="rect">
            <a:avLst/>
          </a:prstGeom>
          <a:noFill/>
        </p:spPr>
        <p:txBody>
          <a:bodyPr wrap="square">
            <a:spAutoFit/>
          </a:bodyPr>
          <a:lstStyle/>
          <a:p>
            <a:pPr algn="l">
              <a:defRPr sz="1200" b="0">
                <a:solidFill>
                  <a:srgbClr val="333333"/>
                </a:solidFill>
                <a:latin typeface="Calibri"/>
              </a:defRPr>
            </a:pPr>
            <a:r>
              <a:t>Most companies track risks in Word documents or standalone Excel matrices. Greenlight Guru has risk management but decoupled from project timelines. Control Tower's Risk Dashboard connects risks to CAPAs, gate criteria, and FDA Pre-Sub questions — a closed-loop risk system.</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05840"/>
          </a:xfrm>
          <a:prstGeom prst="rect">
            <a:avLst/>
          </a:prstGeom>
          <a:solidFill>
            <a:srgbClr val="0B23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37160"/>
            <a:ext cx="7315200" cy="457200"/>
          </a:xfrm>
          <a:prstGeom prst="rect">
            <a:avLst/>
          </a:prstGeom>
          <a:noFill/>
        </p:spPr>
        <p:txBody>
          <a:bodyPr wrap="square">
            <a:spAutoFit/>
          </a:bodyPr>
          <a:lstStyle/>
          <a:p>
            <a:pPr algn="l">
              <a:defRPr sz="1300" b="1">
                <a:solidFill>
                  <a:srgbClr val="009688"/>
                </a:solidFill>
                <a:latin typeface="Calibri"/>
              </a:defRPr>
            </a:pPr>
            <a:r>
              <a:t>REGULATORY</a:t>
            </a:r>
          </a:p>
        </p:txBody>
      </p:sp>
      <p:sp>
        <p:nvSpPr>
          <p:cNvPr id="4" name="TextBox 3"/>
          <p:cNvSpPr txBox="1"/>
          <p:nvPr/>
        </p:nvSpPr>
        <p:spPr>
          <a:xfrm>
            <a:off x="548640" y="411480"/>
            <a:ext cx="9144000" cy="502920"/>
          </a:xfrm>
          <a:prstGeom prst="rect">
            <a:avLst/>
          </a:prstGeom>
          <a:noFill/>
        </p:spPr>
        <p:txBody>
          <a:bodyPr wrap="square">
            <a:spAutoFit/>
          </a:bodyPr>
          <a:lstStyle/>
          <a:p>
            <a:pPr algn="l">
              <a:defRPr sz="2600" b="1">
                <a:solidFill>
                  <a:srgbClr val="FFFFFF"/>
                </a:solidFill>
                <a:latin typeface="Calibri"/>
              </a:defRPr>
            </a:pPr>
            <a:r>
              <a:t>Tab 7: FDA Communications Center</a:t>
            </a:r>
          </a:p>
        </p:txBody>
      </p:sp>
      <p:sp>
        <p:nvSpPr>
          <p:cNvPr id="5" name="TextBox 4"/>
          <p:cNvSpPr txBox="1"/>
          <p:nvPr/>
        </p:nvSpPr>
        <p:spPr>
          <a:xfrm>
            <a:off x="9601200" y="274320"/>
            <a:ext cx="2286000" cy="457200"/>
          </a:xfrm>
          <a:prstGeom prst="rect">
            <a:avLst/>
          </a:prstGeom>
          <a:noFill/>
        </p:spPr>
        <p:txBody>
          <a:bodyPr wrap="square">
            <a:spAutoFit/>
          </a:bodyPr>
          <a:lstStyle/>
          <a:p>
            <a:pPr algn="r">
              <a:defRPr sz="1600" b="1">
                <a:solidFill>
                  <a:srgbClr val="009688"/>
                </a:solidFill>
                <a:latin typeface="Calibri"/>
              </a:defRPr>
            </a:pPr>
            <a:r>
              <a:t>510(k) Bridge</a:t>
            </a:r>
          </a:p>
        </p:txBody>
      </p:sp>
      <p:sp>
        <p:nvSpPr>
          <p:cNvPr id="6" name="TextBox 5"/>
          <p:cNvSpPr txBox="1"/>
          <p:nvPr/>
        </p:nvSpPr>
        <p:spPr>
          <a:xfrm>
            <a:off x="9601200" y="548640"/>
            <a:ext cx="2286000" cy="365760"/>
          </a:xfrm>
          <a:prstGeom prst="rect">
            <a:avLst/>
          </a:prstGeom>
          <a:noFill/>
        </p:spPr>
        <p:txBody>
          <a:bodyPr wrap="square">
            <a:spAutoFit/>
          </a:bodyPr>
          <a:lstStyle/>
          <a:p>
            <a:pPr algn="r">
              <a:defRPr sz="1200" b="0">
                <a:solidFill>
                  <a:srgbClr val="FFFFFF"/>
                </a:solidFill>
                <a:latin typeface="Calibri"/>
              </a:defRPr>
            </a:pPr>
            <a:r>
              <a:t>Control Tower</a:t>
            </a:r>
          </a:p>
        </p:txBody>
      </p:sp>
      <p:pic>
        <p:nvPicPr>
          <p:cNvPr id="7" name="Picture 6" descr="fda-comms.png"/>
          <p:cNvPicPr>
            <a:picLocks noChangeAspect="1"/>
          </p:cNvPicPr>
          <p:nvPr/>
        </p:nvPicPr>
        <p:blipFill>
          <a:blip r:embed="rId2"/>
          <a:stretch>
            <a:fillRect/>
          </a:stretch>
        </p:blipFill>
        <p:spPr>
          <a:xfrm>
            <a:off x="365760" y="1188720"/>
            <a:ext cx="5669280" cy="3543300"/>
          </a:xfrm>
          <a:prstGeom prst="rect">
            <a:avLst/>
          </a:prstGeom>
        </p:spPr>
      </p:pic>
      <p:sp>
        <p:nvSpPr>
          <p:cNvPr id="8" name="TextBox 7"/>
          <p:cNvSpPr txBox="1"/>
          <p:nvPr/>
        </p:nvSpPr>
        <p:spPr>
          <a:xfrm>
            <a:off x="6309360" y="1188720"/>
            <a:ext cx="5486400" cy="3200400"/>
          </a:xfrm>
          <a:prstGeom prst="rect">
            <a:avLst/>
          </a:prstGeom>
          <a:noFill/>
        </p:spPr>
        <p:txBody>
          <a:bodyPr wrap="square">
            <a:spAutoFit/>
          </a:bodyPr>
          <a:lstStyle/>
          <a:p>
            <a:pPr>
              <a:spcAft>
                <a:spcPts val="800"/>
              </a:spcAft>
              <a:defRPr sz="1600" b="1">
                <a:solidFill>
                  <a:srgbClr val="009688"/>
                </a:solidFill>
                <a:latin typeface="Calibri"/>
              </a:defRPr>
            </a:pPr>
            <a:r>
              <a:t>Value Proposition</a:t>
            </a:r>
          </a:p>
          <a:p>
            <a:pPr>
              <a:spcAft>
                <a:spcPts val="400"/>
              </a:spcAft>
              <a:defRPr sz="1200">
                <a:solidFill>
                  <a:srgbClr val="333333"/>
                </a:solidFill>
                <a:latin typeface="Calibri"/>
              </a:defRPr>
            </a:pPr>
            <a:r>
              <a:t>▸ PMP-exclusive tab — the nerve center for FDA interactions</a:t>
            </a:r>
          </a:p>
          <a:p>
            <a:pPr>
              <a:spcAft>
                <a:spcPts val="400"/>
              </a:spcAft>
              <a:defRPr sz="1200">
                <a:solidFill>
                  <a:srgbClr val="333333"/>
                </a:solidFill>
                <a:latin typeface="Calibri"/>
              </a:defRPr>
            </a:pPr>
            <a:r>
              <a:t>▸ Q-Sub Cover Letter Generator — 5 types (Pre-Sub Meeting, Written Questions, Controlled Correspondence, etc.)</a:t>
            </a:r>
          </a:p>
          <a:p>
            <a:pPr>
              <a:spcAft>
                <a:spcPts val="400"/>
              </a:spcAft>
              <a:defRPr sz="1200">
                <a:solidFill>
                  <a:srgbClr val="333333"/>
                </a:solidFill>
                <a:latin typeface="Calibri"/>
              </a:defRPr>
            </a:pPr>
            <a:r>
              <a:t>▸ Export Question Package — pulls Pre-Sub question threads from Message Board into formatted FDA package</a:t>
            </a:r>
          </a:p>
          <a:p>
            <a:pPr>
              <a:spcAft>
                <a:spcPts val="400"/>
              </a:spcAft>
              <a:defRPr sz="1200">
                <a:solidFill>
                  <a:srgbClr val="333333"/>
                </a:solidFill>
                <a:latin typeface="Calibri"/>
              </a:defRPr>
            </a:pPr>
            <a:r>
              <a:t>▸ Refuse-to-Accept (RTA) Checklist — 17-item self-validation against FDA acceptance criteria</a:t>
            </a:r>
          </a:p>
          <a:p>
            <a:pPr>
              <a:spcAft>
                <a:spcPts val="400"/>
              </a:spcAft>
              <a:defRPr sz="1200">
                <a:solidFill>
                  <a:srgbClr val="333333"/>
                </a:solidFill>
                <a:latin typeface="Calibri"/>
              </a:defRPr>
            </a:pPr>
            <a:r>
              <a:t>▸ MDUFA Review Timeline — Day 1 through Day 90 milestone tracking for standard 510(k) review</a:t>
            </a:r>
          </a:p>
          <a:p>
            <a:pPr>
              <a:spcAft>
                <a:spcPts val="400"/>
              </a:spcAft>
              <a:defRPr sz="1200">
                <a:solidFill>
                  <a:srgbClr val="333333"/>
                </a:solidFill>
                <a:latin typeface="Calibri"/>
              </a:defRPr>
            </a:pPr>
            <a:r>
              <a:t>▸ Substantial Equivalence Decision Flowchart — FDA's SE determination logic visualized</a:t>
            </a:r>
          </a:p>
        </p:txBody>
      </p:sp>
      <p:sp>
        <p:nvSpPr>
          <p:cNvPr id="9" name="Rectangle 8"/>
          <p:cNvSpPr/>
          <p:nvPr/>
        </p:nvSpPr>
        <p:spPr>
          <a:xfrm>
            <a:off x="274320" y="5120640"/>
            <a:ext cx="11612880" cy="1463040"/>
          </a:xfrm>
          <a:prstGeom prst="rect">
            <a:avLst/>
          </a:prstGeom>
          <a:solidFill>
            <a:srgbClr val="F5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57200" y="5166360"/>
            <a:ext cx="2743200" cy="320040"/>
          </a:xfrm>
          <a:prstGeom prst="rect">
            <a:avLst/>
          </a:prstGeom>
          <a:noFill/>
        </p:spPr>
        <p:txBody>
          <a:bodyPr wrap="square">
            <a:spAutoFit/>
          </a:bodyPr>
          <a:lstStyle/>
          <a:p>
            <a:pPr algn="l">
              <a:defRPr sz="1300" b="1">
                <a:solidFill>
                  <a:srgbClr val="E53E3E"/>
                </a:solidFill>
                <a:latin typeface="Calibri"/>
              </a:defRPr>
            </a:pPr>
            <a:r>
              <a:t>Competitor Gap Analysis</a:t>
            </a:r>
          </a:p>
        </p:txBody>
      </p:sp>
      <p:sp>
        <p:nvSpPr>
          <p:cNvPr id="11" name="TextBox 10"/>
          <p:cNvSpPr txBox="1"/>
          <p:nvPr/>
        </p:nvSpPr>
        <p:spPr>
          <a:xfrm>
            <a:off x="457200" y="5440680"/>
            <a:ext cx="11247120" cy="1097280"/>
          </a:xfrm>
          <a:prstGeom prst="rect">
            <a:avLst/>
          </a:prstGeom>
          <a:noFill/>
        </p:spPr>
        <p:txBody>
          <a:bodyPr wrap="square">
            <a:spAutoFit/>
          </a:bodyPr>
          <a:lstStyle/>
          <a:p>
            <a:pPr algn="l">
              <a:defRPr sz="1200" b="0">
                <a:solidFill>
                  <a:srgbClr val="333333"/>
                </a:solidFill>
                <a:latin typeface="Calibri"/>
              </a:defRPr>
            </a:pPr>
            <a:r>
              <a:t>NO COMPETITOR HAS THIS. No existing platform generates FDA Q-Sub cover letters, exports Pre-Sub question packages, or provides an RTA pre-check. This is Control Tower's single strongest differentiator — it automates the most time-consuming and error-prone regulatory communication workflows.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05840"/>
          </a:xfrm>
          <a:prstGeom prst="rect">
            <a:avLst/>
          </a:prstGeom>
          <a:solidFill>
            <a:srgbClr val="0B23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37160"/>
            <a:ext cx="7315200" cy="457200"/>
          </a:xfrm>
          <a:prstGeom prst="rect">
            <a:avLst/>
          </a:prstGeom>
          <a:noFill/>
        </p:spPr>
        <p:txBody>
          <a:bodyPr wrap="square">
            <a:spAutoFit/>
          </a:bodyPr>
          <a:lstStyle/>
          <a:p>
            <a:pPr algn="l">
              <a:defRPr sz="1300" b="1">
                <a:solidFill>
                  <a:srgbClr val="009688"/>
                </a:solidFill>
                <a:latin typeface="Calibri"/>
              </a:defRPr>
            </a:pPr>
            <a:r>
              <a:t>DOCUMENTS</a:t>
            </a:r>
          </a:p>
        </p:txBody>
      </p:sp>
      <p:sp>
        <p:nvSpPr>
          <p:cNvPr id="4" name="TextBox 3"/>
          <p:cNvSpPr txBox="1"/>
          <p:nvPr/>
        </p:nvSpPr>
        <p:spPr>
          <a:xfrm>
            <a:off x="548640" y="411480"/>
            <a:ext cx="9144000" cy="502920"/>
          </a:xfrm>
          <a:prstGeom prst="rect">
            <a:avLst/>
          </a:prstGeom>
          <a:noFill/>
        </p:spPr>
        <p:txBody>
          <a:bodyPr wrap="square">
            <a:spAutoFit/>
          </a:bodyPr>
          <a:lstStyle/>
          <a:p>
            <a:pPr algn="l">
              <a:defRPr sz="2600" b="1">
                <a:solidFill>
                  <a:srgbClr val="FFFFFF"/>
                </a:solidFill>
                <a:latin typeface="Calibri"/>
              </a:defRPr>
            </a:pPr>
            <a:r>
              <a:t>Tab 8: Document Control</a:t>
            </a:r>
          </a:p>
        </p:txBody>
      </p:sp>
      <p:sp>
        <p:nvSpPr>
          <p:cNvPr id="5" name="TextBox 4"/>
          <p:cNvSpPr txBox="1"/>
          <p:nvPr/>
        </p:nvSpPr>
        <p:spPr>
          <a:xfrm>
            <a:off x="9601200" y="274320"/>
            <a:ext cx="2286000" cy="457200"/>
          </a:xfrm>
          <a:prstGeom prst="rect">
            <a:avLst/>
          </a:prstGeom>
          <a:noFill/>
        </p:spPr>
        <p:txBody>
          <a:bodyPr wrap="square">
            <a:spAutoFit/>
          </a:bodyPr>
          <a:lstStyle/>
          <a:p>
            <a:pPr algn="r">
              <a:defRPr sz="1600" b="1">
                <a:solidFill>
                  <a:srgbClr val="009688"/>
                </a:solidFill>
                <a:latin typeface="Calibri"/>
              </a:defRPr>
            </a:pPr>
            <a:r>
              <a:t>510(k) Bridge</a:t>
            </a:r>
          </a:p>
        </p:txBody>
      </p:sp>
      <p:sp>
        <p:nvSpPr>
          <p:cNvPr id="6" name="TextBox 5"/>
          <p:cNvSpPr txBox="1"/>
          <p:nvPr/>
        </p:nvSpPr>
        <p:spPr>
          <a:xfrm>
            <a:off x="9601200" y="548640"/>
            <a:ext cx="2286000" cy="365760"/>
          </a:xfrm>
          <a:prstGeom prst="rect">
            <a:avLst/>
          </a:prstGeom>
          <a:noFill/>
        </p:spPr>
        <p:txBody>
          <a:bodyPr wrap="square">
            <a:spAutoFit/>
          </a:bodyPr>
          <a:lstStyle/>
          <a:p>
            <a:pPr algn="r">
              <a:defRPr sz="1200" b="0">
                <a:solidFill>
                  <a:srgbClr val="FFFFFF"/>
                </a:solidFill>
                <a:latin typeface="Calibri"/>
              </a:defRPr>
            </a:pPr>
            <a:r>
              <a:t>Control Tower</a:t>
            </a:r>
          </a:p>
        </p:txBody>
      </p:sp>
      <p:pic>
        <p:nvPicPr>
          <p:cNvPr id="7" name="Picture 6" descr="document-control.png"/>
          <p:cNvPicPr>
            <a:picLocks noChangeAspect="1"/>
          </p:cNvPicPr>
          <p:nvPr/>
        </p:nvPicPr>
        <p:blipFill>
          <a:blip r:embed="rId2"/>
          <a:stretch>
            <a:fillRect/>
          </a:stretch>
        </p:blipFill>
        <p:spPr>
          <a:xfrm>
            <a:off x="365760" y="1188720"/>
            <a:ext cx="5669280" cy="3543300"/>
          </a:xfrm>
          <a:prstGeom prst="rect">
            <a:avLst/>
          </a:prstGeom>
        </p:spPr>
      </p:pic>
      <p:sp>
        <p:nvSpPr>
          <p:cNvPr id="8" name="TextBox 7"/>
          <p:cNvSpPr txBox="1"/>
          <p:nvPr/>
        </p:nvSpPr>
        <p:spPr>
          <a:xfrm>
            <a:off x="6309360" y="1188720"/>
            <a:ext cx="5486400" cy="3200400"/>
          </a:xfrm>
          <a:prstGeom prst="rect">
            <a:avLst/>
          </a:prstGeom>
          <a:noFill/>
        </p:spPr>
        <p:txBody>
          <a:bodyPr wrap="square">
            <a:spAutoFit/>
          </a:bodyPr>
          <a:lstStyle/>
          <a:p>
            <a:pPr>
              <a:spcAft>
                <a:spcPts val="800"/>
              </a:spcAft>
              <a:defRPr sz="1600" b="1">
                <a:solidFill>
                  <a:srgbClr val="009688"/>
                </a:solidFill>
                <a:latin typeface="Calibri"/>
              </a:defRPr>
            </a:pPr>
            <a:r>
              <a:t>Value Proposition</a:t>
            </a:r>
          </a:p>
          <a:p>
            <a:pPr>
              <a:spcAft>
                <a:spcPts val="400"/>
              </a:spcAft>
              <a:defRPr sz="1200">
                <a:solidFill>
                  <a:srgbClr val="333333"/>
                </a:solidFill>
                <a:latin typeface="Calibri"/>
              </a:defRPr>
            </a:pPr>
            <a:r>
              <a:t>▸ ISO 13485-aligned document lifecycle: Draft → In Review → Approved → Effective → Obsolete</a:t>
            </a:r>
          </a:p>
          <a:p>
            <a:pPr>
              <a:spcAft>
                <a:spcPts val="400"/>
              </a:spcAft>
              <a:defRPr sz="1200">
                <a:solidFill>
                  <a:srgbClr val="333333"/>
                </a:solidFill>
                <a:latin typeface="Calibri"/>
              </a:defRPr>
            </a:pPr>
            <a:r>
              <a:t>▸ Auto-generated Document Control Numbers (DCN-REG-001, etc.)</a:t>
            </a:r>
          </a:p>
          <a:p>
            <a:pPr>
              <a:spcAft>
                <a:spcPts val="400"/>
              </a:spcAft>
              <a:defRPr sz="1200">
                <a:solidFill>
                  <a:srgbClr val="333333"/>
                </a:solidFill>
                <a:latin typeface="Calibri"/>
              </a:defRPr>
            </a:pPr>
            <a:r>
              <a:t>▸ Categories: Regulatory, Technical, Business, Legal, Finance, Templates</a:t>
            </a:r>
          </a:p>
          <a:p>
            <a:pPr>
              <a:spcAft>
                <a:spcPts val="400"/>
              </a:spcAft>
              <a:defRPr sz="1200">
                <a:solidFill>
                  <a:srgbClr val="333333"/>
                </a:solidFill>
                <a:latin typeface="Calibri"/>
              </a:defRPr>
            </a:pPr>
            <a:r>
              <a:t>▸ Browser localStorage for IP protection + optional server sync for approved docs</a:t>
            </a:r>
          </a:p>
          <a:p>
            <a:pPr>
              <a:spcAft>
                <a:spcPts val="400"/>
              </a:spcAft>
              <a:defRPr sz="1200">
                <a:solidFill>
                  <a:srgbClr val="333333"/>
                </a:solidFill>
                <a:latin typeface="Calibri"/>
              </a:defRPr>
            </a:pPr>
            <a:r>
              <a:t>▸ Source reference linking (GitHub commit, SVN revision, etc.)</a:t>
            </a:r>
          </a:p>
          <a:p>
            <a:pPr>
              <a:spcAft>
                <a:spcPts val="400"/>
              </a:spcAft>
              <a:defRPr sz="1200">
                <a:solidFill>
                  <a:srgbClr val="333333"/>
                </a:solidFill>
                <a:latin typeface="Calibri"/>
              </a:defRPr>
            </a:pPr>
            <a:r>
              <a:t>▸ Milestone linkage — e.g., R8 milestone triggers DHF document readiness check</a:t>
            </a:r>
          </a:p>
        </p:txBody>
      </p:sp>
      <p:sp>
        <p:nvSpPr>
          <p:cNvPr id="9" name="Rectangle 8"/>
          <p:cNvSpPr/>
          <p:nvPr/>
        </p:nvSpPr>
        <p:spPr>
          <a:xfrm>
            <a:off x="274320" y="5120640"/>
            <a:ext cx="11612880" cy="1463040"/>
          </a:xfrm>
          <a:prstGeom prst="rect">
            <a:avLst/>
          </a:prstGeom>
          <a:solidFill>
            <a:srgbClr val="F5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57200" y="5166360"/>
            <a:ext cx="2743200" cy="320040"/>
          </a:xfrm>
          <a:prstGeom prst="rect">
            <a:avLst/>
          </a:prstGeom>
          <a:noFill/>
        </p:spPr>
        <p:txBody>
          <a:bodyPr wrap="square">
            <a:spAutoFit/>
          </a:bodyPr>
          <a:lstStyle/>
          <a:p>
            <a:pPr algn="l">
              <a:defRPr sz="1300" b="1">
                <a:solidFill>
                  <a:srgbClr val="E53E3E"/>
                </a:solidFill>
                <a:latin typeface="Calibri"/>
              </a:defRPr>
            </a:pPr>
            <a:r>
              <a:t>Competitor Gap Analysis</a:t>
            </a:r>
          </a:p>
        </p:txBody>
      </p:sp>
      <p:sp>
        <p:nvSpPr>
          <p:cNvPr id="11" name="TextBox 10"/>
          <p:cNvSpPr txBox="1"/>
          <p:nvPr/>
        </p:nvSpPr>
        <p:spPr>
          <a:xfrm>
            <a:off x="457200" y="5440680"/>
            <a:ext cx="11247120" cy="1097280"/>
          </a:xfrm>
          <a:prstGeom prst="rect">
            <a:avLst/>
          </a:prstGeom>
          <a:noFill/>
        </p:spPr>
        <p:txBody>
          <a:bodyPr wrap="square">
            <a:spAutoFit/>
          </a:bodyPr>
          <a:lstStyle/>
          <a:p>
            <a:pPr algn="l">
              <a:defRPr sz="1200" b="0">
                <a:solidFill>
                  <a:srgbClr val="333333"/>
                </a:solidFill>
                <a:latin typeface="Calibri"/>
              </a:defRPr>
            </a:pPr>
            <a:r>
              <a:t>MasterControl and Qualio are full QMS platforms costing $50K+/yr. Control Tower provides 80% of critical document control features at a fraction of the cost, tightly integrated with project milestones rather than existing as a standalone system.</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05840"/>
          </a:xfrm>
          <a:prstGeom prst="rect">
            <a:avLst/>
          </a:prstGeom>
          <a:solidFill>
            <a:srgbClr val="0B23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37160"/>
            <a:ext cx="7315200" cy="457200"/>
          </a:xfrm>
          <a:prstGeom prst="rect">
            <a:avLst/>
          </a:prstGeom>
          <a:noFill/>
        </p:spPr>
        <p:txBody>
          <a:bodyPr wrap="square">
            <a:spAutoFit/>
          </a:bodyPr>
          <a:lstStyle/>
          <a:p>
            <a:pPr algn="l">
              <a:defRPr sz="1300" b="1">
                <a:solidFill>
                  <a:srgbClr val="009688"/>
                </a:solidFill>
                <a:latin typeface="Calibri"/>
              </a:defRPr>
            </a:pPr>
            <a:r>
              <a:t>DOCUMENTS</a:t>
            </a:r>
          </a:p>
        </p:txBody>
      </p:sp>
      <p:sp>
        <p:nvSpPr>
          <p:cNvPr id="4" name="TextBox 3"/>
          <p:cNvSpPr txBox="1"/>
          <p:nvPr/>
        </p:nvSpPr>
        <p:spPr>
          <a:xfrm>
            <a:off x="548640" y="411480"/>
            <a:ext cx="9144000" cy="502920"/>
          </a:xfrm>
          <a:prstGeom prst="rect">
            <a:avLst/>
          </a:prstGeom>
          <a:noFill/>
        </p:spPr>
        <p:txBody>
          <a:bodyPr wrap="square">
            <a:spAutoFit/>
          </a:bodyPr>
          <a:lstStyle/>
          <a:p>
            <a:pPr algn="l">
              <a:defRPr sz="2600" b="1">
                <a:solidFill>
                  <a:srgbClr val="FFFFFF"/>
                </a:solidFill>
                <a:latin typeface="Calibri"/>
              </a:defRPr>
            </a:pPr>
            <a:r>
              <a:t>Tab 9: Audit Trail</a:t>
            </a:r>
          </a:p>
        </p:txBody>
      </p:sp>
      <p:sp>
        <p:nvSpPr>
          <p:cNvPr id="5" name="TextBox 4"/>
          <p:cNvSpPr txBox="1"/>
          <p:nvPr/>
        </p:nvSpPr>
        <p:spPr>
          <a:xfrm>
            <a:off x="9601200" y="274320"/>
            <a:ext cx="2286000" cy="457200"/>
          </a:xfrm>
          <a:prstGeom prst="rect">
            <a:avLst/>
          </a:prstGeom>
          <a:noFill/>
        </p:spPr>
        <p:txBody>
          <a:bodyPr wrap="square">
            <a:spAutoFit/>
          </a:bodyPr>
          <a:lstStyle/>
          <a:p>
            <a:pPr algn="r">
              <a:defRPr sz="1600" b="1">
                <a:solidFill>
                  <a:srgbClr val="009688"/>
                </a:solidFill>
                <a:latin typeface="Calibri"/>
              </a:defRPr>
            </a:pPr>
            <a:r>
              <a:t>510(k) Bridge</a:t>
            </a:r>
          </a:p>
        </p:txBody>
      </p:sp>
      <p:sp>
        <p:nvSpPr>
          <p:cNvPr id="6" name="TextBox 5"/>
          <p:cNvSpPr txBox="1"/>
          <p:nvPr/>
        </p:nvSpPr>
        <p:spPr>
          <a:xfrm>
            <a:off x="9601200" y="548640"/>
            <a:ext cx="2286000" cy="365760"/>
          </a:xfrm>
          <a:prstGeom prst="rect">
            <a:avLst/>
          </a:prstGeom>
          <a:noFill/>
        </p:spPr>
        <p:txBody>
          <a:bodyPr wrap="square">
            <a:spAutoFit/>
          </a:bodyPr>
          <a:lstStyle/>
          <a:p>
            <a:pPr algn="r">
              <a:defRPr sz="1200" b="0">
                <a:solidFill>
                  <a:srgbClr val="FFFFFF"/>
                </a:solidFill>
                <a:latin typeface="Calibri"/>
              </a:defRPr>
            </a:pPr>
            <a:r>
              <a:t>Control Tower</a:t>
            </a:r>
          </a:p>
        </p:txBody>
      </p:sp>
      <p:pic>
        <p:nvPicPr>
          <p:cNvPr id="7" name="Picture 6" descr="audit-trail.png"/>
          <p:cNvPicPr>
            <a:picLocks noChangeAspect="1"/>
          </p:cNvPicPr>
          <p:nvPr/>
        </p:nvPicPr>
        <p:blipFill>
          <a:blip r:embed="rId2"/>
          <a:stretch>
            <a:fillRect/>
          </a:stretch>
        </p:blipFill>
        <p:spPr>
          <a:xfrm>
            <a:off x="365760" y="1188720"/>
            <a:ext cx="5669280" cy="3543300"/>
          </a:xfrm>
          <a:prstGeom prst="rect">
            <a:avLst/>
          </a:prstGeom>
        </p:spPr>
      </p:pic>
      <p:sp>
        <p:nvSpPr>
          <p:cNvPr id="8" name="TextBox 7"/>
          <p:cNvSpPr txBox="1"/>
          <p:nvPr/>
        </p:nvSpPr>
        <p:spPr>
          <a:xfrm>
            <a:off x="6309360" y="1188720"/>
            <a:ext cx="5486400" cy="3200400"/>
          </a:xfrm>
          <a:prstGeom prst="rect">
            <a:avLst/>
          </a:prstGeom>
          <a:noFill/>
        </p:spPr>
        <p:txBody>
          <a:bodyPr wrap="square">
            <a:spAutoFit/>
          </a:bodyPr>
          <a:lstStyle/>
          <a:p>
            <a:pPr>
              <a:spcAft>
                <a:spcPts val="800"/>
              </a:spcAft>
              <a:defRPr sz="1600" b="1">
                <a:solidFill>
                  <a:srgbClr val="009688"/>
                </a:solidFill>
                <a:latin typeface="Calibri"/>
              </a:defRPr>
            </a:pPr>
            <a:r>
              <a:t>Value Proposition</a:t>
            </a:r>
          </a:p>
          <a:p>
            <a:pPr>
              <a:spcAft>
                <a:spcPts val="400"/>
              </a:spcAft>
              <a:defRPr sz="1200">
                <a:solidFill>
                  <a:srgbClr val="333333"/>
                </a:solidFill>
                <a:latin typeface="Calibri"/>
              </a:defRPr>
            </a:pPr>
            <a:r>
              <a:t>▸ 21 CFR Part 11-compliant immutable activity log</a:t>
            </a:r>
          </a:p>
          <a:p>
            <a:pPr>
              <a:spcAft>
                <a:spcPts val="400"/>
              </a:spcAft>
              <a:defRPr sz="1200">
                <a:solidFill>
                  <a:srgbClr val="333333"/>
                </a:solidFill>
                <a:latin typeface="Calibri"/>
              </a:defRPr>
            </a:pPr>
            <a:r>
              <a:t>▸ Every change captured: timestamp, user role, action type, target, old value → new value</a:t>
            </a:r>
          </a:p>
          <a:p>
            <a:pPr>
              <a:spcAft>
                <a:spcPts val="400"/>
              </a:spcAft>
              <a:defRPr sz="1200">
                <a:solidFill>
                  <a:srgbClr val="333333"/>
                </a:solidFill>
                <a:latin typeface="Calibri"/>
              </a:defRPr>
            </a:pPr>
            <a:r>
              <a:t>▸ 100+ action types (milestone-status, risk-field, gate-decision, doc-status, budget-entry, etc.)</a:t>
            </a:r>
          </a:p>
          <a:p>
            <a:pPr>
              <a:spcAft>
                <a:spcPts val="400"/>
              </a:spcAft>
              <a:defRPr sz="1200">
                <a:solidFill>
                  <a:srgbClr val="333333"/>
                </a:solidFill>
                <a:latin typeface="Calibri"/>
              </a:defRPr>
            </a:pPr>
            <a:r>
              <a:t>▸ Keyword search and action-type filtering</a:t>
            </a:r>
          </a:p>
          <a:p>
            <a:pPr>
              <a:spcAft>
                <a:spcPts val="400"/>
              </a:spcAft>
              <a:defRPr sz="1200">
                <a:solidFill>
                  <a:srgbClr val="333333"/>
                </a:solidFill>
                <a:latin typeface="Calibri"/>
              </a:defRPr>
            </a:pPr>
            <a:r>
              <a:t>▸ Export complete history as CSV/JSON for regulatory submissions</a:t>
            </a:r>
          </a:p>
          <a:p>
            <a:pPr>
              <a:spcAft>
                <a:spcPts val="400"/>
              </a:spcAft>
              <a:defRPr sz="1200">
                <a:solidFill>
                  <a:srgbClr val="333333"/>
                </a:solidFill>
                <a:latin typeface="Calibri"/>
              </a:defRPr>
            </a:pPr>
            <a:r>
              <a:t>▸ Auto-synced to Supabase backend; queues locally if offline — zero data loss</a:t>
            </a:r>
          </a:p>
        </p:txBody>
      </p:sp>
      <p:sp>
        <p:nvSpPr>
          <p:cNvPr id="9" name="Rectangle 8"/>
          <p:cNvSpPr/>
          <p:nvPr/>
        </p:nvSpPr>
        <p:spPr>
          <a:xfrm>
            <a:off x="274320" y="5120640"/>
            <a:ext cx="11612880" cy="1463040"/>
          </a:xfrm>
          <a:prstGeom prst="rect">
            <a:avLst/>
          </a:prstGeom>
          <a:solidFill>
            <a:srgbClr val="F5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57200" y="5166360"/>
            <a:ext cx="2743200" cy="320040"/>
          </a:xfrm>
          <a:prstGeom prst="rect">
            <a:avLst/>
          </a:prstGeom>
          <a:noFill/>
        </p:spPr>
        <p:txBody>
          <a:bodyPr wrap="square">
            <a:spAutoFit/>
          </a:bodyPr>
          <a:lstStyle/>
          <a:p>
            <a:pPr algn="l">
              <a:defRPr sz="1300" b="1">
                <a:solidFill>
                  <a:srgbClr val="E53E3E"/>
                </a:solidFill>
                <a:latin typeface="Calibri"/>
              </a:defRPr>
            </a:pPr>
            <a:r>
              <a:t>Competitor Gap Analysis</a:t>
            </a:r>
          </a:p>
        </p:txBody>
      </p:sp>
      <p:sp>
        <p:nvSpPr>
          <p:cNvPr id="11" name="TextBox 10"/>
          <p:cNvSpPr txBox="1"/>
          <p:nvPr/>
        </p:nvSpPr>
        <p:spPr>
          <a:xfrm>
            <a:off x="457200" y="5440680"/>
            <a:ext cx="11247120" cy="1097280"/>
          </a:xfrm>
          <a:prstGeom prst="rect">
            <a:avLst/>
          </a:prstGeom>
          <a:noFill/>
        </p:spPr>
        <p:txBody>
          <a:bodyPr wrap="square">
            <a:spAutoFit/>
          </a:bodyPr>
          <a:lstStyle/>
          <a:p>
            <a:pPr algn="l">
              <a:defRPr sz="1200" b="0">
                <a:solidFill>
                  <a:srgbClr val="333333"/>
                </a:solidFill>
                <a:latin typeface="Calibri"/>
              </a:defRPr>
            </a:pPr>
            <a:r>
              <a:t>This is table-stakes for regulated industries but missing from generic PM tools. Jira's audit log is IT-focused, not regulatory. Control Tower's audit trail is designed specifically for FDA investigators and notified body auditors, capturing the exact fields and formatting they expect.</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05840"/>
          </a:xfrm>
          <a:prstGeom prst="rect">
            <a:avLst/>
          </a:prstGeom>
          <a:solidFill>
            <a:srgbClr val="0B23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37160"/>
            <a:ext cx="7315200" cy="457200"/>
          </a:xfrm>
          <a:prstGeom prst="rect">
            <a:avLst/>
          </a:prstGeom>
          <a:noFill/>
        </p:spPr>
        <p:txBody>
          <a:bodyPr wrap="square">
            <a:spAutoFit/>
          </a:bodyPr>
          <a:lstStyle/>
          <a:p>
            <a:pPr algn="l">
              <a:defRPr sz="1300" b="1">
                <a:solidFill>
                  <a:srgbClr val="009688"/>
                </a:solidFill>
                <a:latin typeface="Calibri"/>
              </a:defRPr>
            </a:pPr>
            <a:r>
              <a:t>FINANCE</a:t>
            </a:r>
          </a:p>
        </p:txBody>
      </p:sp>
      <p:sp>
        <p:nvSpPr>
          <p:cNvPr id="4" name="TextBox 3"/>
          <p:cNvSpPr txBox="1"/>
          <p:nvPr/>
        </p:nvSpPr>
        <p:spPr>
          <a:xfrm>
            <a:off x="548640" y="411480"/>
            <a:ext cx="9144000" cy="502920"/>
          </a:xfrm>
          <a:prstGeom prst="rect">
            <a:avLst/>
          </a:prstGeom>
          <a:noFill/>
        </p:spPr>
        <p:txBody>
          <a:bodyPr wrap="square">
            <a:spAutoFit/>
          </a:bodyPr>
          <a:lstStyle/>
          <a:p>
            <a:pPr algn="l">
              <a:defRPr sz="2600" b="1">
                <a:solidFill>
                  <a:srgbClr val="FFFFFF"/>
                </a:solidFill>
                <a:latin typeface="Calibri"/>
              </a:defRPr>
            </a:pPr>
            <a:r>
              <a:t>Tab 10: Budget</a:t>
            </a:r>
          </a:p>
        </p:txBody>
      </p:sp>
      <p:sp>
        <p:nvSpPr>
          <p:cNvPr id="5" name="TextBox 4"/>
          <p:cNvSpPr txBox="1"/>
          <p:nvPr/>
        </p:nvSpPr>
        <p:spPr>
          <a:xfrm>
            <a:off x="9601200" y="274320"/>
            <a:ext cx="2286000" cy="457200"/>
          </a:xfrm>
          <a:prstGeom prst="rect">
            <a:avLst/>
          </a:prstGeom>
          <a:noFill/>
        </p:spPr>
        <p:txBody>
          <a:bodyPr wrap="square">
            <a:spAutoFit/>
          </a:bodyPr>
          <a:lstStyle/>
          <a:p>
            <a:pPr algn="r">
              <a:defRPr sz="1600" b="1">
                <a:solidFill>
                  <a:srgbClr val="009688"/>
                </a:solidFill>
                <a:latin typeface="Calibri"/>
              </a:defRPr>
            </a:pPr>
            <a:r>
              <a:t>510(k) Bridge</a:t>
            </a:r>
          </a:p>
        </p:txBody>
      </p:sp>
      <p:sp>
        <p:nvSpPr>
          <p:cNvPr id="6" name="TextBox 5"/>
          <p:cNvSpPr txBox="1"/>
          <p:nvPr/>
        </p:nvSpPr>
        <p:spPr>
          <a:xfrm>
            <a:off x="9601200" y="548640"/>
            <a:ext cx="2286000" cy="365760"/>
          </a:xfrm>
          <a:prstGeom prst="rect">
            <a:avLst/>
          </a:prstGeom>
          <a:noFill/>
        </p:spPr>
        <p:txBody>
          <a:bodyPr wrap="square">
            <a:spAutoFit/>
          </a:bodyPr>
          <a:lstStyle/>
          <a:p>
            <a:pPr algn="r">
              <a:defRPr sz="1200" b="0">
                <a:solidFill>
                  <a:srgbClr val="FFFFFF"/>
                </a:solidFill>
                <a:latin typeface="Calibri"/>
              </a:defRPr>
            </a:pPr>
            <a:r>
              <a:t>Control Tower</a:t>
            </a:r>
          </a:p>
        </p:txBody>
      </p:sp>
      <p:pic>
        <p:nvPicPr>
          <p:cNvPr id="7" name="Picture 6" descr="budget.png"/>
          <p:cNvPicPr>
            <a:picLocks noChangeAspect="1"/>
          </p:cNvPicPr>
          <p:nvPr/>
        </p:nvPicPr>
        <p:blipFill>
          <a:blip r:embed="rId2"/>
          <a:stretch>
            <a:fillRect/>
          </a:stretch>
        </p:blipFill>
        <p:spPr>
          <a:xfrm>
            <a:off x="365760" y="1188720"/>
            <a:ext cx="5669280" cy="3543300"/>
          </a:xfrm>
          <a:prstGeom prst="rect">
            <a:avLst/>
          </a:prstGeom>
        </p:spPr>
      </p:pic>
      <p:sp>
        <p:nvSpPr>
          <p:cNvPr id="8" name="TextBox 7"/>
          <p:cNvSpPr txBox="1"/>
          <p:nvPr/>
        </p:nvSpPr>
        <p:spPr>
          <a:xfrm>
            <a:off x="6309360" y="1188720"/>
            <a:ext cx="5486400" cy="3200400"/>
          </a:xfrm>
          <a:prstGeom prst="rect">
            <a:avLst/>
          </a:prstGeom>
          <a:noFill/>
        </p:spPr>
        <p:txBody>
          <a:bodyPr wrap="square">
            <a:spAutoFit/>
          </a:bodyPr>
          <a:lstStyle/>
          <a:p>
            <a:pPr>
              <a:spcAft>
                <a:spcPts val="800"/>
              </a:spcAft>
              <a:defRPr sz="1600" b="1">
                <a:solidFill>
                  <a:srgbClr val="009688"/>
                </a:solidFill>
                <a:latin typeface="Calibri"/>
              </a:defRPr>
            </a:pPr>
            <a:r>
              <a:t>Value Proposition</a:t>
            </a:r>
          </a:p>
          <a:p>
            <a:pPr>
              <a:spcAft>
                <a:spcPts val="400"/>
              </a:spcAft>
              <a:defRPr sz="1200">
                <a:solidFill>
                  <a:srgbClr val="333333"/>
                </a:solidFill>
                <a:latin typeface="Calibri"/>
              </a:defRPr>
            </a:pPr>
            <a:r>
              <a:t>▸ Budget vs. actual tracking by category — pre-populated from device template</a:t>
            </a:r>
          </a:p>
          <a:p>
            <a:pPr>
              <a:spcAft>
                <a:spcPts val="400"/>
              </a:spcAft>
              <a:defRPr sz="1200">
                <a:solidFill>
                  <a:srgbClr val="333333"/>
                </a:solidFill>
                <a:latin typeface="Calibri"/>
              </a:defRPr>
            </a:pPr>
            <a:r>
              <a:t>▸ Categories: Prototype &amp; Materials, Testing, Regulatory &amp; Legal, Personnel, etc.</a:t>
            </a:r>
          </a:p>
          <a:p>
            <a:pPr>
              <a:spcAft>
                <a:spcPts val="400"/>
              </a:spcAft>
              <a:defRPr sz="1200">
                <a:solidFill>
                  <a:srgbClr val="333333"/>
                </a:solidFill>
                <a:latin typeface="Calibri"/>
              </a:defRPr>
            </a:pPr>
            <a:r>
              <a:t>▸ Per-category fields: planned amount, actual amount, variance (auto-calculated), notes</a:t>
            </a:r>
          </a:p>
          <a:p>
            <a:pPr>
              <a:spcAft>
                <a:spcPts val="400"/>
              </a:spcAft>
              <a:defRPr sz="1200">
                <a:solidFill>
                  <a:srgbClr val="333333"/>
                </a:solidFill>
                <a:latin typeface="Calibri"/>
              </a:defRPr>
            </a:pPr>
            <a:r>
              <a:t>▸ Dual currency support: USD/CNY auto-toggle (7.25× conversion rate)</a:t>
            </a:r>
          </a:p>
          <a:p>
            <a:pPr>
              <a:spcAft>
                <a:spcPts val="400"/>
              </a:spcAft>
              <a:defRPr sz="1200">
                <a:solidFill>
                  <a:srgbClr val="333333"/>
                </a:solidFill>
                <a:latin typeface="Calibri"/>
              </a:defRPr>
            </a:pPr>
            <a:r>
              <a:t>▸ Add/edit/delete categories as project evolves</a:t>
            </a:r>
          </a:p>
          <a:p>
            <a:pPr>
              <a:spcAft>
                <a:spcPts val="400"/>
              </a:spcAft>
              <a:defRPr sz="1200">
                <a:solidFill>
                  <a:srgbClr val="333333"/>
                </a:solidFill>
                <a:latin typeface="Calibri"/>
              </a:defRPr>
            </a:pPr>
            <a:r>
              <a:t>▸ All budget changes captured in Audit Trail for financial accountability</a:t>
            </a:r>
          </a:p>
        </p:txBody>
      </p:sp>
      <p:sp>
        <p:nvSpPr>
          <p:cNvPr id="9" name="Rectangle 8"/>
          <p:cNvSpPr/>
          <p:nvPr/>
        </p:nvSpPr>
        <p:spPr>
          <a:xfrm>
            <a:off x="274320" y="5120640"/>
            <a:ext cx="11612880" cy="1463040"/>
          </a:xfrm>
          <a:prstGeom prst="rect">
            <a:avLst/>
          </a:prstGeom>
          <a:solidFill>
            <a:srgbClr val="F5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57200" y="5166360"/>
            <a:ext cx="2743200" cy="320040"/>
          </a:xfrm>
          <a:prstGeom prst="rect">
            <a:avLst/>
          </a:prstGeom>
          <a:noFill/>
        </p:spPr>
        <p:txBody>
          <a:bodyPr wrap="square">
            <a:spAutoFit/>
          </a:bodyPr>
          <a:lstStyle/>
          <a:p>
            <a:pPr algn="l">
              <a:defRPr sz="1300" b="1">
                <a:solidFill>
                  <a:srgbClr val="E53E3E"/>
                </a:solidFill>
                <a:latin typeface="Calibri"/>
              </a:defRPr>
            </a:pPr>
            <a:r>
              <a:t>Competitor Gap Analysis</a:t>
            </a:r>
          </a:p>
        </p:txBody>
      </p:sp>
      <p:sp>
        <p:nvSpPr>
          <p:cNvPr id="11" name="TextBox 10"/>
          <p:cNvSpPr txBox="1"/>
          <p:nvPr/>
        </p:nvSpPr>
        <p:spPr>
          <a:xfrm>
            <a:off x="457200" y="5440680"/>
            <a:ext cx="11247120" cy="1097280"/>
          </a:xfrm>
          <a:prstGeom prst="rect">
            <a:avLst/>
          </a:prstGeom>
          <a:noFill/>
        </p:spPr>
        <p:txBody>
          <a:bodyPr wrap="square">
            <a:spAutoFit/>
          </a:bodyPr>
          <a:lstStyle/>
          <a:p>
            <a:pPr algn="l">
              <a:defRPr sz="1200" b="0">
                <a:solidFill>
                  <a:srgbClr val="333333"/>
                </a:solidFill>
                <a:latin typeface="Calibri"/>
              </a:defRPr>
            </a:pPr>
            <a:r>
              <a:t>Generic PM tools either lack budgeting entirely (Jira) or provide basic spend tracking without medical-device-specific cost categories. Control Tower pre-populates budget categories that match 510(k) development phases — testing lab fees, regulatory counsel, biocompatibility studies, etc.</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05840"/>
          </a:xfrm>
          <a:prstGeom prst="rect">
            <a:avLst/>
          </a:prstGeom>
          <a:solidFill>
            <a:srgbClr val="0B23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37160"/>
            <a:ext cx="7315200" cy="457200"/>
          </a:xfrm>
          <a:prstGeom prst="rect">
            <a:avLst/>
          </a:prstGeom>
          <a:noFill/>
        </p:spPr>
        <p:txBody>
          <a:bodyPr wrap="square">
            <a:spAutoFit/>
          </a:bodyPr>
          <a:lstStyle/>
          <a:p>
            <a:pPr algn="l">
              <a:defRPr sz="1300" b="1">
                <a:solidFill>
                  <a:srgbClr val="009688"/>
                </a:solidFill>
                <a:latin typeface="Calibri"/>
              </a:defRPr>
            </a:pPr>
            <a:r>
              <a:t>FINANCE</a:t>
            </a:r>
          </a:p>
        </p:txBody>
      </p:sp>
      <p:sp>
        <p:nvSpPr>
          <p:cNvPr id="4" name="TextBox 3"/>
          <p:cNvSpPr txBox="1"/>
          <p:nvPr/>
        </p:nvSpPr>
        <p:spPr>
          <a:xfrm>
            <a:off x="548640" y="411480"/>
            <a:ext cx="9144000" cy="502920"/>
          </a:xfrm>
          <a:prstGeom prst="rect">
            <a:avLst/>
          </a:prstGeom>
          <a:noFill/>
        </p:spPr>
        <p:txBody>
          <a:bodyPr wrap="square">
            <a:spAutoFit/>
          </a:bodyPr>
          <a:lstStyle/>
          <a:p>
            <a:pPr algn="l">
              <a:defRPr sz="2600" b="1">
                <a:solidFill>
                  <a:srgbClr val="FFFFFF"/>
                </a:solidFill>
                <a:latin typeface="Calibri"/>
              </a:defRPr>
            </a:pPr>
            <a:r>
              <a:t>Tab 11: Cash / Runway</a:t>
            </a:r>
          </a:p>
        </p:txBody>
      </p:sp>
      <p:sp>
        <p:nvSpPr>
          <p:cNvPr id="5" name="TextBox 4"/>
          <p:cNvSpPr txBox="1"/>
          <p:nvPr/>
        </p:nvSpPr>
        <p:spPr>
          <a:xfrm>
            <a:off x="9601200" y="274320"/>
            <a:ext cx="2286000" cy="457200"/>
          </a:xfrm>
          <a:prstGeom prst="rect">
            <a:avLst/>
          </a:prstGeom>
          <a:noFill/>
        </p:spPr>
        <p:txBody>
          <a:bodyPr wrap="square">
            <a:spAutoFit/>
          </a:bodyPr>
          <a:lstStyle/>
          <a:p>
            <a:pPr algn="r">
              <a:defRPr sz="1600" b="1">
                <a:solidFill>
                  <a:srgbClr val="009688"/>
                </a:solidFill>
                <a:latin typeface="Calibri"/>
              </a:defRPr>
            </a:pPr>
            <a:r>
              <a:t>510(k) Bridge</a:t>
            </a:r>
          </a:p>
        </p:txBody>
      </p:sp>
      <p:sp>
        <p:nvSpPr>
          <p:cNvPr id="6" name="TextBox 5"/>
          <p:cNvSpPr txBox="1"/>
          <p:nvPr/>
        </p:nvSpPr>
        <p:spPr>
          <a:xfrm>
            <a:off x="9601200" y="548640"/>
            <a:ext cx="2286000" cy="365760"/>
          </a:xfrm>
          <a:prstGeom prst="rect">
            <a:avLst/>
          </a:prstGeom>
          <a:noFill/>
        </p:spPr>
        <p:txBody>
          <a:bodyPr wrap="square">
            <a:spAutoFit/>
          </a:bodyPr>
          <a:lstStyle/>
          <a:p>
            <a:pPr algn="r">
              <a:defRPr sz="1200" b="0">
                <a:solidFill>
                  <a:srgbClr val="FFFFFF"/>
                </a:solidFill>
                <a:latin typeface="Calibri"/>
              </a:defRPr>
            </a:pPr>
            <a:r>
              <a:t>Control Tower</a:t>
            </a:r>
          </a:p>
        </p:txBody>
      </p:sp>
      <p:pic>
        <p:nvPicPr>
          <p:cNvPr id="7" name="Picture 6" descr="cash-runway.png"/>
          <p:cNvPicPr>
            <a:picLocks noChangeAspect="1"/>
          </p:cNvPicPr>
          <p:nvPr/>
        </p:nvPicPr>
        <p:blipFill>
          <a:blip r:embed="rId2"/>
          <a:stretch>
            <a:fillRect/>
          </a:stretch>
        </p:blipFill>
        <p:spPr>
          <a:xfrm>
            <a:off x="365760" y="1188720"/>
            <a:ext cx="5669280" cy="3543300"/>
          </a:xfrm>
          <a:prstGeom prst="rect">
            <a:avLst/>
          </a:prstGeom>
        </p:spPr>
      </p:pic>
      <p:sp>
        <p:nvSpPr>
          <p:cNvPr id="8" name="TextBox 7"/>
          <p:cNvSpPr txBox="1"/>
          <p:nvPr/>
        </p:nvSpPr>
        <p:spPr>
          <a:xfrm>
            <a:off x="6309360" y="1188720"/>
            <a:ext cx="5486400" cy="3200400"/>
          </a:xfrm>
          <a:prstGeom prst="rect">
            <a:avLst/>
          </a:prstGeom>
          <a:noFill/>
        </p:spPr>
        <p:txBody>
          <a:bodyPr wrap="square">
            <a:spAutoFit/>
          </a:bodyPr>
          <a:lstStyle/>
          <a:p>
            <a:pPr>
              <a:spcAft>
                <a:spcPts val="800"/>
              </a:spcAft>
              <a:defRPr sz="1600" b="1">
                <a:solidFill>
                  <a:srgbClr val="009688"/>
                </a:solidFill>
                <a:latin typeface="Calibri"/>
              </a:defRPr>
            </a:pPr>
            <a:r>
              <a:t>Value Proposition</a:t>
            </a:r>
          </a:p>
          <a:p>
            <a:pPr>
              <a:spcAft>
                <a:spcPts val="400"/>
              </a:spcAft>
              <a:defRPr sz="1200">
                <a:solidFill>
                  <a:srgbClr val="333333"/>
                </a:solidFill>
                <a:latin typeface="Calibri"/>
              </a:defRPr>
            </a:pPr>
            <a:r>
              <a:t>▸ Real-time financial health dashboard: Cash on Hand, Monthly Burn Rate, Runway (months)</a:t>
            </a:r>
          </a:p>
          <a:p>
            <a:pPr>
              <a:spcAft>
                <a:spcPts val="400"/>
              </a:spcAft>
              <a:defRPr sz="1200">
                <a:solidFill>
                  <a:srgbClr val="333333"/>
                </a:solidFill>
                <a:latin typeface="Calibri"/>
              </a:defRPr>
            </a:pPr>
            <a:r>
              <a:t>▸ Runway color coding: Green (&gt;12 mo), Yellow (6-12 mo), Red (&lt;6 mo) — instant visibility</a:t>
            </a:r>
          </a:p>
          <a:p>
            <a:pPr>
              <a:spcAft>
                <a:spcPts val="400"/>
              </a:spcAft>
              <a:defRPr sz="1200">
                <a:solidFill>
                  <a:srgbClr val="333333"/>
                </a:solidFill>
                <a:latin typeface="Calibri"/>
              </a:defRPr>
            </a:pPr>
            <a:r>
              <a:t>▸ Funding round tracking: Pipeline → Committed → Received with amounts and dates</a:t>
            </a:r>
          </a:p>
          <a:p>
            <a:pPr>
              <a:spcAft>
                <a:spcPts val="400"/>
              </a:spcAft>
              <a:defRPr sz="1200">
                <a:solidFill>
                  <a:srgbClr val="333333"/>
                </a:solidFill>
                <a:latin typeface="Calibri"/>
              </a:defRPr>
            </a:pPr>
            <a:r>
              <a:t>▸ Month-by-month burn history: actual vs. planned expenditure</a:t>
            </a:r>
          </a:p>
          <a:p>
            <a:pPr>
              <a:spcAft>
                <a:spcPts val="400"/>
              </a:spcAft>
              <a:defRPr sz="1200">
                <a:solidFill>
                  <a:srgbClr val="333333"/>
                </a:solidFill>
                <a:latin typeface="Calibri"/>
              </a:defRPr>
            </a:pPr>
            <a:r>
              <a:t>▸ Visual burn history charts for board presentations</a:t>
            </a:r>
          </a:p>
          <a:p>
            <a:pPr>
              <a:spcAft>
                <a:spcPts val="400"/>
              </a:spcAft>
              <a:defRPr sz="1200">
                <a:solidFill>
                  <a:srgbClr val="333333"/>
                </a:solidFill>
                <a:latin typeface="Calibri"/>
              </a:defRPr>
            </a:pPr>
            <a:r>
              <a:t>▸ Critical for startups — answers 'do we have enough cash to reach FDA clearance?'</a:t>
            </a:r>
          </a:p>
        </p:txBody>
      </p:sp>
      <p:sp>
        <p:nvSpPr>
          <p:cNvPr id="9" name="Rectangle 8"/>
          <p:cNvSpPr/>
          <p:nvPr/>
        </p:nvSpPr>
        <p:spPr>
          <a:xfrm>
            <a:off x="274320" y="5120640"/>
            <a:ext cx="11612880" cy="1463040"/>
          </a:xfrm>
          <a:prstGeom prst="rect">
            <a:avLst/>
          </a:prstGeom>
          <a:solidFill>
            <a:srgbClr val="F5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57200" y="5166360"/>
            <a:ext cx="2743200" cy="320040"/>
          </a:xfrm>
          <a:prstGeom prst="rect">
            <a:avLst/>
          </a:prstGeom>
          <a:noFill/>
        </p:spPr>
        <p:txBody>
          <a:bodyPr wrap="square">
            <a:spAutoFit/>
          </a:bodyPr>
          <a:lstStyle/>
          <a:p>
            <a:pPr algn="l">
              <a:defRPr sz="1300" b="1">
                <a:solidFill>
                  <a:srgbClr val="E53E3E"/>
                </a:solidFill>
                <a:latin typeface="Calibri"/>
              </a:defRPr>
            </a:pPr>
            <a:r>
              <a:t>Competitor Gap Analysis</a:t>
            </a:r>
          </a:p>
        </p:txBody>
      </p:sp>
      <p:sp>
        <p:nvSpPr>
          <p:cNvPr id="11" name="TextBox 10"/>
          <p:cNvSpPr txBox="1"/>
          <p:nvPr/>
        </p:nvSpPr>
        <p:spPr>
          <a:xfrm>
            <a:off x="457200" y="5440680"/>
            <a:ext cx="11247120" cy="1097280"/>
          </a:xfrm>
          <a:prstGeom prst="rect">
            <a:avLst/>
          </a:prstGeom>
          <a:noFill/>
        </p:spPr>
        <p:txBody>
          <a:bodyPr wrap="square">
            <a:spAutoFit/>
          </a:bodyPr>
          <a:lstStyle/>
          <a:p>
            <a:pPr algn="l">
              <a:defRPr sz="1200" b="0">
                <a:solidFill>
                  <a:srgbClr val="333333"/>
                </a:solidFill>
                <a:latin typeface="Calibri"/>
              </a:defRPr>
            </a:pPr>
            <a:r>
              <a:t>Financial planning tools (QuickBooks, Xero) don't tie cash runway to regulatory milestones. Startup dashboards (Carta, Visible) track burn but know nothing about FDA timelines. Control Tower uniquely answers the question every med-device founder asks: 'Will my money last until 510(k) clearance?'</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05840"/>
          </a:xfrm>
          <a:prstGeom prst="rect">
            <a:avLst/>
          </a:prstGeom>
          <a:solidFill>
            <a:srgbClr val="0B23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37160"/>
            <a:ext cx="7315200" cy="457200"/>
          </a:xfrm>
          <a:prstGeom prst="rect">
            <a:avLst/>
          </a:prstGeom>
          <a:noFill/>
        </p:spPr>
        <p:txBody>
          <a:bodyPr wrap="square">
            <a:spAutoFit/>
          </a:bodyPr>
          <a:lstStyle/>
          <a:p>
            <a:pPr algn="l">
              <a:defRPr sz="1300" b="1">
                <a:solidFill>
                  <a:srgbClr val="009688"/>
                </a:solidFill>
                <a:latin typeface="Calibri"/>
              </a:defRPr>
            </a:pPr>
            <a:r>
              <a:t>FINANCE</a:t>
            </a:r>
          </a:p>
        </p:txBody>
      </p:sp>
      <p:sp>
        <p:nvSpPr>
          <p:cNvPr id="4" name="TextBox 3"/>
          <p:cNvSpPr txBox="1"/>
          <p:nvPr/>
        </p:nvSpPr>
        <p:spPr>
          <a:xfrm>
            <a:off x="548640" y="411480"/>
            <a:ext cx="9144000" cy="502920"/>
          </a:xfrm>
          <a:prstGeom prst="rect">
            <a:avLst/>
          </a:prstGeom>
          <a:noFill/>
        </p:spPr>
        <p:txBody>
          <a:bodyPr wrap="square">
            <a:spAutoFit/>
          </a:bodyPr>
          <a:lstStyle/>
          <a:p>
            <a:pPr algn="l">
              <a:defRPr sz="2600" b="1">
                <a:solidFill>
                  <a:srgbClr val="FFFFFF"/>
                </a:solidFill>
                <a:latin typeface="Calibri"/>
              </a:defRPr>
            </a:pPr>
            <a:r>
              <a:t>Tab 12: US Investment</a:t>
            </a:r>
          </a:p>
        </p:txBody>
      </p:sp>
      <p:sp>
        <p:nvSpPr>
          <p:cNvPr id="5" name="TextBox 4"/>
          <p:cNvSpPr txBox="1"/>
          <p:nvPr/>
        </p:nvSpPr>
        <p:spPr>
          <a:xfrm>
            <a:off x="9601200" y="274320"/>
            <a:ext cx="2286000" cy="457200"/>
          </a:xfrm>
          <a:prstGeom prst="rect">
            <a:avLst/>
          </a:prstGeom>
          <a:noFill/>
        </p:spPr>
        <p:txBody>
          <a:bodyPr wrap="square">
            <a:spAutoFit/>
          </a:bodyPr>
          <a:lstStyle/>
          <a:p>
            <a:pPr algn="r">
              <a:defRPr sz="1600" b="1">
                <a:solidFill>
                  <a:srgbClr val="009688"/>
                </a:solidFill>
                <a:latin typeface="Calibri"/>
              </a:defRPr>
            </a:pPr>
            <a:r>
              <a:t>510(k) Bridge</a:t>
            </a:r>
          </a:p>
        </p:txBody>
      </p:sp>
      <p:sp>
        <p:nvSpPr>
          <p:cNvPr id="6" name="TextBox 5"/>
          <p:cNvSpPr txBox="1"/>
          <p:nvPr/>
        </p:nvSpPr>
        <p:spPr>
          <a:xfrm>
            <a:off x="9601200" y="548640"/>
            <a:ext cx="2286000" cy="365760"/>
          </a:xfrm>
          <a:prstGeom prst="rect">
            <a:avLst/>
          </a:prstGeom>
          <a:noFill/>
        </p:spPr>
        <p:txBody>
          <a:bodyPr wrap="square">
            <a:spAutoFit/>
          </a:bodyPr>
          <a:lstStyle/>
          <a:p>
            <a:pPr algn="r">
              <a:defRPr sz="1200" b="0">
                <a:solidFill>
                  <a:srgbClr val="FFFFFF"/>
                </a:solidFill>
                <a:latin typeface="Calibri"/>
              </a:defRPr>
            </a:pPr>
            <a:r>
              <a:t>Control Tower</a:t>
            </a:r>
          </a:p>
        </p:txBody>
      </p:sp>
      <p:pic>
        <p:nvPicPr>
          <p:cNvPr id="7" name="Picture 6" descr="us-investment.png"/>
          <p:cNvPicPr>
            <a:picLocks noChangeAspect="1"/>
          </p:cNvPicPr>
          <p:nvPr/>
        </p:nvPicPr>
        <p:blipFill>
          <a:blip r:embed="rId2"/>
          <a:stretch>
            <a:fillRect/>
          </a:stretch>
        </p:blipFill>
        <p:spPr>
          <a:xfrm>
            <a:off x="365760" y="1188720"/>
            <a:ext cx="5669280" cy="3543300"/>
          </a:xfrm>
          <a:prstGeom prst="rect">
            <a:avLst/>
          </a:prstGeom>
        </p:spPr>
      </p:pic>
      <p:sp>
        <p:nvSpPr>
          <p:cNvPr id="8" name="TextBox 7"/>
          <p:cNvSpPr txBox="1"/>
          <p:nvPr/>
        </p:nvSpPr>
        <p:spPr>
          <a:xfrm>
            <a:off x="6309360" y="1188720"/>
            <a:ext cx="5486400" cy="3200400"/>
          </a:xfrm>
          <a:prstGeom prst="rect">
            <a:avLst/>
          </a:prstGeom>
          <a:noFill/>
        </p:spPr>
        <p:txBody>
          <a:bodyPr wrap="square">
            <a:spAutoFit/>
          </a:bodyPr>
          <a:lstStyle/>
          <a:p>
            <a:pPr>
              <a:spcAft>
                <a:spcPts val="800"/>
              </a:spcAft>
              <a:defRPr sz="1600" b="1">
                <a:solidFill>
                  <a:srgbClr val="009688"/>
                </a:solidFill>
                <a:latin typeface="Calibri"/>
              </a:defRPr>
            </a:pPr>
            <a:r>
              <a:t>Value Proposition</a:t>
            </a:r>
          </a:p>
          <a:p>
            <a:pPr>
              <a:spcAft>
                <a:spcPts val="400"/>
              </a:spcAft>
              <a:defRPr sz="1200">
                <a:solidFill>
                  <a:srgbClr val="333333"/>
                </a:solidFill>
                <a:latin typeface="Calibri"/>
              </a:defRPr>
            </a:pPr>
            <a:r>
              <a:t>▸ Investor relations pipeline: Prospect → Contacted → In Discussions → Term Sheet → Committed</a:t>
            </a:r>
          </a:p>
          <a:p>
            <a:pPr>
              <a:spcAft>
                <a:spcPts val="400"/>
              </a:spcAft>
              <a:defRPr sz="1200">
                <a:solidFill>
                  <a:srgbClr val="333333"/>
                </a:solidFill>
                <a:latin typeface="Calibri"/>
              </a:defRPr>
            </a:pPr>
            <a:r>
              <a:t>▸ Investor profiles: type (VC, Angel, Strategic, PE, Government), stage fit, committed amounts</a:t>
            </a:r>
          </a:p>
          <a:p>
            <a:pPr>
              <a:spcAft>
                <a:spcPts val="400"/>
              </a:spcAft>
              <a:defRPr sz="1200">
                <a:solidFill>
                  <a:srgbClr val="333333"/>
                </a:solidFill>
                <a:latin typeface="Calibri"/>
              </a:defRPr>
            </a:pPr>
            <a:r>
              <a:t>▸ IR activity logging: meetings, presentations, due diligence sessions, term negotiations</a:t>
            </a:r>
          </a:p>
          <a:p>
            <a:pPr>
              <a:spcAft>
                <a:spcPts val="400"/>
              </a:spcAft>
              <a:defRPr sz="1200">
                <a:solidFill>
                  <a:srgbClr val="333333"/>
                </a:solidFill>
                <a:latin typeface="Calibri"/>
              </a:defRPr>
            </a:pPr>
            <a:r>
              <a:t>▸ Activity metrics and conversion rates for fundraising effectiveness</a:t>
            </a:r>
          </a:p>
          <a:p>
            <a:pPr>
              <a:spcAft>
                <a:spcPts val="400"/>
              </a:spcAft>
              <a:defRPr sz="1200">
                <a:solidFill>
                  <a:srgbClr val="333333"/>
                </a:solidFill>
                <a:latin typeface="Calibri"/>
              </a:defRPr>
            </a:pPr>
            <a:r>
              <a:t>▸ Purpose-built for international med-device companies entering the US market</a:t>
            </a:r>
          </a:p>
          <a:p>
            <a:pPr>
              <a:spcAft>
                <a:spcPts val="400"/>
              </a:spcAft>
              <a:defRPr sz="1200">
                <a:solidFill>
                  <a:srgbClr val="333333"/>
                </a:solidFill>
                <a:latin typeface="Calibri"/>
              </a:defRPr>
            </a:pPr>
            <a:r>
              <a:t>▸ Consolidates investor tracking that otherwise lives in scattered spreadsheets and CRMs</a:t>
            </a:r>
          </a:p>
        </p:txBody>
      </p:sp>
      <p:sp>
        <p:nvSpPr>
          <p:cNvPr id="9" name="Rectangle 8"/>
          <p:cNvSpPr/>
          <p:nvPr/>
        </p:nvSpPr>
        <p:spPr>
          <a:xfrm>
            <a:off x="274320" y="5120640"/>
            <a:ext cx="11612880" cy="1463040"/>
          </a:xfrm>
          <a:prstGeom prst="rect">
            <a:avLst/>
          </a:prstGeom>
          <a:solidFill>
            <a:srgbClr val="F5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57200" y="5166360"/>
            <a:ext cx="2743200" cy="320040"/>
          </a:xfrm>
          <a:prstGeom prst="rect">
            <a:avLst/>
          </a:prstGeom>
          <a:noFill/>
        </p:spPr>
        <p:txBody>
          <a:bodyPr wrap="square">
            <a:spAutoFit/>
          </a:bodyPr>
          <a:lstStyle/>
          <a:p>
            <a:pPr algn="l">
              <a:defRPr sz="1300" b="1">
                <a:solidFill>
                  <a:srgbClr val="E53E3E"/>
                </a:solidFill>
                <a:latin typeface="Calibri"/>
              </a:defRPr>
            </a:pPr>
            <a:r>
              <a:t>Competitor Gap Analysis</a:t>
            </a:r>
          </a:p>
        </p:txBody>
      </p:sp>
      <p:sp>
        <p:nvSpPr>
          <p:cNvPr id="11" name="TextBox 10"/>
          <p:cNvSpPr txBox="1"/>
          <p:nvPr/>
        </p:nvSpPr>
        <p:spPr>
          <a:xfrm>
            <a:off x="457200" y="5440680"/>
            <a:ext cx="11247120" cy="1097280"/>
          </a:xfrm>
          <a:prstGeom prst="rect">
            <a:avLst/>
          </a:prstGeom>
          <a:noFill/>
        </p:spPr>
        <p:txBody>
          <a:bodyPr wrap="square">
            <a:spAutoFit/>
          </a:bodyPr>
          <a:lstStyle/>
          <a:p>
            <a:pPr algn="l">
              <a:defRPr sz="1200" b="0">
                <a:solidFill>
                  <a:srgbClr val="333333"/>
                </a:solidFill>
                <a:latin typeface="Calibri"/>
              </a:defRPr>
            </a:pPr>
            <a:r>
              <a:t>CRM tools (HubSpot, Salesforce) track investor contacts but have no medical-device context. Control Tower provides a specialized investor pipeline that sits alongside the 510(k) program — so founders can show investors exactly where they are in the regulatory process.</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05840"/>
          </a:xfrm>
          <a:prstGeom prst="rect">
            <a:avLst/>
          </a:prstGeom>
          <a:solidFill>
            <a:srgbClr val="0B23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37160"/>
            <a:ext cx="7315200" cy="457200"/>
          </a:xfrm>
          <a:prstGeom prst="rect">
            <a:avLst/>
          </a:prstGeom>
          <a:noFill/>
        </p:spPr>
        <p:txBody>
          <a:bodyPr wrap="square">
            <a:spAutoFit/>
          </a:bodyPr>
          <a:lstStyle/>
          <a:p>
            <a:pPr algn="l">
              <a:defRPr sz="1300" b="1">
                <a:solidFill>
                  <a:srgbClr val="009688"/>
                </a:solidFill>
                <a:latin typeface="Calibri"/>
              </a:defRPr>
            </a:pPr>
            <a:r>
              <a:t>OPERATIONS</a:t>
            </a:r>
          </a:p>
        </p:txBody>
      </p:sp>
      <p:sp>
        <p:nvSpPr>
          <p:cNvPr id="4" name="TextBox 3"/>
          <p:cNvSpPr txBox="1"/>
          <p:nvPr/>
        </p:nvSpPr>
        <p:spPr>
          <a:xfrm>
            <a:off x="548640" y="411480"/>
            <a:ext cx="9144000" cy="502920"/>
          </a:xfrm>
          <a:prstGeom prst="rect">
            <a:avLst/>
          </a:prstGeom>
          <a:noFill/>
        </p:spPr>
        <p:txBody>
          <a:bodyPr wrap="square">
            <a:spAutoFit/>
          </a:bodyPr>
          <a:lstStyle/>
          <a:p>
            <a:pPr algn="l">
              <a:defRPr sz="2600" b="1">
                <a:solidFill>
                  <a:srgbClr val="FFFFFF"/>
                </a:solidFill>
                <a:latin typeface="Calibri"/>
              </a:defRPr>
            </a:pPr>
            <a:r>
              <a:t>Tab 13: Resources</a:t>
            </a:r>
          </a:p>
        </p:txBody>
      </p:sp>
      <p:sp>
        <p:nvSpPr>
          <p:cNvPr id="5" name="TextBox 4"/>
          <p:cNvSpPr txBox="1"/>
          <p:nvPr/>
        </p:nvSpPr>
        <p:spPr>
          <a:xfrm>
            <a:off x="9601200" y="274320"/>
            <a:ext cx="2286000" cy="457200"/>
          </a:xfrm>
          <a:prstGeom prst="rect">
            <a:avLst/>
          </a:prstGeom>
          <a:noFill/>
        </p:spPr>
        <p:txBody>
          <a:bodyPr wrap="square">
            <a:spAutoFit/>
          </a:bodyPr>
          <a:lstStyle/>
          <a:p>
            <a:pPr algn="r">
              <a:defRPr sz="1600" b="1">
                <a:solidFill>
                  <a:srgbClr val="009688"/>
                </a:solidFill>
                <a:latin typeface="Calibri"/>
              </a:defRPr>
            </a:pPr>
            <a:r>
              <a:t>510(k) Bridge</a:t>
            </a:r>
          </a:p>
        </p:txBody>
      </p:sp>
      <p:sp>
        <p:nvSpPr>
          <p:cNvPr id="6" name="TextBox 5"/>
          <p:cNvSpPr txBox="1"/>
          <p:nvPr/>
        </p:nvSpPr>
        <p:spPr>
          <a:xfrm>
            <a:off x="9601200" y="548640"/>
            <a:ext cx="2286000" cy="365760"/>
          </a:xfrm>
          <a:prstGeom prst="rect">
            <a:avLst/>
          </a:prstGeom>
          <a:noFill/>
        </p:spPr>
        <p:txBody>
          <a:bodyPr wrap="square">
            <a:spAutoFit/>
          </a:bodyPr>
          <a:lstStyle/>
          <a:p>
            <a:pPr algn="r">
              <a:defRPr sz="1200" b="0">
                <a:solidFill>
                  <a:srgbClr val="FFFFFF"/>
                </a:solidFill>
                <a:latin typeface="Calibri"/>
              </a:defRPr>
            </a:pPr>
            <a:r>
              <a:t>Control Tower</a:t>
            </a:r>
          </a:p>
        </p:txBody>
      </p:sp>
      <p:pic>
        <p:nvPicPr>
          <p:cNvPr id="7" name="Picture 6" descr="resources.png"/>
          <p:cNvPicPr>
            <a:picLocks noChangeAspect="1"/>
          </p:cNvPicPr>
          <p:nvPr/>
        </p:nvPicPr>
        <p:blipFill>
          <a:blip r:embed="rId2"/>
          <a:stretch>
            <a:fillRect/>
          </a:stretch>
        </p:blipFill>
        <p:spPr>
          <a:xfrm>
            <a:off x="365760" y="1188720"/>
            <a:ext cx="5669280" cy="3543300"/>
          </a:xfrm>
          <a:prstGeom prst="rect">
            <a:avLst/>
          </a:prstGeom>
        </p:spPr>
      </p:pic>
      <p:sp>
        <p:nvSpPr>
          <p:cNvPr id="8" name="TextBox 7"/>
          <p:cNvSpPr txBox="1"/>
          <p:nvPr/>
        </p:nvSpPr>
        <p:spPr>
          <a:xfrm>
            <a:off x="6309360" y="1188720"/>
            <a:ext cx="5486400" cy="3200400"/>
          </a:xfrm>
          <a:prstGeom prst="rect">
            <a:avLst/>
          </a:prstGeom>
          <a:noFill/>
        </p:spPr>
        <p:txBody>
          <a:bodyPr wrap="square">
            <a:spAutoFit/>
          </a:bodyPr>
          <a:lstStyle/>
          <a:p>
            <a:pPr>
              <a:spcAft>
                <a:spcPts val="800"/>
              </a:spcAft>
              <a:defRPr sz="1600" b="1">
                <a:solidFill>
                  <a:srgbClr val="009688"/>
                </a:solidFill>
                <a:latin typeface="Calibri"/>
              </a:defRPr>
            </a:pPr>
            <a:r>
              <a:t>Value Proposition</a:t>
            </a:r>
          </a:p>
          <a:p>
            <a:pPr>
              <a:spcAft>
                <a:spcPts val="400"/>
              </a:spcAft>
              <a:defRPr sz="1200">
                <a:solidFill>
                  <a:srgbClr val="333333"/>
                </a:solidFill>
                <a:latin typeface="Calibri"/>
              </a:defRPr>
            </a:pPr>
            <a:r>
              <a:t>▸ Team allocation and utilization monitoring across workstreams</a:t>
            </a:r>
          </a:p>
          <a:p>
            <a:pPr>
              <a:spcAft>
                <a:spcPts val="400"/>
              </a:spcAft>
              <a:defRPr sz="1200">
                <a:solidFill>
                  <a:srgbClr val="333333"/>
                </a:solidFill>
                <a:latin typeface="Calibri"/>
              </a:defRPr>
            </a:pPr>
            <a:r>
              <a:t>▸ Workstream allocation: % across Technical, Regulatory, Business, Finance (+ custom)</a:t>
            </a:r>
          </a:p>
          <a:p>
            <a:pPr>
              <a:spcAft>
                <a:spcPts val="400"/>
              </a:spcAft>
              <a:defRPr sz="1200">
                <a:solidFill>
                  <a:srgbClr val="333333"/>
                </a:solidFill>
                <a:latin typeface="Calibri"/>
              </a:defRPr>
            </a:pPr>
            <a:r>
              <a:t>▸ Utilization gauge: Green (&lt;85%), Yellow (85-100%), Red (&gt;100%) — prevents burnout</a:t>
            </a:r>
          </a:p>
          <a:p>
            <a:pPr>
              <a:spcAft>
                <a:spcPts val="400"/>
              </a:spcAft>
              <a:defRPr sz="1200">
                <a:solidFill>
                  <a:srgbClr val="333333"/>
                </a:solidFill>
                <a:latin typeface="Calibri"/>
              </a:defRPr>
            </a:pPr>
            <a:r>
              <a:t>▸ Team member profiles: name, role, email, bio</a:t>
            </a:r>
          </a:p>
          <a:p>
            <a:pPr>
              <a:spcAft>
                <a:spcPts val="400"/>
              </a:spcAft>
              <a:defRPr sz="1200">
                <a:solidFill>
                  <a:srgbClr val="333333"/>
                </a:solidFill>
                <a:latin typeface="Calibri"/>
              </a:defRPr>
            </a:pPr>
            <a:r>
              <a:t>▸ Inline editing — click percentage to adjust allocations in real time</a:t>
            </a:r>
          </a:p>
          <a:p>
            <a:pPr>
              <a:spcAft>
                <a:spcPts val="400"/>
              </a:spcAft>
              <a:defRPr sz="1200">
                <a:solidFill>
                  <a:srgbClr val="333333"/>
                </a:solidFill>
                <a:latin typeface="Calibri"/>
              </a:defRPr>
            </a:pPr>
            <a:r>
              <a:t>▸ Audit-logged allocation changes for workforce planning transparency</a:t>
            </a:r>
          </a:p>
        </p:txBody>
      </p:sp>
      <p:sp>
        <p:nvSpPr>
          <p:cNvPr id="9" name="Rectangle 8"/>
          <p:cNvSpPr/>
          <p:nvPr/>
        </p:nvSpPr>
        <p:spPr>
          <a:xfrm>
            <a:off x="274320" y="5120640"/>
            <a:ext cx="11612880" cy="1463040"/>
          </a:xfrm>
          <a:prstGeom prst="rect">
            <a:avLst/>
          </a:prstGeom>
          <a:solidFill>
            <a:srgbClr val="F5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57200" y="5166360"/>
            <a:ext cx="2743200" cy="320040"/>
          </a:xfrm>
          <a:prstGeom prst="rect">
            <a:avLst/>
          </a:prstGeom>
          <a:noFill/>
        </p:spPr>
        <p:txBody>
          <a:bodyPr wrap="square">
            <a:spAutoFit/>
          </a:bodyPr>
          <a:lstStyle/>
          <a:p>
            <a:pPr algn="l">
              <a:defRPr sz="1300" b="1">
                <a:solidFill>
                  <a:srgbClr val="E53E3E"/>
                </a:solidFill>
                <a:latin typeface="Calibri"/>
              </a:defRPr>
            </a:pPr>
            <a:r>
              <a:t>Competitor Gap Analysis</a:t>
            </a:r>
          </a:p>
        </p:txBody>
      </p:sp>
      <p:sp>
        <p:nvSpPr>
          <p:cNvPr id="11" name="TextBox 10"/>
          <p:cNvSpPr txBox="1"/>
          <p:nvPr/>
        </p:nvSpPr>
        <p:spPr>
          <a:xfrm>
            <a:off x="457200" y="5440680"/>
            <a:ext cx="11247120" cy="1097280"/>
          </a:xfrm>
          <a:prstGeom prst="rect">
            <a:avLst/>
          </a:prstGeom>
          <a:noFill/>
        </p:spPr>
        <p:txBody>
          <a:bodyPr wrap="square">
            <a:spAutoFit/>
          </a:bodyPr>
          <a:lstStyle/>
          <a:p>
            <a:pPr algn="l">
              <a:defRPr sz="1200" b="0">
                <a:solidFill>
                  <a:srgbClr val="333333"/>
                </a:solidFill>
                <a:latin typeface="Calibri"/>
              </a:defRPr>
            </a:pPr>
            <a:r>
              <a:t>Resource management in Jira or Monday.com is task-hour based, not workstream-% based. Med-device teams often have dual-hatted engineers (tech + regulatory). Control Tower's allocation model matches how small device teams actually work — showing at a glance if your V&amp;V engineer is also overloaded on regulatory documentation.</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05840"/>
          </a:xfrm>
          <a:prstGeom prst="rect">
            <a:avLst/>
          </a:prstGeom>
          <a:solidFill>
            <a:srgbClr val="0B23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37160"/>
            <a:ext cx="7315200" cy="457200"/>
          </a:xfrm>
          <a:prstGeom prst="rect">
            <a:avLst/>
          </a:prstGeom>
          <a:noFill/>
        </p:spPr>
        <p:txBody>
          <a:bodyPr wrap="square">
            <a:spAutoFit/>
          </a:bodyPr>
          <a:lstStyle/>
          <a:p>
            <a:pPr algn="l">
              <a:defRPr sz="1300" b="1">
                <a:solidFill>
                  <a:srgbClr val="009688"/>
                </a:solidFill>
                <a:latin typeface="Calibri"/>
              </a:defRPr>
            </a:pPr>
            <a:r>
              <a:t>OPERATIONS</a:t>
            </a:r>
          </a:p>
        </p:txBody>
      </p:sp>
      <p:sp>
        <p:nvSpPr>
          <p:cNvPr id="4" name="TextBox 3"/>
          <p:cNvSpPr txBox="1"/>
          <p:nvPr/>
        </p:nvSpPr>
        <p:spPr>
          <a:xfrm>
            <a:off x="548640" y="411480"/>
            <a:ext cx="9144000" cy="502920"/>
          </a:xfrm>
          <a:prstGeom prst="rect">
            <a:avLst/>
          </a:prstGeom>
          <a:noFill/>
        </p:spPr>
        <p:txBody>
          <a:bodyPr wrap="square">
            <a:spAutoFit/>
          </a:bodyPr>
          <a:lstStyle/>
          <a:p>
            <a:pPr algn="l">
              <a:defRPr sz="2600" b="1">
                <a:solidFill>
                  <a:srgbClr val="FFFFFF"/>
                </a:solidFill>
                <a:latin typeface="Calibri"/>
              </a:defRPr>
            </a:pPr>
            <a:r>
              <a:t>Tab 14: Suppliers</a:t>
            </a:r>
          </a:p>
        </p:txBody>
      </p:sp>
      <p:sp>
        <p:nvSpPr>
          <p:cNvPr id="5" name="TextBox 4"/>
          <p:cNvSpPr txBox="1"/>
          <p:nvPr/>
        </p:nvSpPr>
        <p:spPr>
          <a:xfrm>
            <a:off x="9601200" y="274320"/>
            <a:ext cx="2286000" cy="457200"/>
          </a:xfrm>
          <a:prstGeom prst="rect">
            <a:avLst/>
          </a:prstGeom>
          <a:noFill/>
        </p:spPr>
        <p:txBody>
          <a:bodyPr wrap="square">
            <a:spAutoFit/>
          </a:bodyPr>
          <a:lstStyle/>
          <a:p>
            <a:pPr algn="r">
              <a:defRPr sz="1600" b="1">
                <a:solidFill>
                  <a:srgbClr val="009688"/>
                </a:solidFill>
                <a:latin typeface="Calibri"/>
              </a:defRPr>
            </a:pPr>
            <a:r>
              <a:t>510(k) Bridge</a:t>
            </a:r>
          </a:p>
        </p:txBody>
      </p:sp>
      <p:sp>
        <p:nvSpPr>
          <p:cNvPr id="6" name="TextBox 5"/>
          <p:cNvSpPr txBox="1"/>
          <p:nvPr/>
        </p:nvSpPr>
        <p:spPr>
          <a:xfrm>
            <a:off x="9601200" y="548640"/>
            <a:ext cx="2286000" cy="365760"/>
          </a:xfrm>
          <a:prstGeom prst="rect">
            <a:avLst/>
          </a:prstGeom>
          <a:noFill/>
        </p:spPr>
        <p:txBody>
          <a:bodyPr wrap="square">
            <a:spAutoFit/>
          </a:bodyPr>
          <a:lstStyle/>
          <a:p>
            <a:pPr algn="r">
              <a:defRPr sz="1200" b="0">
                <a:solidFill>
                  <a:srgbClr val="FFFFFF"/>
                </a:solidFill>
                <a:latin typeface="Calibri"/>
              </a:defRPr>
            </a:pPr>
            <a:r>
              <a:t>Control Tower</a:t>
            </a:r>
          </a:p>
        </p:txBody>
      </p:sp>
      <p:pic>
        <p:nvPicPr>
          <p:cNvPr id="7" name="Picture 6" descr="suppliers.png"/>
          <p:cNvPicPr>
            <a:picLocks noChangeAspect="1"/>
          </p:cNvPicPr>
          <p:nvPr/>
        </p:nvPicPr>
        <p:blipFill>
          <a:blip r:embed="rId2"/>
          <a:stretch>
            <a:fillRect/>
          </a:stretch>
        </p:blipFill>
        <p:spPr>
          <a:xfrm>
            <a:off x="365760" y="1188720"/>
            <a:ext cx="5669280" cy="3543300"/>
          </a:xfrm>
          <a:prstGeom prst="rect">
            <a:avLst/>
          </a:prstGeom>
        </p:spPr>
      </p:pic>
      <p:sp>
        <p:nvSpPr>
          <p:cNvPr id="8" name="TextBox 7"/>
          <p:cNvSpPr txBox="1"/>
          <p:nvPr/>
        </p:nvSpPr>
        <p:spPr>
          <a:xfrm>
            <a:off x="6309360" y="1188720"/>
            <a:ext cx="5486400" cy="3200400"/>
          </a:xfrm>
          <a:prstGeom prst="rect">
            <a:avLst/>
          </a:prstGeom>
          <a:noFill/>
        </p:spPr>
        <p:txBody>
          <a:bodyPr wrap="square">
            <a:spAutoFit/>
          </a:bodyPr>
          <a:lstStyle/>
          <a:p>
            <a:pPr>
              <a:spcAft>
                <a:spcPts val="800"/>
              </a:spcAft>
              <a:defRPr sz="1600" b="1">
                <a:solidFill>
                  <a:srgbClr val="009688"/>
                </a:solidFill>
                <a:latin typeface="Calibri"/>
              </a:defRPr>
            </a:pPr>
            <a:r>
              <a:t>Value Proposition</a:t>
            </a:r>
          </a:p>
          <a:p>
            <a:pPr>
              <a:spcAft>
                <a:spcPts val="400"/>
              </a:spcAft>
              <a:defRPr sz="1200">
                <a:solidFill>
                  <a:srgbClr val="333333"/>
                </a:solidFill>
                <a:latin typeface="Calibri"/>
              </a:defRPr>
            </a:pPr>
            <a:r>
              <a:t>▸ Supplier qualification and PO tracking — aligned with 21 CFR 820 supplier controls</a:t>
            </a:r>
          </a:p>
          <a:p>
            <a:pPr>
              <a:spcAft>
                <a:spcPts val="400"/>
              </a:spcAft>
              <a:defRPr sz="1200">
                <a:solidFill>
                  <a:srgbClr val="333333"/>
                </a:solidFill>
                <a:latin typeface="Calibri"/>
              </a:defRPr>
            </a:pPr>
            <a:r>
              <a:t>▸ Status lifecycle: Under Review → Qualified → Active → On Hold → Rejected</a:t>
            </a:r>
          </a:p>
          <a:p>
            <a:pPr>
              <a:spcAft>
                <a:spcPts val="400"/>
              </a:spcAft>
              <a:defRPr sz="1200">
                <a:solidFill>
                  <a:srgbClr val="333333"/>
                </a:solidFill>
                <a:latin typeface="Calibri"/>
              </a:defRPr>
            </a:pPr>
            <a:r>
              <a:t>▸ Fields: component/part, lead time (days), PO status, contract mfg milestones</a:t>
            </a:r>
          </a:p>
          <a:p>
            <a:pPr>
              <a:spcAft>
                <a:spcPts val="400"/>
              </a:spcAft>
              <a:defRPr sz="1200">
                <a:solidFill>
                  <a:srgbClr val="333333"/>
                </a:solidFill>
                <a:latin typeface="Calibri"/>
              </a:defRPr>
            </a:pPr>
            <a:r>
              <a:t>▸ Qualification criteria: ISO 13485/9001 certs, test reports, business continuity plans</a:t>
            </a:r>
          </a:p>
          <a:p>
            <a:pPr>
              <a:spcAft>
                <a:spcPts val="400"/>
              </a:spcAft>
              <a:defRPr sz="1200">
                <a:solidFill>
                  <a:srgbClr val="333333"/>
                </a:solidFill>
                <a:latin typeface="Calibri"/>
              </a:defRPr>
            </a:pPr>
            <a:r>
              <a:t>▸ Critical for 510(k) — FDA expects documented supplier qualification in your QMS</a:t>
            </a:r>
          </a:p>
          <a:p>
            <a:pPr>
              <a:spcAft>
                <a:spcPts val="400"/>
              </a:spcAft>
              <a:defRPr sz="1200">
                <a:solidFill>
                  <a:srgbClr val="333333"/>
                </a:solidFill>
                <a:latin typeface="Calibri"/>
              </a:defRPr>
            </a:pPr>
            <a:r>
              <a:t>▸ Linked to project milestones — knows when a component's lead time threatens a gate review</a:t>
            </a:r>
          </a:p>
        </p:txBody>
      </p:sp>
      <p:sp>
        <p:nvSpPr>
          <p:cNvPr id="9" name="Rectangle 8"/>
          <p:cNvSpPr/>
          <p:nvPr/>
        </p:nvSpPr>
        <p:spPr>
          <a:xfrm>
            <a:off x="274320" y="5120640"/>
            <a:ext cx="11612880" cy="1463040"/>
          </a:xfrm>
          <a:prstGeom prst="rect">
            <a:avLst/>
          </a:prstGeom>
          <a:solidFill>
            <a:srgbClr val="F5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57200" y="5166360"/>
            <a:ext cx="2743200" cy="320040"/>
          </a:xfrm>
          <a:prstGeom prst="rect">
            <a:avLst/>
          </a:prstGeom>
          <a:noFill/>
        </p:spPr>
        <p:txBody>
          <a:bodyPr wrap="square">
            <a:spAutoFit/>
          </a:bodyPr>
          <a:lstStyle/>
          <a:p>
            <a:pPr algn="l">
              <a:defRPr sz="1300" b="1">
                <a:solidFill>
                  <a:srgbClr val="E53E3E"/>
                </a:solidFill>
                <a:latin typeface="Calibri"/>
              </a:defRPr>
            </a:pPr>
            <a:r>
              <a:t>Competitor Gap Analysis</a:t>
            </a:r>
          </a:p>
        </p:txBody>
      </p:sp>
      <p:sp>
        <p:nvSpPr>
          <p:cNvPr id="11" name="TextBox 10"/>
          <p:cNvSpPr txBox="1"/>
          <p:nvPr/>
        </p:nvSpPr>
        <p:spPr>
          <a:xfrm>
            <a:off x="457200" y="5440680"/>
            <a:ext cx="11247120" cy="1097280"/>
          </a:xfrm>
          <a:prstGeom prst="rect">
            <a:avLst/>
          </a:prstGeom>
          <a:noFill/>
        </p:spPr>
        <p:txBody>
          <a:bodyPr wrap="square">
            <a:spAutoFit/>
          </a:bodyPr>
          <a:lstStyle/>
          <a:p>
            <a:pPr algn="l">
              <a:defRPr sz="1200" b="0">
                <a:solidFill>
                  <a:srgbClr val="333333"/>
                </a:solidFill>
                <a:latin typeface="Calibri"/>
              </a:defRPr>
            </a:pPr>
            <a:r>
              <a:t>Arena Solutions (PTC) is a full PLM with BOM management but costs $1,000+/seat/yr. Control Tower provides the supplier qualification tracking FDA expects without the complexity of a full PLM — perfect for startups building their first device with 5-15 suppliers.</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05840"/>
          </a:xfrm>
          <a:prstGeom prst="rect">
            <a:avLst/>
          </a:prstGeom>
          <a:solidFill>
            <a:srgbClr val="0B23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37160"/>
            <a:ext cx="7315200" cy="457200"/>
          </a:xfrm>
          <a:prstGeom prst="rect">
            <a:avLst/>
          </a:prstGeom>
          <a:noFill/>
        </p:spPr>
        <p:txBody>
          <a:bodyPr wrap="square">
            <a:spAutoFit/>
          </a:bodyPr>
          <a:lstStyle/>
          <a:p>
            <a:pPr algn="l">
              <a:defRPr sz="1300" b="1">
                <a:solidFill>
                  <a:srgbClr val="009688"/>
                </a:solidFill>
                <a:latin typeface="Calibri"/>
              </a:defRPr>
            </a:pPr>
            <a:r>
              <a:t>COMMUNICATIONS</a:t>
            </a:r>
          </a:p>
        </p:txBody>
      </p:sp>
      <p:sp>
        <p:nvSpPr>
          <p:cNvPr id="4" name="TextBox 3"/>
          <p:cNvSpPr txBox="1"/>
          <p:nvPr/>
        </p:nvSpPr>
        <p:spPr>
          <a:xfrm>
            <a:off x="548640" y="411480"/>
            <a:ext cx="9144000" cy="502920"/>
          </a:xfrm>
          <a:prstGeom prst="rect">
            <a:avLst/>
          </a:prstGeom>
          <a:noFill/>
        </p:spPr>
        <p:txBody>
          <a:bodyPr wrap="square">
            <a:spAutoFit/>
          </a:bodyPr>
          <a:lstStyle/>
          <a:p>
            <a:pPr algn="l">
              <a:defRPr sz="2600" b="1">
                <a:solidFill>
                  <a:srgbClr val="FFFFFF"/>
                </a:solidFill>
                <a:latin typeface="Calibri"/>
              </a:defRPr>
            </a:pPr>
            <a:r>
              <a:t>Tab 15: Message Board</a:t>
            </a:r>
          </a:p>
        </p:txBody>
      </p:sp>
      <p:sp>
        <p:nvSpPr>
          <p:cNvPr id="5" name="TextBox 4"/>
          <p:cNvSpPr txBox="1"/>
          <p:nvPr/>
        </p:nvSpPr>
        <p:spPr>
          <a:xfrm>
            <a:off x="9601200" y="274320"/>
            <a:ext cx="2286000" cy="457200"/>
          </a:xfrm>
          <a:prstGeom prst="rect">
            <a:avLst/>
          </a:prstGeom>
          <a:noFill/>
        </p:spPr>
        <p:txBody>
          <a:bodyPr wrap="square">
            <a:spAutoFit/>
          </a:bodyPr>
          <a:lstStyle/>
          <a:p>
            <a:pPr algn="r">
              <a:defRPr sz="1600" b="1">
                <a:solidFill>
                  <a:srgbClr val="009688"/>
                </a:solidFill>
                <a:latin typeface="Calibri"/>
              </a:defRPr>
            </a:pPr>
            <a:r>
              <a:t>510(k) Bridge</a:t>
            </a:r>
          </a:p>
        </p:txBody>
      </p:sp>
      <p:sp>
        <p:nvSpPr>
          <p:cNvPr id="6" name="TextBox 5"/>
          <p:cNvSpPr txBox="1"/>
          <p:nvPr/>
        </p:nvSpPr>
        <p:spPr>
          <a:xfrm>
            <a:off x="9601200" y="548640"/>
            <a:ext cx="2286000" cy="365760"/>
          </a:xfrm>
          <a:prstGeom prst="rect">
            <a:avLst/>
          </a:prstGeom>
          <a:noFill/>
        </p:spPr>
        <p:txBody>
          <a:bodyPr wrap="square">
            <a:spAutoFit/>
          </a:bodyPr>
          <a:lstStyle/>
          <a:p>
            <a:pPr algn="r">
              <a:defRPr sz="1200" b="0">
                <a:solidFill>
                  <a:srgbClr val="FFFFFF"/>
                </a:solidFill>
                <a:latin typeface="Calibri"/>
              </a:defRPr>
            </a:pPr>
            <a:r>
              <a:t>Control Tower</a:t>
            </a:r>
          </a:p>
        </p:txBody>
      </p:sp>
      <p:pic>
        <p:nvPicPr>
          <p:cNvPr id="7" name="Picture 6" descr="message-board.png"/>
          <p:cNvPicPr>
            <a:picLocks noChangeAspect="1"/>
          </p:cNvPicPr>
          <p:nvPr/>
        </p:nvPicPr>
        <p:blipFill>
          <a:blip r:embed="rId2"/>
          <a:stretch>
            <a:fillRect/>
          </a:stretch>
        </p:blipFill>
        <p:spPr>
          <a:xfrm>
            <a:off x="365760" y="1188720"/>
            <a:ext cx="5669280" cy="3543300"/>
          </a:xfrm>
          <a:prstGeom prst="rect">
            <a:avLst/>
          </a:prstGeom>
        </p:spPr>
      </p:pic>
      <p:sp>
        <p:nvSpPr>
          <p:cNvPr id="8" name="TextBox 7"/>
          <p:cNvSpPr txBox="1"/>
          <p:nvPr/>
        </p:nvSpPr>
        <p:spPr>
          <a:xfrm>
            <a:off x="6309360" y="1188720"/>
            <a:ext cx="5486400" cy="3200400"/>
          </a:xfrm>
          <a:prstGeom prst="rect">
            <a:avLst/>
          </a:prstGeom>
          <a:noFill/>
        </p:spPr>
        <p:txBody>
          <a:bodyPr wrap="square">
            <a:spAutoFit/>
          </a:bodyPr>
          <a:lstStyle/>
          <a:p>
            <a:pPr>
              <a:spcAft>
                <a:spcPts val="800"/>
              </a:spcAft>
              <a:defRPr sz="1600" b="1">
                <a:solidFill>
                  <a:srgbClr val="009688"/>
                </a:solidFill>
                <a:latin typeface="Calibri"/>
              </a:defRPr>
            </a:pPr>
            <a:r>
              <a:t>Value Proposition</a:t>
            </a:r>
          </a:p>
          <a:p>
            <a:pPr>
              <a:spcAft>
                <a:spcPts val="400"/>
              </a:spcAft>
              <a:defRPr sz="1200">
                <a:solidFill>
                  <a:srgbClr val="333333"/>
                </a:solidFill>
                <a:latin typeface="Calibri"/>
              </a:defRPr>
            </a:pPr>
            <a:r>
              <a:t>▸ Cross-functional threaded discussions with decision &amp; action tracking</a:t>
            </a:r>
          </a:p>
          <a:p>
            <a:pPr>
              <a:spcAft>
                <a:spcPts val="400"/>
              </a:spcAft>
              <a:defRPr sz="1200">
                <a:solidFill>
                  <a:srgbClr val="333333"/>
                </a:solidFill>
                <a:latin typeface="Calibri"/>
              </a:defRPr>
            </a:pPr>
            <a:r>
              <a:t>▸ Workstreams: Technical, Regulatory, Business, Finance, Pre-Sub Questions, Other</a:t>
            </a:r>
          </a:p>
          <a:p>
            <a:pPr>
              <a:spcAft>
                <a:spcPts val="400"/>
              </a:spcAft>
              <a:defRPr sz="1200">
                <a:solidFill>
                  <a:srgbClr val="333333"/>
                </a:solidFill>
                <a:latin typeface="Calibri"/>
              </a:defRPr>
            </a:pPr>
            <a:r>
              <a:t>▸ Intent tags: Discuss, Decide, Inform, Escalate — every conversation has purpose</a:t>
            </a:r>
          </a:p>
          <a:p>
            <a:pPr>
              <a:spcAft>
                <a:spcPts val="400"/>
              </a:spcAft>
              <a:defRPr sz="1200">
                <a:solidFill>
                  <a:srgbClr val="333333"/>
                </a:solidFill>
                <a:latin typeface="Calibri"/>
              </a:defRPr>
            </a:pPr>
            <a:r>
              <a:t>▸ [DECISION] and [ACTION] message prefixes for traceability</a:t>
            </a:r>
          </a:p>
          <a:p>
            <a:pPr>
              <a:spcAft>
                <a:spcPts val="400"/>
              </a:spcAft>
              <a:defRPr sz="1200">
                <a:solidFill>
                  <a:srgbClr val="333333"/>
                </a:solidFill>
                <a:latin typeface="Calibri"/>
              </a:defRPr>
            </a:pPr>
            <a:r>
              <a:t>▸ Pre-Sub Questions workstream: collaboratively author FDA questions → export to FDA Comms</a:t>
            </a:r>
          </a:p>
          <a:p>
            <a:pPr>
              <a:spcAft>
                <a:spcPts val="400"/>
              </a:spcAft>
              <a:defRPr sz="1200">
                <a:solidFill>
                  <a:srgbClr val="333333"/>
                </a:solidFill>
                <a:latin typeface="Calibri"/>
              </a:defRPr>
            </a:pPr>
            <a:r>
              <a:t>▸ Views: All Threads, My Items, Decisions, Executive — filter by lifecycle (Open/Resolved)</a:t>
            </a:r>
          </a:p>
        </p:txBody>
      </p:sp>
      <p:sp>
        <p:nvSpPr>
          <p:cNvPr id="9" name="Rectangle 8"/>
          <p:cNvSpPr/>
          <p:nvPr/>
        </p:nvSpPr>
        <p:spPr>
          <a:xfrm>
            <a:off x="274320" y="5120640"/>
            <a:ext cx="11612880" cy="1463040"/>
          </a:xfrm>
          <a:prstGeom prst="rect">
            <a:avLst/>
          </a:prstGeom>
          <a:solidFill>
            <a:srgbClr val="F5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57200" y="5166360"/>
            <a:ext cx="2743200" cy="320040"/>
          </a:xfrm>
          <a:prstGeom prst="rect">
            <a:avLst/>
          </a:prstGeom>
          <a:noFill/>
        </p:spPr>
        <p:txBody>
          <a:bodyPr wrap="square">
            <a:spAutoFit/>
          </a:bodyPr>
          <a:lstStyle/>
          <a:p>
            <a:pPr algn="l">
              <a:defRPr sz="1300" b="1">
                <a:solidFill>
                  <a:srgbClr val="E53E3E"/>
                </a:solidFill>
                <a:latin typeface="Calibri"/>
              </a:defRPr>
            </a:pPr>
            <a:r>
              <a:t>Competitor Gap Analysis</a:t>
            </a:r>
          </a:p>
        </p:txBody>
      </p:sp>
      <p:sp>
        <p:nvSpPr>
          <p:cNvPr id="11" name="TextBox 10"/>
          <p:cNvSpPr txBox="1"/>
          <p:nvPr/>
        </p:nvSpPr>
        <p:spPr>
          <a:xfrm>
            <a:off x="457200" y="5440680"/>
            <a:ext cx="11247120" cy="1097280"/>
          </a:xfrm>
          <a:prstGeom prst="rect">
            <a:avLst/>
          </a:prstGeom>
          <a:noFill/>
        </p:spPr>
        <p:txBody>
          <a:bodyPr wrap="square">
            <a:spAutoFit/>
          </a:bodyPr>
          <a:lstStyle/>
          <a:p>
            <a:pPr algn="l">
              <a:defRPr sz="1200" b="0">
                <a:solidFill>
                  <a:srgbClr val="333333"/>
                </a:solidFill>
                <a:latin typeface="Calibri"/>
              </a:defRPr>
            </a:pPr>
            <a:r>
              <a:t>Slack, Teams, and email are where medical device decisions die — critical regulatory decisions buried in chat streams with no traceability. Control Tower's Message Board captures every decision with role attribution, timestamps, and the ability to spawn action items — then exports Pre-Sub questions directly to the FDA Communications Center.</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05840"/>
          </a:xfrm>
          <a:prstGeom prst="rect">
            <a:avLst/>
          </a:prstGeom>
          <a:solidFill>
            <a:srgbClr val="0B23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37160"/>
            <a:ext cx="7315200" cy="457200"/>
          </a:xfrm>
          <a:prstGeom prst="rect">
            <a:avLst/>
          </a:prstGeom>
          <a:noFill/>
        </p:spPr>
        <p:txBody>
          <a:bodyPr wrap="square">
            <a:spAutoFit/>
          </a:bodyPr>
          <a:lstStyle/>
          <a:p>
            <a:pPr algn="l">
              <a:defRPr sz="1300" b="1">
                <a:solidFill>
                  <a:srgbClr val="009688"/>
                </a:solidFill>
                <a:latin typeface="Calibri"/>
              </a:defRPr>
            </a:pPr>
            <a:r>
              <a:t>REGULATORY</a:t>
            </a:r>
          </a:p>
        </p:txBody>
      </p:sp>
      <p:sp>
        <p:nvSpPr>
          <p:cNvPr id="4" name="TextBox 3"/>
          <p:cNvSpPr txBox="1"/>
          <p:nvPr/>
        </p:nvSpPr>
        <p:spPr>
          <a:xfrm>
            <a:off x="548640" y="411480"/>
            <a:ext cx="9144000" cy="502920"/>
          </a:xfrm>
          <a:prstGeom prst="rect">
            <a:avLst/>
          </a:prstGeom>
          <a:noFill/>
        </p:spPr>
        <p:txBody>
          <a:bodyPr wrap="square">
            <a:spAutoFit/>
          </a:bodyPr>
          <a:lstStyle/>
          <a:p>
            <a:pPr algn="l">
              <a:defRPr sz="2600" b="1">
                <a:solidFill>
                  <a:srgbClr val="FFFFFF"/>
                </a:solidFill>
                <a:latin typeface="Calibri"/>
              </a:defRPr>
            </a:pPr>
            <a:r>
              <a:t>Tab 16: Predicate Finder</a:t>
            </a:r>
          </a:p>
        </p:txBody>
      </p:sp>
      <p:sp>
        <p:nvSpPr>
          <p:cNvPr id="5" name="TextBox 4"/>
          <p:cNvSpPr txBox="1"/>
          <p:nvPr/>
        </p:nvSpPr>
        <p:spPr>
          <a:xfrm>
            <a:off x="9601200" y="274320"/>
            <a:ext cx="2286000" cy="457200"/>
          </a:xfrm>
          <a:prstGeom prst="rect">
            <a:avLst/>
          </a:prstGeom>
          <a:noFill/>
        </p:spPr>
        <p:txBody>
          <a:bodyPr wrap="square">
            <a:spAutoFit/>
          </a:bodyPr>
          <a:lstStyle/>
          <a:p>
            <a:pPr algn="r">
              <a:defRPr sz="1600" b="1">
                <a:solidFill>
                  <a:srgbClr val="009688"/>
                </a:solidFill>
                <a:latin typeface="Calibri"/>
              </a:defRPr>
            </a:pPr>
            <a:r>
              <a:t>510(k) Bridge</a:t>
            </a:r>
          </a:p>
        </p:txBody>
      </p:sp>
      <p:sp>
        <p:nvSpPr>
          <p:cNvPr id="6" name="TextBox 5"/>
          <p:cNvSpPr txBox="1"/>
          <p:nvPr/>
        </p:nvSpPr>
        <p:spPr>
          <a:xfrm>
            <a:off x="9601200" y="548640"/>
            <a:ext cx="2286000" cy="365760"/>
          </a:xfrm>
          <a:prstGeom prst="rect">
            <a:avLst/>
          </a:prstGeom>
          <a:noFill/>
        </p:spPr>
        <p:txBody>
          <a:bodyPr wrap="square">
            <a:spAutoFit/>
          </a:bodyPr>
          <a:lstStyle/>
          <a:p>
            <a:pPr algn="r">
              <a:defRPr sz="1200" b="0">
                <a:solidFill>
                  <a:srgbClr val="FFFFFF"/>
                </a:solidFill>
                <a:latin typeface="Calibri"/>
              </a:defRPr>
            </a:pPr>
            <a:r>
              <a:t>Control Tower</a:t>
            </a:r>
          </a:p>
        </p:txBody>
      </p:sp>
      <p:sp>
        <p:nvSpPr>
          <p:cNvPr id="7" name="TextBox 6"/>
          <p:cNvSpPr txBox="1"/>
          <p:nvPr/>
        </p:nvSpPr>
        <p:spPr>
          <a:xfrm>
            <a:off x="731520" y="1188720"/>
            <a:ext cx="10515600" cy="3200400"/>
          </a:xfrm>
          <a:prstGeom prst="rect">
            <a:avLst/>
          </a:prstGeom>
          <a:noFill/>
        </p:spPr>
        <p:txBody>
          <a:bodyPr wrap="square">
            <a:spAutoFit/>
          </a:bodyPr>
          <a:lstStyle/>
          <a:p>
            <a:pPr>
              <a:spcAft>
                <a:spcPts val="800"/>
              </a:spcAft>
              <a:defRPr sz="1600" b="1">
                <a:solidFill>
                  <a:srgbClr val="009688"/>
                </a:solidFill>
                <a:latin typeface="Calibri"/>
              </a:defRPr>
            </a:pPr>
            <a:r>
              <a:t>Value Proposition</a:t>
            </a:r>
          </a:p>
          <a:p>
            <a:pPr>
              <a:spcAft>
                <a:spcPts val="400"/>
              </a:spcAft>
              <a:defRPr sz="1200">
                <a:solidFill>
                  <a:srgbClr val="333333"/>
                </a:solidFill>
                <a:latin typeface="Calibri"/>
              </a:defRPr>
            </a:pPr>
            <a:r>
              <a:t>▸ Standalone SaaS tool powered by openFDA — search 200K+ cleared 510(k) devices</a:t>
            </a:r>
          </a:p>
          <a:p>
            <a:pPr>
              <a:spcAft>
                <a:spcPts val="400"/>
              </a:spcAft>
              <a:defRPr sz="1200">
                <a:solidFill>
                  <a:srgbClr val="333333"/>
                </a:solidFill>
                <a:latin typeface="Calibri"/>
              </a:defRPr>
            </a:pPr>
            <a:r>
              <a:t>▸ Search by product code, applicant, device name, or K-number</a:t>
            </a:r>
          </a:p>
          <a:p>
            <a:pPr>
              <a:spcAft>
                <a:spcPts val="400"/>
              </a:spcAft>
              <a:defRPr sz="1200">
                <a:solidFill>
                  <a:srgbClr val="333333"/>
                </a:solidFill>
                <a:latin typeface="Calibri"/>
              </a:defRPr>
            </a:pPr>
            <a:r>
              <a:t>▸ Real-time FDA database queries — always current data, no stale exports</a:t>
            </a:r>
          </a:p>
          <a:p>
            <a:pPr>
              <a:spcAft>
                <a:spcPts val="400"/>
              </a:spcAft>
              <a:defRPr sz="1200">
                <a:solidFill>
                  <a:srgbClr val="333333"/>
                </a:solidFill>
                <a:latin typeface="Calibri"/>
              </a:defRPr>
            </a:pPr>
            <a:r>
              <a:t>▸ One-click predicate selection — feeds directly into your 510(k) project</a:t>
            </a:r>
          </a:p>
          <a:p>
            <a:pPr>
              <a:spcAft>
                <a:spcPts val="400"/>
              </a:spcAft>
              <a:defRPr sz="1200">
                <a:solidFill>
                  <a:srgbClr val="333333"/>
                </a:solidFill>
                <a:latin typeface="Calibri"/>
              </a:defRPr>
            </a:pPr>
            <a:r>
              <a:t>▸ Decision number, clearance date, product code, and statement links for every result</a:t>
            </a:r>
          </a:p>
          <a:p>
            <a:pPr>
              <a:spcAft>
                <a:spcPts val="400"/>
              </a:spcAft>
              <a:defRPr sz="1200">
                <a:solidFill>
                  <a:srgbClr val="333333"/>
                </a:solidFill>
                <a:latin typeface="Calibri"/>
              </a:defRPr>
            </a:pPr>
            <a:r>
              <a:t>▸ Free tier access — available even without a Control Tower subscription</a:t>
            </a:r>
          </a:p>
        </p:txBody>
      </p:sp>
      <p:sp>
        <p:nvSpPr>
          <p:cNvPr id="8" name="Rectangle 7"/>
          <p:cNvSpPr/>
          <p:nvPr/>
        </p:nvSpPr>
        <p:spPr>
          <a:xfrm>
            <a:off x="274320" y="5120640"/>
            <a:ext cx="11612880" cy="1463040"/>
          </a:xfrm>
          <a:prstGeom prst="rect">
            <a:avLst/>
          </a:prstGeom>
          <a:solidFill>
            <a:srgbClr val="F5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57200" y="5166360"/>
            <a:ext cx="2743200" cy="320040"/>
          </a:xfrm>
          <a:prstGeom prst="rect">
            <a:avLst/>
          </a:prstGeom>
          <a:noFill/>
        </p:spPr>
        <p:txBody>
          <a:bodyPr wrap="square">
            <a:spAutoFit/>
          </a:bodyPr>
          <a:lstStyle/>
          <a:p>
            <a:pPr algn="l">
              <a:defRPr sz="1300" b="1">
                <a:solidFill>
                  <a:srgbClr val="E53E3E"/>
                </a:solidFill>
                <a:latin typeface="Calibri"/>
              </a:defRPr>
            </a:pPr>
            <a:r>
              <a:t>Competitor Gap Analysis</a:t>
            </a:r>
          </a:p>
        </p:txBody>
      </p:sp>
      <p:sp>
        <p:nvSpPr>
          <p:cNvPr id="10" name="TextBox 9"/>
          <p:cNvSpPr txBox="1"/>
          <p:nvPr/>
        </p:nvSpPr>
        <p:spPr>
          <a:xfrm>
            <a:off x="457200" y="5440680"/>
            <a:ext cx="11247120" cy="1097280"/>
          </a:xfrm>
          <a:prstGeom prst="rect">
            <a:avLst/>
          </a:prstGeom>
          <a:noFill/>
        </p:spPr>
        <p:txBody>
          <a:bodyPr wrap="square">
            <a:spAutoFit/>
          </a:bodyPr>
          <a:lstStyle/>
          <a:p>
            <a:pPr algn="l">
              <a:defRPr sz="1200" b="0">
                <a:solidFill>
                  <a:srgbClr val="333333"/>
                </a:solidFill>
                <a:latin typeface="Calibri"/>
              </a:defRPr>
            </a:pPr>
            <a:r>
              <a:t>Regulatory teams currently search FDA's 510(k) database manually via clunky FDA.gov search. No competitor integrates predicate device search directly into the 510(k) workflow. Control Tower's Predicate Finder automates the most critical first step in a 510(k) — identifying your predicate device — and links it directly into your project.</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05840"/>
          </a:xfrm>
          <a:prstGeom prst="rect">
            <a:avLst/>
          </a:prstGeom>
          <a:solidFill>
            <a:srgbClr val="0B23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37160"/>
            <a:ext cx="7315200" cy="457200"/>
          </a:xfrm>
          <a:prstGeom prst="rect">
            <a:avLst/>
          </a:prstGeom>
          <a:noFill/>
        </p:spPr>
        <p:txBody>
          <a:bodyPr wrap="square">
            <a:spAutoFit/>
          </a:bodyPr>
          <a:lstStyle/>
          <a:p>
            <a:pPr algn="l">
              <a:defRPr sz="1300" b="1">
                <a:solidFill>
                  <a:srgbClr val="009688"/>
                </a:solidFill>
                <a:latin typeface="Calibri"/>
              </a:defRPr>
            </a:pPr>
            <a:r>
              <a:t>REGULATORY</a:t>
            </a:r>
          </a:p>
        </p:txBody>
      </p:sp>
      <p:sp>
        <p:nvSpPr>
          <p:cNvPr id="4" name="TextBox 3"/>
          <p:cNvSpPr txBox="1"/>
          <p:nvPr/>
        </p:nvSpPr>
        <p:spPr>
          <a:xfrm>
            <a:off x="548640" y="411480"/>
            <a:ext cx="9144000" cy="502920"/>
          </a:xfrm>
          <a:prstGeom prst="rect">
            <a:avLst/>
          </a:prstGeom>
          <a:noFill/>
        </p:spPr>
        <p:txBody>
          <a:bodyPr wrap="square">
            <a:spAutoFit/>
          </a:bodyPr>
          <a:lstStyle/>
          <a:p>
            <a:pPr algn="l">
              <a:defRPr sz="2600" b="1">
                <a:solidFill>
                  <a:srgbClr val="FFFFFF"/>
                </a:solidFill>
                <a:latin typeface="Calibri"/>
              </a:defRPr>
            </a:pPr>
            <a:r>
              <a:t>Tab 17: FDA Guidance Document Search</a:t>
            </a:r>
          </a:p>
        </p:txBody>
      </p:sp>
      <p:sp>
        <p:nvSpPr>
          <p:cNvPr id="5" name="TextBox 4"/>
          <p:cNvSpPr txBox="1"/>
          <p:nvPr/>
        </p:nvSpPr>
        <p:spPr>
          <a:xfrm>
            <a:off x="9601200" y="274320"/>
            <a:ext cx="2286000" cy="457200"/>
          </a:xfrm>
          <a:prstGeom prst="rect">
            <a:avLst/>
          </a:prstGeom>
          <a:noFill/>
        </p:spPr>
        <p:txBody>
          <a:bodyPr wrap="square">
            <a:spAutoFit/>
          </a:bodyPr>
          <a:lstStyle/>
          <a:p>
            <a:pPr algn="r">
              <a:defRPr sz="1600" b="1">
                <a:solidFill>
                  <a:srgbClr val="009688"/>
                </a:solidFill>
                <a:latin typeface="Calibri"/>
              </a:defRPr>
            </a:pPr>
            <a:r>
              <a:t>510(k) Bridge</a:t>
            </a:r>
          </a:p>
        </p:txBody>
      </p:sp>
      <p:sp>
        <p:nvSpPr>
          <p:cNvPr id="6" name="TextBox 5"/>
          <p:cNvSpPr txBox="1"/>
          <p:nvPr/>
        </p:nvSpPr>
        <p:spPr>
          <a:xfrm>
            <a:off x="9601200" y="548640"/>
            <a:ext cx="2286000" cy="365760"/>
          </a:xfrm>
          <a:prstGeom prst="rect">
            <a:avLst/>
          </a:prstGeom>
          <a:noFill/>
        </p:spPr>
        <p:txBody>
          <a:bodyPr wrap="square">
            <a:spAutoFit/>
          </a:bodyPr>
          <a:lstStyle/>
          <a:p>
            <a:pPr algn="r">
              <a:defRPr sz="1200" b="0">
                <a:solidFill>
                  <a:srgbClr val="FFFFFF"/>
                </a:solidFill>
                <a:latin typeface="Calibri"/>
              </a:defRPr>
            </a:pPr>
            <a:r>
              <a:t>Control Tower</a:t>
            </a:r>
          </a:p>
        </p:txBody>
      </p:sp>
      <p:sp>
        <p:nvSpPr>
          <p:cNvPr id="7" name="TextBox 6"/>
          <p:cNvSpPr txBox="1"/>
          <p:nvPr/>
        </p:nvSpPr>
        <p:spPr>
          <a:xfrm>
            <a:off x="731520" y="1188720"/>
            <a:ext cx="10515600" cy="3200400"/>
          </a:xfrm>
          <a:prstGeom prst="rect">
            <a:avLst/>
          </a:prstGeom>
          <a:noFill/>
        </p:spPr>
        <p:txBody>
          <a:bodyPr wrap="square">
            <a:spAutoFit/>
          </a:bodyPr>
          <a:lstStyle/>
          <a:p>
            <a:pPr>
              <a:spcAft>
                <a:spcPts val="800"/>
              </a:spcAft>
              <a:defRPr sz="1600" b="1">
                <a:solidFill>
                  <a:srgbClr val="009688"/>
                </a:solidFill>
                <a:latin typeface="Calibri"/>
              </a:defRPr>
            </a:pPr>
            <a:r>
              <a:t>Value Proposition</a:t>
            </a:r>
          </a:p>
          <a:p>
            <a:pPr>
              <a:spcAft>
                <a:spcPts val="400"/>
              </a:spcAft>
              <a:defRPr sz="1200">
                <a:solidFill>
                  <a:srgbClr val="333333"/>
                </a:solidFill>
                <a:latin typeface="Calibri"/>
              </a:defRPr>
            </a:pPr>
            <a:r>
              <a:t>▸ Searchable database of FDA guidance documents relevant to 510(k) submissions</a:t>
            </a:r>
          </a:p>
          <a:p>
            <a:pPr>
              <a:spcAft>
                <a:spcPts val="400"/>
              </a:spcAft>
              <a:defRPr sz="1200">
                <a:solidFill>
                  <a:srgbClr val="333333"/>
                </a:solidFill>
                <a:latin typeface="Calibri"/>
              </a:defRPr>
            </a:pPr>
            <a:r>
              <a:t>▸ Filter by device type, topic area, publication date, and draft/final status</a:t>
            </a:r>
          </a:p>
          <a:p>
            <a:pPr>
              <a:spcAft>
                <a:spcPts val="400"/>
              </a:spcAft>
              <a:defRPr sz="1200">
                <a:solidFill>
                  <a:srgbClr val="333333"/>
                </a:solidFill>
                <a:latin typeface="Calibri"/>
              </a:defRPr>
            </a:pPr>
            <a:r>
              <a:t>▸ Quick-reference summaries — understand guidance applicability without reading 100-page PDFs</a:t>
            </a:r>
          </a:p>
          <a:p>
            <a:pPr>
              <a:spcAft>
                <a:spcPts val="400"/>
              </a:spcAft>
              <a:defRPr sz="1200">
                <a:solidFill>
                  <a:srgbClr val="333333"/>
                </a:solidFill>
                <a:latin typeface="Calibri"/>
              </a:defRPr>
            </a:pPr>
            <a:r>
              <a:t>▸ Links to official FDA.gov source documents for citation in submissions</a:t>
            </a:r>
          </a:p>
          <a:p>
            <a:pPr>
              <a:spcAft>
                <a:spcPts val="400"/>
              </a:spcAft>
              <a:defRPr sz="1200">
                <a:solidFill>
                  <a:srgbClr val="333333"/>
                </a:solidFill>
                <a:latin typeface="Calibri"/>
              </a:defRPr>
            </a:pPr>
            <a:r>
              <a:t>▸ Guidance bookmarks — save frequently referenced documents for easy access</a:t>
            </a:r>
          </a:p>
          <a:p>
            <a:pPr>
              <a:spcAft>
                <a:spcPts val="400"/>
              </a:spcAft>
              <a:defRPr sz="1200">
                <a:solidFill>
                  <a:srgbClr val="333333"/>
                </a:solidFill>
                <a:latin typeface="Calibri"/>
              </a:defRPr>
            </a:pPr>
            <a:r>
              <a:t>▸ Auto-suggestions based on your device template and applicable standards</a:t>
            </a:r>
          </a:p>
        </p:txBody>
      </p:sp>
      <p:sp>
        <p:nvSpPr>
          <p:cNvPr id="8" name="Rectangle 7"/>
          <p:cNvSpPr/>
          <p:nvPr/>
        </p:nvSpPr>
        <p:spPr>
          <a:xfrm>
            <a:off x="274320" y="5120640"/>
            <a:ext cx="11612880" cy="1463040"/>
          </a:xfrm>
          <a:prstGeom prst="rect">
            <a:avLst/>
          </a:prstGeom>
          <a:solidFill>
            <a:srgbClr val="F5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57200" y="5166360"/>
            <a:ext cx="2743200" cy="320040"/>
          </a:xfrm>
          <a:prstGeom prst="rect">
            <a:avLst/>
          </a:prstGeom>
          <a:noFill/>
        </p:spPr>
        <p:txBody>
          <a:bodyPr wrap="square">
            <a:spAutoFit/>
          </a:bodyPr>
          <a:lstStyle/>
          <a:p>
            <a:pPr algn="l">
              <a:defRPr sz="1300" b="1">
                <a:solidFill>
                  <a:srgbClr val="E53E3E"/>
                </a:solidFill>
                <a:latin typeface="Calibri"/>
              </a:defRPr>
            </a:pPr>
            <a:r>
              <a:t>Competitor Gap Analysis</a:t>
            </a:r>
          </a:p>
        </p:txBody>
      </p:sp>
      <p:sp>
        <p:nvSpPr>
          <p:cNvPr id="10" name="TextBox 9"/>
          <p:cNvSpPr txBox="1"/>
          <p:nvPr/>
        </p:nvSpPr>
        <p:spPr>
          <a:xfrm>
            <a:off x="457200" y="5440680"/>
            <a:ext cx="11247120" cy="1097280"/>
          </a:xfrm>
          <a:prstGeom prst="rect">
            <a:avLst/>
          </a:prstGeom>
          <a:noFill/>
        </p:spPr>
        <p:txBody>
          <a:bodyPr wrap="square">
            <a:spAutoFit/>
          </a:bodyPr>
          <a:lstStyle/>
          <a:p>
            <a:pPr algn="l">
              <a:defRPr sz="1200" b="0">
                <a:solidFill>
                  <a:srgbClr val="333333"/>
                </a:solidFill>
                <a:latin typeface="Calibri"/>
              </a:defRPr>
            </a:pPr>
            <a:r>
              <a:t>Regulatory professionals spend hours searching FDA.gov for relevant guidance documents. No competitor platform indexes or surfaces FDA guidance within the project context. Control Tower puts guidance discovery inside the workflow where it's needed — eliminating the tab-switching and manual searching that slows regulatory strategy.</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05840"/>
          </a:xfrm>
          <a:prstGeom prst="rect">
            <a:avLst/>
          </a:prstGeom>
          <a:solidFill>
            <a:srgbClr val="0B23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37160"/>
            <a:ext cx="7315200" cy="457200"/>
          </a:xfrm>
          <a:prstGeom prst="rect">
            <a:avLst/>
          </a:prstGeom>
          <a:noFill/>
        </p:spPr>
        <p:txBody>
          <a:bodyPr wrap="square">
            <a:spAutoFit/>
          </a:bodyPr>
          <a:lstStyle/>
          <a:p>
            <a:pPr algn="l">
              <a:defRPr sz="1300" b="1">
                <a:solidFill>
                  <a:srgbClr val="009688"/>
                </a:solidFill>
                <a:latin typeface="Calibri"/>
              </a:defRPr>
            </a:pPr>
            <a:r>
              <a:t>CROSS-CUTTING FEATURES</a:t>
            </a:r>
          </a:p>
        </p:txBody>
      </p:sp>
      <p:sp>
        <p:nvSpPr>
          <p:cNvPr id="4" name="TextBox 3"/>
          <p:cNvSpPr txBox="1"/>
          <p:nvPr/>
        </p:nvSpPr>
        <p:spPr>
          <a:xfrm>
            <a:off x="548640" y="411480"/>
            <a:ext cx="9144000" cy="502920"/>
          </a:xfrm>
          <a:prstGeom prst="rect">
            <a:avLst/>
          </a:prstGeom>
          <a:noFill/>
        </p:spPr>
        <p:txBody>
          <a:bodyPr wrap="square">
            <a:spAutoFit/>
          </a:bodyPr>
          <a:lstStyle/>
          <a:p>
            <a:pPr algn="l">
              <a:defRPr sz="2600" b="1">
                <a:solidFill>
                  <a:srgbClr val="FFFFFF"/>
                </a:solidFill>
                <a:latin typeface="Calibri"/>
              </a:defRPr>
            </a:pPr>
            <a:r>
              <a:t>Stakeholder Inputs &amp; Change Requests</a:t>
            </a:r>
          </a:p>
        </p:txBody>
      </p:sp>
      <p:sp>
        <p:nvSpPr>
          <p:cNvPr id="5" name="TextBox 4"/>
          <p:cNvSpPr txBox="1"/>
          <p:nvPr/>
        </p:nvSpPr>
        <p:spPr>
          <a:xfrm>
            <a:off x="9601200" y="274320"/>
            <a:ext cx="2286000" cy="457200"/>
          </a:xfrm>
          <a:prstGeom prst="rect">
            <a:avLst/>
          </a:prstGeom>
          <a:noFill/>
        </p:spPr>
        <p:txBody>
          <a:bodyPr wrap="square">
            <a:spAutoFit/>
          </a:bodyPr>
          <a:lstStyle/>
          <a:p>
            <a:pPr algn="r">
              <a:defRPr sz="1600" b="1">
                <a:solidFill>
                  <a:srgbClr val="009688"/>
                </a:solidFill>
                <a:latin typeface="Calibri"/>
              </a:defRPr>
            </a:pPr>
            <a:r>
              <a:t>510(k) Bridge</a:t>
            </a:r>
          </a:p>
        </p:txBody>
      </p:sp>
      <p:sp>
        <p:nvSpPr>
          <p:cNvPr id="6" name="TextBox 5"/>
          <p:cNvSpPr txBox="1"/>
          <p:nvPr/>
        </p:nvSpPr>
        <p:spPr>
          <a:xfrm>
            <a:off x="731520" y="1188720"/>
            <a:ext cx="5303520" cy="3200400"/>
          </a:xfrm>
          <a:prstGeom prst="rect">
            <a:avLst/>
          </a:prstGeom>
          <a:noFill/>
        </p:spPr>
        <p:txBody>
          <a:bodyPr wrap="square">
            <a:spAutoFit/>
          </a:bodyPr>
          <a:lstStyle/>
          <a:p>
            <a:pPr>
              <a:spcAft>
                <a:spcPts val="800"/>
              </a:spcAft>
              <a:defRPr sz="1800" b="1">
                <a:solidFill>
                  <a:srgbClr val="009688"/>
                </a:solidFill>
                <a:latin typeface="Calibri"/>
              </a:defRPr>
            </a:pPr>
            <a:r>
              <a:t>Stakeholder Inputs</a:t>
            </a:r>
          </a:p>
          <a:p>
            <a:pPr>
              <a:spcAft>
                <a:spcPts val="400"/>
              </a:spcAft>
              <a:defRPr sz="1300">
                <a:solidFill>
                  <a:srgbClr val="333333"/>
                </a:solidFill>
                <a:latin typeface="Calibri"/>
              </a:defRPr>
            </a:pPr>
            <a:r>
              <a:t>▸ Floating 📥 button on every Gate System page — opens a side panel</a:t>
            </a:r>
          </a:p>
          <a:p>
            <a:pPr>
              <a:spcAft>
                <a:spcPts val="400"/>
              </a:spcAft>
              <a:defRPr sz="1300">
                <a:solidFill>
                  <a:srgbClr val="333333"/>
                </a:solidFill>
                <a:latin typeface="Calibri"/>
              </a:defRPr>
            </a:pPr>
            <a:r>
              <a:t>▸ Tech &amp; Business stakeholders submit structured input per gate</a:t>
            </a:r>
          </a:p>
          <a:p>
            <a:pPr>
              <a:spcAft>
                <a:spcPts val="400"/>
              </a:spcAft>
              <a:defRPr sz="1300">
                <a:solidFill>
                  <a:srgbClr val="333333"/>
                </a:solidFill>
                <a:latin typeface="Calibri"/>
              </a:defRPr>
            </a:pPr>
            <a:r>
              <a:t>▸ Fields: gate selection, input type (Technical/Business/Risk/Resource/Other), free-text notes</a:t>
            </a:r>
          </a:p>
          <a:p>
            <a:pPr>
              <a:spcAft>
                <a:spcPts val="400"/>
              </a:spcAft>
              <a:defRPr sz="1300">
                <a:solidFill>
                  <a:srgbClr val="333333"/>
                </a:solidFill>
                <a:latin typeface="Calibri"/>
              </a:defRPr>
            </a:pPr>
            <a:r>
              <a:t>▸ PMP sees all submissions in the gate detail view — organized by contributor</a:t>
            </a:r>
          </a:p>
          <a:p>
            <a:pPr>
              <a:spcAft>
                <a:spcPts val="400"/>
              </a:spcAft>
              <a:defRPr sz="1300">
                <a:solidFill>
                  <a:srgbClr val="333333"/>
                </a:solidFill>
                <a:latin typeface="Calibri"/>
              </a:defRPr>
            </a:pPr>
            <a:r>
              <a:t>▸ Inputs feed directly into gate decisions — no more hunting through email/Slack</a:t>
            </a:r>
          </a:p>
          <a:p>
            <a:pPr>
              <a:spcAft>
                <a:spcPts val="400"/>
              </a:spcAft>
              <a:defRPr sz="1300">
                <a:solidFill>
                  <a:srgbClr val="333333"/>
                </a:solidFill>
                <a:latin typeface="Calibri"/>
              </a:defRPr>
            </a:pPr>
            <a:r>
              <a:t>▸ Ensures cross-functional voices are captured before gate reviews</a:t>
            </a:r>
          </a:p>
        </p:txBody>
      </p:sp>
      <p:sp>
        <p:nvSpPr>
          <p:cNvPr id="7" name="TextBox 6"/>
          <p:cNvSpPr txBox="1"/>
          <p:nvPr/>
        </p:nvSpPr>
        <p:spPr>
          <a:xfrm>
            <a:off x="6400800" y="1188720"/>
            <a:ext cx="5303520" cy="3200400"/>
          </a:xfrm>
          <a:prstGeom prst="rect">
            <a:avLst/>
          </a:prstGeom>
          <a:noFill/>
        </p:spPr>
        <p:txBody>
          <a:bodyPr wrap="square">
            <a:spAutoFit/>
          </a:bodyPr>
          <a:lstStyle/>
          <a:p>
            <a:pPr>
              <a:spcAft>
                <a:spcPts val="800"/>
              </a:spcAft>
              <a:defRPr sz="1800" b="1">
                <a:solidFill>
                  <a:srgbClr val="009688"/>
                </a:solidFill>
                <a:latin typeface="Calibri"/>
              </a:defRPr>
            </a:pPr>
            <a:r>
              <a:t>Change Request Workflow</a:t>
            </a:r>
          </a:p>
          <a:p>
            <a:pPr>
              <a:spcAft>
                <a:spcPts val="400"/>
              </a:spcAft>
              <a:defRPr sz="1300">
                <a:solidFill>
                  <a:srgbClr val="333333"/>
                </a:solidFill>
                <a:latin typeface="Calibri"/>
              </a:defRPr>
            </a:pPr>
            <a:r>
              <a:t>▸ Non-PMP team members can request changes via structured Change Request form</a:t>
            </a:r>
          </a:p>
          <a:p>
            <a:pPr>
              <a:spcAft>
                <a:spcPts val="400"/>
              </a:spcAft>
              <a:defRPr sz="1300">
                <a:solidFill>
                  <a:srgbClr val="333333"/>
                </a:solidFill>
                <a:latin typeface="Calibri"/>
              </a:defRPr>
            </a:pPr>
            <a:r>
              <a:t>▸ Covers: milestone dates, budget adjustments, risk re-assessments, resource reallocations</a:t>
            </a:r>
          </a:p>
          <a:p>
            <a:pPr>
              <a:spcAft>
                <a:spcPts val="400"/>
              </a:spcAft>
              <a:defRPr sz="1300">
                <a:solidFill>
                  <a:srgbClr val="333333"/>
                </a:solidFill>
                <a:latin typeface="Calibri"/>
              </a:defRPr>
            </a:pPr>
            <a:r>
              <a:t>▸ PMP reviews and approves/rejects with timestamp, rationale, and audit trail</a:t>
            </a:r>
          </a:p>
          <a:p>
            <a:pPr>
              <a:spcAft>
                <a:spcPts val="400"/>
              </a:spcAft>
              <a:defRPr sz="1300">
                <a:solidFill>
                  <a:srgbClr val="333333"/>
                </a:solidFill>
                <a:latin typeface="Calibri"/>
              </a:defRPr>
            </a:pPr>
            <a:r>
              <a:t>▸ Prevents unauthorized changes while preserving team agility</a:t>
            </a:r>
          </a:p>
          <a:p>
            <a:pPr>
              <a:spcAft>
                <a:spcPts val="400"/>
              </a:spcAft>
              <a:defRPr sz="1300">
                <a:solidFill>
                  <a:srgbClr val="333333"/>
                </a:solidFill>
                <a:latin typeface="Calibri"/>
              </a:defRPr>
            </a:pPr>
            <a:r>
              <a:t>▸ Every request and decision captured in 21 CFR Part 11 audit trail</a:t>
            </a:r>
          </a:p>
          <a:p>
            <a:pPr>
              <a:spcAft>
                <a:spcPts val="400"/>
              </a:spcAft>
              <a:defRPr sz="1300">
                <a:solidFill>
                  <a:srgbClr val="333333"/>
                </a:solidFill>
                <a:latin typeface="Calibri"/>
              </a:defRPr>
            </a:pPr>
            <a:r>
              <a:t>▸ Balances governance with speed — critical for regulated product development</a:t>
            </a:r>
          </a:p>
        </p:txBody>
      </p:sp>
      <p:sp>
        <p:nvSpPr>
          <p:cNvPr id="8" name="Rectangle 7"/>
          <p:cNvSpPr/>
          <p:nvPr/>
        </p:nvSpPr>
        <p:spPr>
          <a:xfrm>
            <a:off x="274320" y="4846320"/>
            <a:ext cx="11612880" cy="1645920"/>
          </a:xfrm>
          <a:prstGeom prst="rect">
            <a:avLst/>
          </a:prstGeom>
          <a:solidFill>
            <a:srgbClr val="F5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57200" y="4937760"/>
            <a:ext cx="11247120" cy="1463040"/>
          </a:xfrm>
          <a:prstGeom prst="rect">
            <a:avLst/>
          </a:prstGeom>
          <a:noFill/>
        </p:spPr>
        <p:txBody>
          <a:bodyPr wrap="square">
            <a:spAutoFit/>
          </a:bodyPr>
          <a:lstStyle/>
          <a:p>
            <a:pPr>
              <a:spcAft>
                <a:spcPts val="800"/>
              </a:spcAft>
              <a:defRPr sz="1500" b="1">
                <a:solidFill>
                  <a:srgbClr val="E53E3E"/>
                </a:solidFill>
                <a:latin typeface="Calibri"/>
              </a:defRPr>
            </a:pPr>
            <a:r>
              <a:t>Why This Matters</a:t>
            </a:r>
          </a:p>
          <a:p>
            <a:pPr>
              <a:spcAft>
                <a:spcPts val="400"/>
              </a:spcAft>
              <a:defRPr sz="1300">
                <a:solidFill>
                  <a:srgbClr val="333333"/>
                </a:solidFill>
                <a:latin typeface="Calibri"/>
              </a:defRPr>
            </a:pPr>
            <a:r>
              <a:t>No competitor has structured stakeholder inputs tied to phase-gate decisions. In generic PM tools, stakeholder feedback is scattered across comments, emails, and meetings with no traceability. Control Tower ensures every voice is heard, every change is governed, and every decision is audit-logged.</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05840"/>
          </a:xfrm>
          <a:prstGeom prst="rect">
            <a:avLst/>
          </a:prstGeom>
          <a:solidFill>
            <a:srgbClr val="0B23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37160"/>
            <a:ext cx="7315200" cy="457200"/>
          </a:xfrm>
          <a:prstGeom prst="rect">
            <a:avLst/>
          </a:prstGeom>
          <a:noFill/>
        </p:spPr>
        <p:txBody>
          <a:bodyPr wrap="square">
            <a:spAutoFit/>
          </a:bodyPr>
          <a:lstStyle/>
          <a:p>
            <a:pPr algn="l">
              <a:defRPr sz="1300" b="1">
                <a:solidFill>
                  <a:srgbClr val="009688"/>
                </a:solidFill>
                <a:latin typeface="Calibri"/>
              </a:defRPr>
            </a:pPr>
            <a:r>
              <a:t>CROSS-CUTTING FEATURES</a:t>
            </a:r>
          </a:p>
        </p:txBody>
      </p:sp>
      <p:sp>
        <p:nvSpPr>
          <p:cNvPr id="4" name="TextBox 3"/>
          <p:cNvSpPr txBox="1"/>
          <p:nvPr/>
        </p:nvSpPr>
        <p:spPr>
          <a:xfrm>
            <a:off x="548640" y="411480"/>
            <a:ext cx="9144000" cy="502920"/>
          </a:xfrm>
          <a:prstGeom prst="rect">
            <a:avLst/>
          </a:prstGeom>
          <a:noFill/>
        </p:spPr>
        <p:txBody>
          <a:bodyPr wrap="square">
            <a:spAutoFit/>
          </a:bodyPr>
          <a:lstStyle/>
          <a:p>
            <a:pPr algn="l">
              <a:defRPr sz="2600" b="1">
                <a:solidFill>
                  <a:srgbClr val="FFFFFF"/>
                </a:solidFill>
                <a:latin typeface="Calibri"/>
              </a:defRPr>
            </a:pPr>
            <a:r>
              <a:t>QMS-Lite for Startups</a:t>
            </a:r>
          </a:p>
        </p:txBody>
      </p:sp>
      <p:sp>
        <p:nvSpPr>
          <p:cNvPr id="5" name="TextBox 4"/>
          <p:cNvSpPr txBox="1"/>
          <p:nvPr/>
        </p:nvSpPr>
        <p:spPr>
          <a:xfrm>
            <a:off x="9601200" y="274320"/>
            <a:ext cx="2286000" cy="457200"/>
          </a:xfrm>
          <a:prstGeom prst="rect">
            <a:avLst/>
          </a:prstGeom>
          <a:noFill/>
        </p:spPr>
        <p:txBody>
          <a:bodyPr wrap="square">
            <a:spAutoFit/>
          </a:bodyPr>
          <a:lstStyle/>
          <a:p>
            <a:pPr algn="r">
              <a:defRPr sz="1600" b="1">
                <a:solidFill>
                  <a:srgbClr val="009688"/>
                </a:solidFill>
                <a:latin typeface="Calibri"/>
              </a:defRPr>
            </a:pPr>
            <a:r>
              <a:t>510(k) Bridge</a:t>
            </a:r>
          </a:p>
        </p:txBody>
      </p:sp>
      <p:sp>
        <p:nvSpPr>
          <p:cNvPr id="6" name="Rectangle 5"/>
          <p:cNvSpPr/>
          <p:nvPr/>
        </p:nvSpPr>
        <p:spPr>
          <a:xfrm>
            <a:off x="457200" y="1280160"/>
            <a:ext cx="5029200" cy="384048"/>
          </a:xfrm>
          <a:prstGeom prst="rect">
            <a:avLst/>
          </a:prstGeom>
          <a:solidFill>
            <a:srgbClr val="F5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48640" y="1325880"/>
            <a:ext cx="4846320" cy="320040"/>
          </a:xfrm>
          <a:prstGeom prst="rect">
            <a:avLst/>
          </a:prstGeom>
          <a:noFill/>
        </p:spPr>
        <p:txBody>
          <a:bodyPr wrap="square">
            <a:spAutoFit/>
          </a:bodyPr>
          <a:lstStyle/>
          <a:p>
            <a:pPr algn="l">
              <a:defRPr sz="1200" b="1">
                <a:solidFill>
                  <a:srgbClr val="333333"/>
                </a:solidFill>
                <a:latin typeface="Calibri"/>
              </a:defRPr>
            </a:pPr>
            <a:r>
              <a:t>Document Control (ISO 13485 §4.2.4)</a:t>
            </a:r>
          </a:p>
        </p:txBody>
      </p:sp>
      <p:sp>
        <p:nvSpPr>
          <p:cNvPr id="8" name="Rectangle 7"/>
          <p:cNvSpPr/>
          <p:nvPr/>
        </p:nvSpPr>
        <p:spPr>
          <a:xfrm>
            <a:off x="5486400" y="1280160"/>
            <a:ext cx="5943600" cy="384048"/>
          </a:xfrm>
          <a:prstGeom prst="rect">
            <a:avLst/>
          </a:prstGeom>
          <a:solidFill>
            <a:srgbClr val="F5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577840" y="1325880"/>
            <a:ext cx="5760720" cy="320040"/>
          </a:xfrm>
          <a:prstGeom prst="rect">
            <a:avLst/>
          </a:prstGeom>
          <a:noFill/>
        </p:spPr>
        <p:txBody>
          <a:bodyPr wrap="square">
            <a:spAutoFit/>
          </a:bodyPr>
          <a:lstStyle/>
          <a:p>
            <a:pPr algn="l">
              <a:defRPr sz="1200" b="0">
                <a:solidFill>
                  <a:srgbClr val="009688"/>
                </a:solidFill>
                <a:latin typeface="Calibri"/>
              </a:defRPr>
            </a:pPr>
            <a:r>
              <a:t>→ Tab 8: Document Control</a:t>
            </a:r>
          </a:p>
        </p:txBody>
      </p:sp>
      <p:sp>
        <p:nvSpPr>
          <p:cNvPr id="10" name="Rectangle 9"/>
          <p:cNvSpPr/>
          <p:nvPr/>
        </p:nvSpPr>
        <p:spPr>
          <a:xfrm>
            <a:off x="457200" y="1719072"/>
            <a:ext cx="5029200" cy="384048"/>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764792"/>
            <a:ext cx="4846320" cy="320040"/>
          </a:xfrm>
          <a:prstGeom prst="rect">
            <a:avLst/>
          </a:prstGeom>
          <a:noFill/>
        </p:spPr>
        <p:txBody>
          <a:bodyPr wrap="square">
            <a:spAutoFit/>
          </a:bodyPr>
          <a:lstStyle/>
          <a:p>
            <a:pPr algn="l">
              <a:defRPr sz="1200" b="1">
                <a:solidFill>
                  <a:srgbClr val="333333"/>
                </a:solidFill>
                <a:latin typeface="Calibri"/>
              </a:defRPr>
            </a:pPr>
            <a:r>
              <a:t>Risk Management (ISO 14971)</a:t>
            </a:r>
          </a:p>
        </p:txBody>
      </p:sp>
      <p:sp>
        <p:nvSpPr>
          <p:cNvPr id="12" name="Rectangle 11"/>
          <p:cNvSpPr/>
          <p:nvPr/>
        </p:nvSpPr>
        <p:spPr>
          <a:xfrm>
            <a:off x="5486400" y="1719072"/>
            <a:ext cx="5943600" cy="384048"/>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577840" y="1764792"/>
            <a:ext cx="5760720" cy="320040"/>
          </a:xfrm>
          <a:prstGeom prst="rect">
            <a:avLst/>
          </a:prstGeom>
          <a:noFill/>
        </p:spPr>
        <p:txBody>
          <a:bodyPr wrap="square">
            <a:spAutoFit/>
          </a:bodyPr>
          <a:lstStyle/>
          <a:p>
            <a:pPr algn="l">
              <a:defRPr sz="1200" b="0">
                <a:solidFill>
                  <a:srgbClr val="009688"/>
                </a:solidFill>
                <a:latin typeface="Calibri"/>
              </a:defRPr>
            </a:pPr>
            <a:r>
              <a:t>→ Tab 6: Risk Dashboard</a:t>
            </a:r>
          </a:p>
        </p:txBody>
      </p:sp>
      <p:sp>
        <p:nvSpPr>
          <p:cNvPr id="14" name="Rectangle 13"/>
          <p:cNvSpPr/>
          <p:nvPr/>
        </p:nvSpPr>
        <p:spPr>
          <a:xfrm>
            <a:off x="457200" y="2157984"/>
            <a:ext cx="5029200" cy="384048"/>
          </a:xfrm>
          <a:prstGeom prst="rect">
            <a:avLst/>
          </a:prstGeom>
          <a:solidFill>
            <a:srgbClr val="F5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48640" y="2203704"/>
            <a:ext cx="4846320" cy="320040"/>
          </a:xfrm>
          <a:prstGeom prst="rect">
            <a:avLst/>
          </a:prstGeom>
          <a:noFill/>
        </p:spPr>
        <p:txBody>
          <a:bodyPr wrap="square">
            <a:spAutoFit/>
          </a:bodyPr>
          <a:lstStyle/>
          <a:p>
            <a:pPr algn="l">
              <a:defRPr sz="1200" b="1">
                <a:solidFill>
                  <a:srgbClr val="333333"/>
                </a:solidFill>
                <a:latin typeface="Calibri"/>
              </a:defRPr>
            </a:pPr>
            <a:r>
              <a:t>Design &amp; Dev Controls (21 CFR 820.30)</a:t>
            </a:r>
          </a:p>
        </p:txBody>
      </p:sp>
      <p:sp>
        <p:nvSpPr>
          <p:cNvPr id="16" name="Rectangle 15"/>
          <p:cNvSpPr/>
          <p:nvPr/>
        </p:nvSpPr>
        <p:spPr>
          <a:xfrm>
            <a:off x="5486400" y="2157984"/>
            <a:ext cx="5943600" cy="384048"/>
          </a:xfrm>
          <a:prstGeom prst="rect">
            <a:avLst/>
          </a:prstGeom>
          <a:solidFill>
            <a:srgbClr val="F5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577840" y="2203704"/>
            <a:ext cx="5760720" cy="320040"/>
          </a:xfrm>
          <a:prstGeom prst="rect">
            <a:avLst/>
          </a:prstGeom>
          <a:noFill/>
        </p:spPr>
        <p:txBody>
          <a:bodyPr wrap="square">
            <a:spAutoFit/>
          </a:bodyPr>
          <a:lstStyle/>
          <a:p>
            <a:pPr algn="l">
              <a:defRPr sz="1200" b="0">
                <a:solidFill>
                  <a:srgbClr val="009688"/>
                </a:solidFill>
                <a:latin typeface="Calibri"/>
              </a:defRPr>
            </a:pPr>
            <a:r>
              <a:t>→ Tabs 1-4: Milestones + Actions + DHF/DMR</a:t>
            </a:r>
          </a:p>
        </p:txBody>
      </p:sp>
      <p:sp>
        <p:nvSpPr>
          <p:cNvPr id="18" name="Rectangle 17"/>
          <p:cNvSpPr/>
          <p:nvPr/>
        </p:nvSpPr>
        <p:spPr>
          <a:xfrm>
            <a:off x="457200" y="2596896"/>
            <a:ext cx="5029200" cy="384048"/>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48640" y="2642616"/>
            <a:ext cx="4846320" cy="320040"/>
          </a:xfrm>
          <a:prstGeom prst="rect">
            <a:avLst/>
          </a:prstGeom>
          <a:noFill/>
        </p:spPr>
        <p:txBody>
          <a:bodyPr wrap="square">
            <a:spAutoFit/>
          </a:bodyPr>
          <a:lstStyle/>
          <a:p>
            <a:pPr algn="l">
              <a:defRPr sz="1200" b="1">
                <a:solidFill>
                  <a:srgbClr val="333333"/>
                </a:solidFill>
                <a:latin typeface="Calibri"/>
              </a:defRPr>
            </a:pPr>
            <a:r>
              <a:t>CAPA (21 CFR 820.198)</a:t>
            </a:r>
          </a:p>
        </p:txBody>
      </p:sp>
      <p:sp>
        <p:nvSpPr>
          <p:cNvPr id="20" name="Rectangle 19"/>
          <p:cNvSpPr/>
          <p:nvPr/>
        </p:nvSpPr>
        <p:spPr>
          <a:xfrm>
            <a:off x="5486400" y="2596896"/>
            <a:ext cx="5943600" cy="384048"/>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577840" y="2642616"/>
            <a:ext cx="5760720" cy="320040"/>
          </a:xfrm>
          <a:prstGeom prst="rect">
            <a:avLst/>
          </a:prstGeom>
          <a:noFill/>
        </p:spPr>
        <p:txBody>
          <a:bodyPr wrap="square">
            <a:spAutoFit/>
          </a:bodyPr>
          <a:lstStyle/>
          <a:p>
            <a:pPr algn="l">
              <a:defRPr sz="1200" b="0">
                <a:solidFill>
                  <a:srgbClr val="009688"/>
                </a:solidFill>
                <a:latin typeface="Calibri"/>
              </a:defRPr>
            </a:pPr>
            <a:r>
              <a:t>→ Tab 4: Actions Panel — CAPA Log</a:t>
            </a:r>
          </a:p>
        </p:txBody>
      </p:sp>
      <p:sp>
        <p:nvSpPr>
          <p:cNvPr id="22" name="Rectangle 21"/>
          <p:cNvSpPr/>
          <p:nvPr/>
        </p:nvSpPr>
        <p:spPr>
          <a:xfrm>
            <a:off x="457200" y="3035808"/>
            <a:ext cx="5029200" cy="384048"/>
          </a:xfrm>
          <a:prstGeom prst="rect">
            <a:avLst/>
          </a:prstGeom>
          <a:solidFill>
            <a:srgbClr val="F5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48640" y="3081528"/>
            <a:ext cx="4846320" cy="320040"/>
          </a:xfrm>
          <a:prstGeom prst="rect">
            <a:avLst/>
          </a:prstGeom>
          <a:noFill/>
        </p:spPr>
        <p:txBody>
          <a:bodyPr wrap="square">
            <a:spAutoFit/>
          </a:bodyPr>
          <a:lstStyle/>
          <a:p>
            <a:pPr algn="l">
              <a:defRPr sz="1200" b="1">
                <a:solidFill>
                  <a:srgbClr val="333333"/>
                </a:solidFill>
                <a:latin typeface="Calibri"/>
              </a:defRPr>
            </a:pPr>
            <a:r>
              <a:t>Supplier Controls (21 CFR 820.50)</a:t>
            </a:r>
          </a:p>
        </p:txBody>
      </p:sp>
      <p:sp>
        <p:nvSpPr>
          <p:cNvPr id="24" name="Rectangle 23"/>
          <p:cNvSpPr/>
          <p:nvPr/>
        </p:nvSpPr>
        <p:spPr>
          <a:xfrm>
            <a:off x="5486400" y="3035808"/>
            <a:ext cx="5943600" cy="384048"/>
          </a:xfrm>
          <a:prstGeom prst="rect">
            <a:avLst/>
          </a:prstGeom>
          <a:solidFill>
            <a:srgbClr val="F5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5577840" y="3081528"/>
            <a:ext cx="5760720" cy="320040"/>
          </a:xfrm>
          <a:prstGeom prst="rect">
            <a:avLst/>
          </a:prstGeom>
          <a:noFill/>
        </p:spPr>
        <p:txBody>
          <a:bodyPr wrap="square">
            <a:spAutoFit/>
          </a:bodyPr>
          <a:lstStyle/>
          <a:p>
            <a:pPr algn="l">
              <a:defRPr sz="1200" b="0">
                <a:solidFill>
                  <a:srgbClr val="009688"/>
                </a:solidFill>
                <a:latin typeface="Calibri"/>
              </a:defRPr>
            </a:pPr>
            <a:r>
              <a:t>→ Tab 15: Suppliers</a:t>
            </a:r>
          </a:p>
        </p:txBody>
      </p:sp>
      <p:sp>
        <p:nvSpPr>
          <p:cNvPr id="26" name="Rectangle 25"/>
          <p:cNvSpPr/>
          <p:nvPr/>
        </p:nvSpPr>
        <p:spPr>
          <a:xfrm>
            <a:off x="457200" y="3474720"/>
            <a:ext cx="5029200" cy="384048"/>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548640" y="3520440"/>
            <a:ext cx="4846320" cy="320040"/>
          </a:xfrm>
          <a:prstGeom prst="rect">
            <a:avLst/>
          </a:prstGeom>
          <a:noFill/>
        </p:spPr>
        <p:txBody>
          <a:bodyPr wrap="square">
            <a:spAutoFit/>
          </a:bodyPr>
          <a:lstStyle/>
          <a:p>
            <a:pPr algn="l">
              <a:defRPr sz="1200" b="1">
                <a:solidFill>
                  <a:srgbClr val="333333"/>
                </a:solidFill>
                <a:latin typeface="Calibri"/>
              </a:defRPr>
            </a:pPr>
            <a:r>
              <a:t>Audit Trail (21 CFR Part 11)</a:t>
            </a:r>
          </a:p>
        </p:txBody>
      </p:sp>
      <p:sp>
        <p:nvSpPr>
          <p:cNvPr id="28" name="Rectangle 27"/>
          <p:cNvSpPr/>
          <p:nvPr/>
        </p:nvSpPr>
        <p:spPr>
          <a:xfrm>
            <a:off x="5486400" y="3474720"/>
            <a:ext cx="5943600" cy="384048"/>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5577840" y="3520440"/>
            <a:ext cx="5760720" cy="320040"/>
          </a:xfrm>
          <a:prstGeom prst="rect">
            <a:avLst/>
          </a:prstGeom>
          <a:noFill/>
        </p:spPr>
        <p:txBody>
          <a:bodyPr wrap="square">
            <a:spAutoFit/>
          </a:bodyPr>
          <a:lstStyle/>
          <a:p>
            <a:pPr algn="l">
              <a:defRPr sz="1200" b="0">
                <a:solidFill>
                  <a:srgbClr val="009688"/>
                </a:solidFill>
                <a:latin typeface="Calibri"/>
              </a:defRPr>
            </a:pPr>
            <a:r>
              <a:t>→ Tab 9: Audit Trail</a:t>
            </a:r>
          </a:p>
        </p:txBody>
      </p:sp>
      <p:sp>
        <p:nvSpPr>
          <p:cNvPr id="30" name="Rectangle 29"/>
          <p:cNvSpPr/>
          <p:nvPr/>
        </p:nvSpPr>
        <p:spPr>
          <a:xfrm>
            <a:off x="457200" y="3913632"/>
            <a:ext cx="5029200" cy="384048"/>
          </a:xfrm>
          <a:prstGeom prst="rect">
            <a:avLst/>
          </a:prstGeom>
          <a:solidFill>
            <a:srgbClr val="F5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548640" y="3959352"/>
            <a:ext cx="4846320" cy="320040"/>
          </a:xfrm>
          <a:prstGeom prst="rect">
            <a:avLst/>
          </a:prstGeom>
          <a:noFill/>
        </p:spPr>
        <p:txBody>
          <a:bodyPr wrap="square">
            <a:spAutoFit/>
          </a:bodyPr>
          <a:lstStyle/>
          <a:p>
            <a:pPr algn="l">
              <a:defRPr sz="1200" b="1">
                <a:solidFill>
                  <a:srgbClr val="333333"/>
                </a:solidFill>
                <a:latin typeface="Calibri"/>
              </a:defRPr>
            </a:pPr>
            <a:r>
              <a:t>Management Review</a:t>
            </a:r>
          </a:p>
        </p:txBody>
      </p:sp>
      <p:sp>
        <p:nvSpPr>
          <p:cNvPr id="32" name="Rectangle 31"/>
          <p:cNvSpPr/>
          <p:nvPr/>
        </p:nvSpPr>
        <p:spPr>
          <a:xfrm>
            <a:off x="5486400" y="3913632"/>
            <a:ext cx="5943600" cy="384048"/>
          </a:xfrm>
          <a:prstGeom prst="rect">
            <a:avLst/>
          </a:prstGeom>
          <a:solidFill>
            <a:srgbClr val="F5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5577840" y="3959352"/>
            <a:ext cx="5760720" cy="320040"/>
          </a:xfrm>
          <a:prstGeom prst="rect">
            <a:avLst/>
          </a:prstGeom>
          <a:noFill/>
        </p:spPr>
        <p:txBody>
          <a:bodyPr wrap="square">
            <a:spAutoFit/>
          </a:bodyPr>
          <a:lstStyle/>
          <a:p>
            <a:pPr algn="l">
              <a:defRPr sz="1200" b="0">
                <a:solidFill>
                  <a:srgbClr val="009688"/>
                </a:solidFill>
                <a:latin typeface="Calibri"/>
              </a:defRPr>
            </a:pPr>
            <a:r>
              <a:t>→ Tab 2: Gate System — gate decisions</a:t>
            </a:r>
          </a:p>
        </p:txBody>
      </p:sp>
      <p:sp>
        <p:nvSpPr>
          <p:cNvPr id="34" name="Rectangle 33"/>
          <p:cNvSpPr/>
          <p:nvPr/>
        </p:nvSpPr>
        <p:spPr>
          <a:xfrm>
            <a:off x="457200" y="4352544"/>
            <a:ext cx="5029200" cy="384048"/>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548640" y="4398264"/>
            <a:ext cx="4846320" cy="320040"/>
          </a:xfrm>
          <a:prstGeom prst="rect">
            <a:avLst/>
          </a:prstGeom>
          <a:noFill/>
        </p:spPr>
        <p:txBody>
          <a:bodyPr wrap="square">
            <a:spAutoFit/>
          </a:bodyPr>
          <a:lstStyle/>
          <a:p>
            <a:pPr algn="l">
              <a:defRPr sz="1200" b="1">
                <a:solidFill>
                  <a:srgbClr val="333333"/>
                </a:solidFill>
                <a:latin typeface="Calibri"/>
              </a:defRPr>
            </a:pPr>
            <a:r>
              <a:t>Training Records</a:t>
            </a:r>
          </a:p>
        </p:txBody>
      </p:sp>
      <p:sp>
        <p:nvSpPr>
          <p:cNvPr id="36" name="Rectangle 35"/>
          <p:cNvSpPr/>
          <p:nvPr/>
        </p:nvSpPr>
        <p:spPr>
          <a:xfrm>
            <a:off x="5486400" y="4352544"/>
            <a:ext cx="5943600" cy="384048"/>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5577840" y="4398264"/>
            <a:ext cx="5760720" cy="320040"/>
          </a:xfrm>
          <a:prstGeom prst="rect">
            <a:avLst/>
          </a:prstGeom>
          <a:noFill/>
        </p:spPr>
        <p:txBody>
          <a:bodyPr wrap="square">
            <a:spAutoFit/>
          </a:bodyPr>
          <a:lstStyle/>
          <a:p>
            <a:pPr algn="l">
              <a:defRPr sz="1200" b="0">
                <a:solidFill>
                  <a:srgbClr val="009688"/>
                </a:solidFill>
                <a:latin typeface="Calibri"/>
              </a:defRPr>
            </a:pPr>
            <a:r>
              <a:t>→ Tab 14: Resources — team qualifications</a:t>
            </a:r>
          </a:p>
        </p:txBody>
      </p:sp>
      <p:sp>
        <p:nvSpPr>
          <p:cNvPr id="38" name="Rectangle 37"/>
          <p:cNvSpPr/>
          <p:nvPr/>
        </p:nvSpPr>
        <p:spPr>
          <a:xfrm>
            <a:off x="457200" y="4791456"/>
            <a:ext cx="5029200" cy="384048"/>
          </a:xfrm>
          <a:prstGeom prst="rect">
            <a:avLst/>
          </a:prstGeom>
          <a:solidFill>
            <a:srgbClr val="F5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548640" y="4837176"/>
            <a:ext cx="4846320" cy="320040"/>
          </a:xfrm>
          <a:prstGeom prst="rect">
            <a:avLst/>
          </a:prstGeom>
          <a:noFill/>
        </p:spPr>
        <p:txBody>
          <a:bodyPr wrap="square">
            <a:spAutoFit/>
          </a:bodyPr>
          <a:lstStyle/>
          <a:p>
            <a:pPr algn="l">
              <a:defRPr sz="1200" b="1">
                <a:solidFill>
                  <a:srgbClr val="333333"/>
                </a:solidFill>
                <a:latin typeface="Calibri"/>
              </a:defRPr>
            </a:pPr>
            <a:r>
              <a:t>Regulatory Submissions</a:t>
            </a:r>
          </a:p>
        </p:txBody>
      </p:sp>
      <p:sp>
        <p:nvSpPr>
          <p:cNvPr id="40" name="Rectangle 39"/>
          <p:cNvSpPr/>
          <p:nvPr/>
        </p:nvSpPr>
        <p:spPr>
          <a:xfrm>
            <a:off x="5486400" y="4791456"/>
            <a:ext cx="5943600" cy="384048"/>
          </a:xfrm>
          <a:prstGeom prst="rect">
            <a:avLst/>
          </a:prstGeom>
          <a:solidFill>
            <a:srgbClr val="F5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5577840" y="4837176"/>
            <a:ext cx="5760720" cy="320040"/>
          </a:xfrm>
          <a:prstGeom prst="rect">
            <a:avLst/>
          </a:prstGeom>
          <a:noFill/>
        </p:spPr>
        <p:txBody>
          <a:bodyPr wrap="square">
            <a:spAutoFit/>
          </a:bodyPr>
          <a:lstStyle/>
          <a:p>
            <a:pPr algn="l">
              <a:defRPr sz="1200" b="0">
                <a:solidFill>
                  <a:srgbClr val="009688"/>
                </a:solidFill>
                <a:latin typeface="Calibri"/>
              </a:defRPr>
            </a:pPr>
            <a:r>
              <a:t>→ Tab 7: FDA Comms Center</a:t>
            </a:r>
          </a:p>
        </p:txBody>
      </p:sp>
      <p:sp>
        <p:nvSpPr>
          <p:cNvPr id="42" name="Rectangle 41"/>
          <p:cNvSpPr/>
          <p:nvPr/>
        </p:nvSpPr>
        <p:spPr>
          <a:xfrm>
            <a:off x="274320" y="5303520"/>
            <a:ext cx="11612880" cy="1280160"/>
          </a:xfrm>
          <a:prstGeom prst="rect">
            <a:avLst/>
          </a:prstGeom>
          <a:solidFill>
            <a:srgbClr val="F5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457200" y="5394960"/>
            <a:ext cx="11247120" cy="1097280"/>
          </a:xfrm>
          <a:prstGeom prst="rect">
            <a:avLst/>
          </a:prstGeom>
          <a:noFill/>
        </p:spPr>
        <p:txBody>
          <a:bodyPr wrap="square">
            <a:spAutoFit/>
          </a:bodyPr>
          <a:lstStyle/>
          <a:p>
            <a:pPr>
              <a:spcAft>
                <a:spcPts val="800"/>
              </a:spcAft>
              <a:defRPr sz="1500" b="1">
                <a:solidFill>
                  <a:srgbClr val="0B233A"/>
                </a:solidFill>
                <a:latin typeface="Calibri"/>
              </a:defRPr>
            </a:pPr>
            <a:r>
              <a:t>80% QMS Coverage at Startup-Friendly Pricing</a:t>
            </a:r>
          </a:p>
          <a:p>
            <a:pPr>
              <a:spcAft>
                <a:spcPts val="400"/>
              </a:spcAft>
              <a:defRPr sz="1300">
                <a:solidFill>
                  <a:srgbClr val="333333"/>
                </a:solidFill>
                <a:latin typeface="Calibri"/>
              </a:defRPr>
            </a:pPr>
            <a:r>
              <a:t>Startups don't need Greenlight Guru ($30K+/yr) or MasterControl ($50K+/yr) to demonstrate QMS readiness. Control Tower maps 9 core QMS requirements to existing tabs — giving startups an 80% QMS solution at a fraction of the cost. Perfect for seed-stage companies preparing for their first FDA submission.</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05840"/>
          </a:xfrm>
          <a:prstGeom prst="rect">
            <a:avLst/>
          </a:prstGeom>
          <a:solidFill>
            <a:srgbClr val="0B23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37160"/>
            <a:ext cx="7315200" cy="457200"/>
          </a:xfrm>
          <a:prstGeom prst="rect">
            <a:avLst/>
          </a:prstGeom>
          <a:noFill/>
        </p:spPr>
        <p:txBody>
          <a:bodyPr wrap="square">
            <a:spAutoFit/>
          </a:bodyPr>
          <a:lstStyle/>
          <a:p>
            <a:pPr algn="l">
              <a:defRPr sz="1300" b="1">
                <a:solidFill>
                  <a:srgbClr val="009688"/>
                </a:solidFill>
                <a:latin typeface="Calibri"/>
              </a:defRPr>
            </a:pPr>
            <a:r>
              <a:t>CROSS-CUTTING FEATURES</a:t>
            </a:r>
          </a:p>
        </p:txBody>
      </p:sp>
      <p:sp>
        <p:nvSpPr>
          <p:cNvPr id="4" name="TextBox 3"/>
          <p:cNvSpPr txBox="1"/>
          <p:nvPr/>
        </p:nvSpPr>
        <p:spPr>
          <a:xfrm>
            <a:off x="548640" y="411480"/>
            <a:ext cx="9144000" cy="502920"/>
          </a:xfrm>
          <a:prstGeom prst="rect">
            <a:avLst/>
          </a:prstGeom>
          <a:noFill/>
        </p:spPr>
        <p:txBody>
          <a:bodyPr wrap="square">
            <a:spAutoFit/>
          </a:bodyPr>
          <a:lstStyle/>
          <a:p>
            <a:pPr algn="l">
              <a:defRPr sz="2600" b="1">
                <a:solidFill>
                  <a:srgbClr val="FFFFFF"/>
                </a:solidFill>
                <a:latin typeface="Calibri"/>
              </a:defRPr>
            </a:pPr>
            <a:r>
              <a:t>Notifications, Alerts &amp; Executive Report</a:t>
            </a:r>
          </a:p>
        </p:txBody>
      </p:sp>
      <p:sp>
        <p:nvSpPr>
          <p:cNvPr id="5" name="TextBox 4"/>
          <p:cNvSpPr txBox="1"/>
          <p:nvPr/>
        </p:nvSpPr>
        <p:spPr>
          <a:xfrm>
            <a:off x="9601200" y="274320"/>
            <a:ext cx="2286000" cy="457200"/>
          </a:xfrm>
          <a:prstGeom prst="rect">
            <a:avLst/>
          </a:prstGeom>
          <a:noFill/>
        </p:spPr>
        <p:txBody>
          <a:bodyPr wrap="square">
            <a:spAutoFit/>
          </a:bodyPr>
          <a:lstStyle/>
          <a:p>
            <a:pPr algn="r">
              <a:defRPr sz="1600" b="1">
                <a:solidFill>
                  <a:srgbClr val="009688"/>
                </a:solidFill>
                <a:latin typeface="Calibri"/>
              </a:defRPr>
            </a:pPr>
            <a:r>
              <a:t>510(k) Bridge</a:t>
            </a:r>
          </a:p>
        </p:txBody>
      </p:sp>
      <p:sp>
        <p:nvSpPr>
          <p:cNvPr id="6" name="TextBox 5"/>
          <p:cNvSpPr txBox="1"/>
          <p:nvPr/>
        </p:nvSpPr>
        <p:spPr>
          <a:xfrm>
            <a:off x="731520" y="1188720"/>
            <a:ext cx="5303520" cy="3200400"/>
          </a:xfrm>
          <a:prstGeom prst="rect">
            <a:avLst/>
          </a:prstGeom>
          <a:noFill/>
        </p:spPr>
        <p:txBody>
          <a:bodyPr wrap="square">
            <a:spAutoFit/>
          </a:bodyPr>
          <a:lstStyle/>
          <a:p>
            <a:pPr>
              <a:spcAft>
                <a:spcPts val="800"/>
              </a:spcAft>
              <a:defRPr sz="1800" b="1">
                <a:solidFill>
                  <a:srgbClr val="009688"/>
                </a:solidFill>
                <a:latin typeface="Calibri"/>
              </a:defRPr>
            </a:pPr>
            <a:r>
              <a:t>Smart Notifications &amp; Alerts</a:t>
            </a:r>
          </a:p>
          <a:p>
            <a:pPr>
              <a:spcAft>
                <a:spcPts val="400"/>
              </a:spcAft>
              <a:defRPr sz="1300">
                <a:solidFill>
                  <a:srgbClr val="333333"/>
                </a:solidFill>
                <a:latin typeface="Calibri"/>
              </a:defRPr>
            </a:pPr>
            <a:r>
              <a:t>▸ Notification bar with 5 alert types: overdue milestones, gate reviews due, high-priority actions, budget variances, and red-risk alerts</a:t>
            </a:r>
          </a:p>
          <a:p>
            <a:pPr>
              <a:spcAft>
                <a:spcPts val="400"/>
              </a:spcAft>
              <a:defRPr sz="1300">
                <a:solidFill>
                  <a:srgbClr val="333333"/>
                </a:solidFill>
                <a:latin typeface="Calibri"/>
              </a:defRPr>
            </a:pPr>
            <a:r>
              <a:t>▸ Badge count on the notification bell — unread alerts at a glance</a:t>
            </a:r>
          </a:p>
          <a:p>
            <a:pPr>
              <a:spcAft>
                <a:spcPts val="400"/>
              </a:spcAft>
              <a:defRPr sz="1300">
                <a:solidFill>
                  <a:srgbClr val="333333"/>
                </a:solidFill>
                <a:latin typeface="Calibri"/>
              </a:defRPr>
            </a:pPr>
            <a:r>
              <a:t>▸ Click-to-navigate: each alert links directly to the relevant tab and record</a:t>
            </a:r>
          </a:p>
          <a:p>
            <a:pPr>
              <a:spcAft>
                <a:spcPts val="400"/>
              </a:spcAft>
              <a:defRPr sz="1300">
                <a:solidFill>
                  <a:srgbClr val="333333"/>
                </a:solidFill>
                <a:latin typeface="Calibri"/>
              </a:defRPr>
            </a:pPr>
            <a:r>
              <a:t>▸ Configurable notification preferences per user role</a:t>
            </a:r>
          </a:p>
          <a:p>
            <a:pPr>
              <a:spcAft>
                <a:spcPts val="400"/>
              </a:spcAft>
              <a:defRPr sz="1300">
                <a:solidFill>
                  <a:srgbClr val="333333"/>
                </a:solidFill>
                <a:latin typeface="Calibri"/>
              </a:defRPr>
            </a:pPr>
            <a:r>
              <a:t>▸ Proactive alerting prevents missed deadlines and gate delays</a:t>
            </a:r>
          </a:p>
        </p:txBody>
      </p:sp>
      <p:sp>
        <p:nvSpPr>
          <p:cNvPr id="7" name="TextBox 6"/>
          <p:cNvSpPr txBox="1"/>
          <p:nvPr/>
        </p:nvSpPr>
        <p:spPr>
          <a:xfrm>
            <a:off x="6400800" y="1188720"/>
            <a:ext cx="5303520" cy="3200400"/>
          </a:xfrm>
          <a:prstGeom prst="rect">
            <a:avLst/>
          </a:prstGeom>
          <a:noFill/>
        </p:spPr>
        <p:txBody>
          <a:bodyPr wrap="square">
            <a:spAutoFit/>
          </a:bodyPr>
          <a:lstStyle/>
          <a:p>
            <a:pPr>
              <a:spcAft>
                <a:spcPts val="800"/>
              </a:spcAft>
              <a:defRPr sz="1800" b="1">
                <a:solidFill>
                  <a:srgbClr val="009688"/>
                </a:solidFill>
                <a:latin typeface="Calibri"/>
              </a:defRPr>
            </a:pPr>
            <a:r>
              <a:t>Export Report &amp; Readiness Guardrails</a:t>
            </a:r>
          </a:p>
          <a:p>
            <a:pPr>
              <a:spcAft>
                <a:spcPts val="400"/>
              </a:spcAft>
              <a:defRPr sz="1300">
                <a:solidFill>
                  <a:srgbClr val="333333"/>
                </a:solidFill>
                <a:latin typeface="Calibri"/>
              </a:defRPr>
            </a:pPr>
            <a:r>
              <a:t>▸ One-click Executive Report — comprehensive HTML export of entire project status</a:t>
            </a:r>
          </a:p>
          <a:p>
            <a:pPr>
              <a:spcAft>
                <a:spcPts val="400"/>
              </a:spcAft>
              <a:defRPr sz="1300">
                <a:solidFill>
                  <a:srgbClr val="333333"/>
                </a:solidFill>
                <a:latin typeface="Calibri"/>
              </a:defRPr>
            </a:pPr>
            <a:r>
              <a:t>▸ Covers: milestone progress, gate status, risk summary, budget variance, team utilization</a:t>
            </a:r>
          </a:p>
          <a:p>
            <a:pPr>
              <a:spcAft>
                <a:spcPts val="400"/>
              </a:spcAft>
              <a:defRPr sz="1300">
                <a:solidFill>
                  <a:srgbClr val="333333"/>
                </a:solidFill>
                <a:latin typeface="Calibri"/>
              </a:defRPr>
            </a:pPr>
            <a:r>
              <a:t>▸ Professional formatting ready for board presentations or investor updates</a:t>
            </a:r>
          </a:p>
          <a:p>
            <a:pPr>
              <a:spcAft>
                <a:spcPts val="400"/>
              </a:spcAft>
              <a:defRPr sz="1300">
                <a:solidFill>
                  <a:srgbClr val="333333"/>
                </a:solidFill>
                <a:latin typeface="Calibri"/>
              </a:defRPr>
            </a:pPr>
            <a:r>
              <a:t>▸ Includes Regulatory Readiness Guardrails: 3-panel system with 11 automated checks</a:t>
            </a:r>
          </a:p>
          <a:p>
            <a:pPr>
              <a:spcAft>
                <a:spcPts val="400"/>
              </a:spcAft>
              <a:defRPr sz="1300">
                <a:solidFill>
                  <a:srgbClr val="333333"/>
                </a:solidFill>
                <a:latin typeface="Calibri"/>
              </a:defRPr>
            </a:pPr>
            <a:r>
              <a:t>▸ Checks: SE argument strength, Performance Data completeness, Biocompatibility status, Software Documentation (IEC 62304), 21 CFR 820 Design Controls, and more</a:t>
            </a:r>
          </a:p>
          <a:p>
            <a:pPr>
              <a:spcAft>
                <a:spcPts val="400"/>
              </a:spcAft>
              <a:defRPr sz="1300">
                <a:solidFill>
                  <a:srgbClr val="333333"/>
                </a:solidFill>
                <a:latin typeface="Calibri"/>
              </a:defRPr>
            </a:pPr>
            <a:r>
              <a:t>▸ Auto-generated guardrail score gives teams a pre-submission confidence rating</a:t>
            </a:r>
          </a:p>
        </p:txBody>
      </p:sp>
      <p:sp>
        <p:nvSpPr>
          <p:cNvPr id="8" name="Rectangle 7"/>
          <p:cNvSpPr/>
          <p:nvPr/>
        </p:nvSpPr>
        <p:spPr>
          <a:xfrm>
            <a:off x="274320" y="4846320"/>
            <a:ext cx="11612880" cy="1645920"/>
          </a:xfrm>
          <a:prstGeom prst="rect">
            <a:avLst/>
          </a:prstGeom>
          <a:solidFill>
            <a:srgbClr val="F5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57200" y="4937760"/>
            <a:ext cx="11247120" cy="1463040"/>
          </a:xfrm>
          <a:prstGeom prst="rect">
            <a:avLst/>
          </a:prstGeom>
          <a:noFill/>
        </p:spPr>
        <p:txBody>
          <a:bodyPr wrap="square">
            <a:spAutoFit/>
          </a:bodyPr>
          <a:lstStyle/>
          <a:p>
            <a:pPr>
              <a:spcAft>
                <a:spcPts val="800"/>
              </a:spcAft>
              <a:defRPr sz="1500" b="1">
                <a:solidFill>
                  <a:srgbClr val="E53E3E"/>
                </a:solidFill>
                <a:latin typeface="Calibri"/>
              </a:defRPr>
            </a:pPr>
            <a:r>
              <a:t>Why This Matters</a:t>
            </a:r>
          </a:p>
          <a:p>
            <a:pPr>
              <a:spcAft>
                <a:spcPts val="400"/>
              </a:spcAft>
              <a:defRPr sz="1300">
                <a:solidFill>
                  <a:srgbClr val="333333"/>
                </a:solidFill>
                <a:latin typeface="Calibri"/>
              </a:defRPr>
            </a:pPr>
            <a:r>
              <a:t>Generic PM tools have basic notifications but zero regulatory awareness. Control Tower's alerts are FDA-context-aware — they know when a gate review is overdue, when a red risk lacks mitigation, or when a Pre-Sub deadline is approaching. The Export Report replaces the manual PowerPoint status decks that consume 4-8 hours per month.</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05840"/>
          </a:xfrm>
          <a:prstGeom prst="rect">
            <a:avLst/>
          </a:prstGeom>
          <a:solidFill>
            <a:srgbClr val="0B23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74320"/>
            <a:ext cx="9144000" cy="548640"/>
          </a:xfrm>
          <a:prstGeom prst="rect">
            <a:avLst/>
          </a:prstGeom>
          <a:noFill/>
        </p:spPr>
        <p:txBody>
          <a:bodyPr wrap="square">
            <a:spAutoFit/>
          </a:bodyPr>
          <a:lstStyle/>
          <a:p>
            <a:pPr algn="l">
              <a:defRPr sz="2800" b="1">
                <a:solidFill>
                  <a:srgbClr val="FFFFFF"/>
                </a:solidFill>
                <a:latin typeface="Calibri"/>
              </a:defRPr>
            </a:pPr>
            <a:r>
              <a:t>Setup Wizard &amp; 7 Pre-Configured Device Templates</a:t>
            </a:r>
          </a:p>
        </p:txBody>
      </p:sp>
      <p:sp>
        <p:nvSpPr>
          <p:cNvPr id="4" name="Rectangle 3"/>
          <p:cNvSpPr/>
          <p:nvPr/>
        </p:nvSpPr>
        <p:spPr>
          <a:xfrm>
            <a:off x="457200" y="1371600"/>
            <a:ext cx="2651760" cy="2011680"/>
          </a:xfrm>
          <a:prstGeom prst="rect">
            <a:avLst/>
          </a:prstGeom>
          <a:solidFill>
            <a:srgbClr val="F5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94360" y="1463040"/>
            <a:ext cx="2377440" cy="365760"/>
          </a:xfrm>
          <a:prstGeom prst="rect">
            <a:avLst/>
          </a:prstGeom>
          <a:noFill/>
        </p:spPr>
        <p:txBody>
          <a:bodyPr wrap="square">
            <a:spAutoFit/>
          </a:bodyPr>
          <a:lstStyle/>
          <a:p>
            <a:pPr algn="l">
              <a:defRPr sz="1600" b="1">
                <a:solidFill>
                  <a:srgbClr val="0B233A"/>
                </a:solidFill>
                <a:latin typeface="Calibri"/>
              </a:defRPr>
            </a:pPr>
            <a:r>
              <a:t>🫁 Respiratory</a:t>
            </a:r>
          </a:p>
        </p:txBody>
      </p:sp>
      <p:sp>
        <p:nvSpPr>
          <p:cNvPr id="6" name="TextBox 5"/>
          <p:cNvSpPr txBox="1"/>
          <p:nvPr/>
        </p:nvSpPr>
        <p:spPr>
          <a:xfrm>
            <a:off x="594360" y="1874520"/>
            <a:ext cx="2377440" cy="640080"/>
          </a:xfrm>
          <a:prstGeom prst="rect">
            <a:avLst/>
          </a:prstGeom>
          <a:noFill/>
        </p:spPr>
        <p:txBody>
          <a:bodyPr wrap="square">
            <a:spAutoFit/>
          </a:bodyPr>
          <a:lstStyle/>
          <a:p>
            <a:pPr algn="l">
              <a:defRPr sz="1100" b="0">
                <a:solidFill>
                  <a:srgbClr val="333333"/>
                </a:solidFill>
                <a:latin typeface="Calibri"/>
              </a:defRPr>
            </a:pPr>
            <a:r>
              <a:t>Ventilators, CPAP, nebulizers</a:t>
            </a:r>
            <a:br/>
            <a:r>
              <a:t>Product codes: BZD, CBK, BTT, FRA</a:t>
            </a:r>
          </a:p>
        </p:txBody>
      </p:sp>
      <p:sp>
        <p:nvSpPr>
          <p:cNvPr id="7" name="TextBox 6"/>
          <p:cNvSpPr txBox="1"/>
          <p:nvPr/>
        </p:nvSpPr>
        <p:spPr>
          <a:xfrm>
            <a:off x="594360" y="2560320"/>
            <a:ext cx="2377440" cy="731520"/>
          </a:xfrm>
          <a:prstGeom prst="rect">
            <a:avLst/>
          </a:prstGeom>
          <a:noFill/>
        </p:spPr>
        <p:txBody>
          <a:bodyPr wrap="square">
            <a:spAutoFit/>
          </a:bodyPr>
          <a:lstStyle/>
          <a:p>
            <a:pPr algn="l">
              <a:defRPr sz="1000" b="0">
                <a:solidFill>
                  <a:srgbClr val="007ACC"/>
                </a:solidFill>
                <a:latin typeface="Calibri"/>
              </a:defRPr>
            </a:pPr>
            <a:r>
              <a:t>Includes:</a:t>
            </a:r>
            <a:br/>
            <a:r>
              <a:t>• Pre-seeded risks &amp; standards</a:t>
            </a:r>
            <a:br/>
            <a:r>
              <a:t>• Budget categories</a:t>
            </a:r>
            <a:br/>
            <a:r>
              <a:t>• Timeline &amp; milestones</a:t>
            </a:r>
          </a:p>
        </p:txBody>
      </p:sp>
      <p:sp>
        <p:nvSpPr>
          <p:cNvPr id="8" name="Rectangle 7"/>
          <p:cNvSpPr/>
          <p:nvPr/>
        </p:nvSpPr>
        <p:spPr>
          <a:xfrm>
            <a:off x="3337560" y="1371600"/>
            <a:ext cx="2651760" cy="2011680"/>
          </a:xfrm>
          <a:prstGeom prst="rect">
            <a:avLst/>
          </a:prstGeom>
          <a:solidFill>
            <a:srgbClr val="F5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3474720" y="1463040"/>
            <a:ext cx="2377440" cy="365760"/>
          </a:xfrm>
          <a:prstGeom prst="rect">
            <a:avLst/>
          </a:prstGeom>
          <a:noFill/>
        </p:spPr>
        <p:txBody>
          <a:bodyPr wrap="square">
            <a:spAutoFit/>
          </a:bodyPr>
          <a:lstStyle/>
          <a:p>
            <a:pPr algn="l">
              <a:defRPr sz="1600" b="1">
                <a:solidFill>
                  <a:srgbClr val="0B233A"/>
                </a:solidFill>
                <a:latin typeface="Calibri"/>
              </a:defRPr>
            </a:pPr>
            <a:r>
              <a:t>❤️ Cardiovascular</a:t>
            </a:r>
          </a:p>
        </p:txBody>
      </p:sp>
      <p:sp>
        <p:nvSpPr>
          <p:cNvPr id="10" name="TextBox 9"/>
          <p:cNvSpPr txBox="1"/>
          <p:nvPr/>
        </p:nvSpPr>
        <p:spPr>
          <a:xfrm>
            <a:off x="3474720" y="1874520"/>
            <a:ext cx="2377440" cy="640080"/>
          </a:xfrm>
          <a:prstGeom prst="rect">
            <a:avLst/>
          </a:prstGeom>
          <a:noFill/>
        </p:spPr>
        <p:txBody>
          <a:bodyPr wrap="square">
            <a:spAutoFit/>
          </a:bodyPr>
          <a:lstStyle/>
          <a:p>
            <a:pPr algn="l">
              <a:defRPr sz="1100" b="0">
                <a:solidFill>
                  <a:srgbClr val="333333"/>
                </a:solidFill>
                <a:latin typeface="Calibri"/>
              </a:defRPr>
            </a:pPr>
            <a:r>
              <a:t>ECG monitors, BP devices, stents</a:t>
            </a:r>
            <a:br/>
            <a:r>
              <a:t>Product codes: DRX, DXH, MHX</a:t>
            </a:r>
          </a:p>
        </p:txBody>
      </p:sp>
      <p:sp>
        <p:nvSpPr>
          <p:cNvPr id="11" name="TextBox 10"/>
          <p:cNvSpPr txBox="1"/>
          <p:nvPr/>
        </p:nvSpPr>
        <p:spPr>
          <a:xfrm>
            <a:off x="3474720" y="2560320"/>
            <a:ext cx="2377440" cy="731520"/>
          </a:xfrm>
          <a:prstGeom prst="rect">
            <a:avLst/>
          </a:prstGeom>
          <a:noFill/>
        </p:spPr>
        <p:txBody>
          <a:bodyPr wrap="square">
            <a:spAutoFit/>
          </a:bodyPr>
          <a:lstStyle/>
          <a:p>
            <a:pPr algn="l">
              <a:defRPr sz="1000" b="0">
                <a:solidFill>
                  <a:srgbClr val="007ACC"/>
                </a:solidFill>
                <a:latin typeface="Calibri"/>
              </a:defRPr>
            </a:pPr>
            <a:r>
              <a:t>Includes:</a:t>
            </a:r>
            <a:br/>
            <a:r>
              <a:t>• Pre-seeded risks &amp; standards</a:t>
            </a:r>
            <a:br/>
            <a:r>
              <a:t>• Budget categories</a:t>
            </a:r>
            <a:br/>
            <a:r>
              <a:t>• Timeline &amp; milestones</a:t>
            </a:r>
          </a:p>
        </p:txBody>
      </p:sp>
      <p:sp>
        <p:nvSpPr>
          <p:cNvPr id="12" name="Rectangle 11"/>
          <p:cNvSpPr/>
          <p:nvPr/>
        </p:nvSpPr>
        <p:spPr>
          <a:xfrm>
            <a:off x="6217920" y="1371600"/>
            <a:ext cx="2651760" cy="2011680"/>
          </a:xfrm>
          <a:prstGeom prst="rect">
            <a:avLst/>
          </a:prstGeom>
          <a:solidFill>
            <a:srgbClr val="F5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355080" y="1463040"/>
            <a:ext cx="2377440" cy="365760"/>
          </a:xfrm>
          <a:prstGeom prst="rect">
            <a:avLst/>
          </a:prstGeom>
          <a:noFill/>
        </p:spPr>
        <p:txBody>
          <a:bodyPr wrap="square">
            <a:spAutoFit/>
          </a:bodyPr>
          <a:lstStyle/>
          <a:p>
            <a:pPr algn="l">
              <a:defRPr sz="1600" b="1">
                <a:solidFill>
                  <a:srgbClr val="0B233A"/>
                </a:solidFill>
                <a:latin typeface="Calibri"/>
              </a:defRPr>
            </a:pPr>
            <a:r>
              <a:t>🦴 Orthopedic</a:t>
            </a:r>
          </a:p>
        </p:txBody>
      </p:sp>
      <p:sp>
        <p:nvSpPr>
          <p:cNvPr id="14" name="TextBox 13"/>
          <p:cNvSpPr txBox="1"/>
          <p:nvPr/>
        </p:nvSpPr>
        <p:spPr>
          <a:xfrm>
            <a:off x="6355080" y="1874520"/>
            <a:ext cx="2377440" cy="640080"/>
          </a:xfrm>
          <a:prstGeom prst="rect">
            <a:avLst/>
          </a:prstGeom>
          <a:noFill/>
        </p:spPr>
        <p:txBody>
          <a:bodyPr wrap="square">
            <a:spAutoFit/>
          </a:bodyPr>
          <a:lstStyle/>
          <a:p>
            <a:pPr algn="l">
              <a:defRPr sz="1100" b="0">
                <a:solidFill>
                  <a:srgbClr val="333333"/>
                </a:solidFill>
                <a:latin typeface="Calibri"/>
              </a:defRPr>
            </a:pPr>
            <a:r>
              <a:t>Joint implants, instruments,</a:t>
            </a:r>
            <a:br/>
            <a:r>
              <a:t>fixation devices</a:t>
            </a:r>
          </a:p>
        </p:txBody>
      </p:sp>
      <p:sp>
        <p:nvSpPr>
          <p:cNvPr id="15" name="TextBox 14"/>
          <p:cNvSpPr txBox="1"/>
          <p:nvPr/>
        </p:nvSpPr>
        <p:spPr>
          <a:xfrm>
            <a:off x="6355080" y="2560320"/>
            <a:ext cx="2377440" cy="731520"/>
          </a:xfrm>
          <a:prstGeom prst="rect">
            <a:avLst/>
          </a:prstGeom>
          <a:noFill/>
        </p:spPr>
        <p:txBody>
          <a:bodyPr wrap="square">
            <a:spAutoFit/>
          </a:bodyPr>
          <a:lstStyle/>
          <a:p>
            <a:pPr algn="l">
              <a:defRPr sz="1000" b="0">
                <a:solidFill>
                  <a:srgbClr val="007ACC"/>
                </a:solidFill>
                <a:latin typeface="Calibri"/>
              </a:defRPr>
            </a:pPr>
            <a:r>
              <a:t>Includes:</a:t>
            </a:r>
            <a:br/>
            <a:r>
              <a:t>• Pre-seeded risks &amp; standards</a:t>
            </a:r>
            <a:br/>
            <a:r>
              <a:t>• Budget categories</a:t>
            </a:r>
            <a:br/>
            <a:r>
              <a:t>• Timeline &amp; milestones</a:t>
            </a:r>
          </a:p>
        </p:txBody>
      </p:sp>
      <p:sp>
        <p:nvSpPr>
          <p:cNvPr id="16" name="Rectangle 15"/>
          <p:cNvSpPr/>
          <p:nvPr/>
        </p:nvSpPr>
        <p:spPr>
          <a:xfrm>
            <a:off x="9098280" y="1371600"/>
            <a:ext cx="2651760" cy="2011680"/>
          </a:xfrm>
          <a:prstGeom prst="rect">
            <a:avLst/>
          </a:prstGeom>
          <a:solidFill>
            <a:srgbClr val="F5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235440" y="1463040"/>
            <a:ext cx="2377440" cy="365760"/>
          </a:xfrm>
          <a:prstGeom prst="rect">
            <a:avLst/>
          </a:prstGeom>
          <a:noFill/>
        </p:spPr>
        <p:txBody>
          <a:bodyPr wrap="square">
            <a:spAutoFit/>
          </a:bodyPr>
          <a:lstStyle/>
          <a:p>
            <a:pPr algn="l">
              <a:defRPr sz="1600" b="1">
                <a:solidFill>
                  <a:srgbClr val="0B233A"/>
                </a:solidFill>
                <a:latin typeface="Calibri"/>
              </a:defRPr>
            </a:pPr>
            <a:r>
              <a:t>🧪 IVD</a:t>
            </a:r>
          </a:p>
        </p:txBody>
      </p:sp>
      <p:sp>
        <p:nvSpPr>
          <p:cNvPr id="18" name="TextBox 17"/>
          <p:cNvSpPr txBox="1"/>
          <p:nvPr/>
        </p:nvSpPr>
        <p:spPr>
          <a:xfrm>
            <a:off x="9235440" y="1874520"/>
            <a:ext cx="2377440" cy="640080"/>
          </a:xfrm>
          <a:prstGeom prst="rect">
            <a:avLst/>
          </a:prstGeom>
          <a:noFill/>
        </p:spPr>
        <p:txBody>
          <a:bodyPr wrap="square">
            <a:spAutoFit/>
          </a:bodyPr>
          <a:lstStyle/>
          <a:p>
            <a:pPr algn="l">
              <a:defRPr sz="1100" b="0">
                <a:solidFill>
                  <a:srgbClr val="333333"/>
                </a:solidFill>
                <a:latin typeface="Calibri"/>
              </a:defRPr>
            </a:pPr>
            <a:r>
              <a:t>In-vitro diagnostics, assays,</a:t>
            </a:r>
            <a:br/>
            <a:r>
              <a:t>analyzers</a:t>
            </a:r>
          </a:p>
        </p:txBody>
      </p:sp>
      <p:sp>
        <p:nvSpPr>
          <p:cNvPr id="19" name="TextBox 18"/>
          <p:cNvSpPr txBox="1"/>
          <p:nvPr/>
        </p:nvSpPr>
        <p:spPr>
          <a:xfrm>
            <a:off x="9235440" y="2560320"/>
            <a:ext cx="2377440" cy="731520"/>
          </a:xfrm>
          <a:prstGeom prst="rect">
            <a:avLst/>
          </a:prstGeom>
          <a:noFill/>
        </p:spPr>
        <p:txBody>
          <a:bodyPr wrap="square">
            <a:spAutoFit/>
          </a:bodyPr>
          <a:lstStyle/>
          <a:p>
            <a:pPr algn="l">
              <a:defRPr sz="1000" b="0">
                <a:solidFill>
                  <a:srgbClr val="007ACC"/>
                </a:solidFill>
                <a:latin typeface="Calibri"/>
              </a:defRPr>
            </a:pPr>
            <a:r>
              <a:t>Includes:</a:t>
            </a:r>
            <a:br/>
            <a:r>
              <a:t>• Pre-seeded risks &amp; standards</a:t>
            </a:r>
            <a:br/>
            <a:r>
              <a:t>• Budget categories</a:t>
            </a:r>
            <a:br/>
            <a:r>
              <a:t>• Timeline &amp; milestones</a:t>
            </a:r>
          </a:p>
        </p:txBody>
      </p:sp>
      <p:sp>
        <p:nvSpPr>
          <p:cNvPr id="20" name="Rectangle 19"/>
          <p:cNvSpPr/>
          <p:nvPr/>
        </p:nvSpPr>
        <p:spPr>
          <a:xfrm>
            <a:off x="457200" y="3657600"/>
            <a:ext cx="2651760" cy="2011680"/>
          </a:xfrm>
          <a:prstGeom prst="rect">
            <a:avLst/>
          </a:prstGeom>
          <a:solidFill>
            <a:srgbClr val="F5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94360" y="3749040"/>
            <a:ext cx="2377440" cy="365760"/>
          </a:xfrm>
          <a:prstGeom prst="rect">
            <a:avLst/>
          </a:prstGeom>
          <a:noFill/>
        </p:spPr>
        <p:txBody>
          <a:bodyPr wrap="square">
            <a:spAutoFit/>
          </a:bodyPr>
          <a:lstStyle/>
          <a:p>
            <a:pPr algn="l">
              <a:defRPr sz="1600" b="1">
                <a:solidFill>
                  <a:srgbClr val="0B233A"/>
                </a:solidFill>
                <a:latin typeface="Calibri"/>
              </a:defRPr>
            </a:pPr>
            <a:r>
              <a:t>📷 Imaging</a:t>
            </a:r>
          </a:p>
        </p:txBody>
      </p:sp>
      <p:sp>
        <p:nvSpPr>
          <p:cNvPr id="22" name="TextBox 21"/>
          <p:cNvSpPr txBox="1"/>
          <p:nvPr/>
        </p:nvSpPr>
        <p:spPr>
          <a:xfrm>
            <a:off x="594360" y="4160520"/>
            <a:ext cx="2377440" cy="640080"/>
          </a:xfrm>
          <a:prstGeom prst="rect">
            <a:avLst/>
          </a:prstGeom>
          <a:noFill/>
        </p:spPr>
        <p:txBody>
          <a:bodyPr wrap="square">
            <a:spAutoFit/>
          </a:bodyPr>
          <a:lstStyle/>
          <a:p>
            <a:pPr algn="l">
              <a:defRPr sz="1100" b="0">
                <a:solidFill>
                  <a:srgbClr val="333333"/>
                </a:solidFill>
                <a:latin typeface="Calibri"/>
              </a:defRPr>
            </a:pPr>
            <a:r>
              <a:t>X-ray, ultrasound,</a:t>
            </a:r>
            <a:br/>
            <a:r>
              <a:t>MRI accessories</a:t>
            </a:r>
          </a:p>
        </p:txBody>
      </p:sp>
      <p:sp>
        <p:nvSpPr>
          <p:cNvPr id="23" name="TextBox 22"/>
          <p:cNvSpPr txBox="1"/>
          <p:nvPr/>
        </p:nvSpPr>
        <p:spPr>
          <a:xfrm>
            <a:off x="594360" y="4846320"/>
            <a:ext cx="2377440" cy="731520"/>
          </a:xfrm>
          <a:prstGeom prst="rect">
            <a:avLst/>
          </a:prstGeom>
          <a:noFill/>
        </p:spPr>
        <p:txBody>
          <a:bodyPr wrap="square">
            <a:spAutoFit/>
          </a:bodyPr>
          <a:lstStyle/>
          <a:p>
            <a:pPr algn="l">
              <a:defRPr sz="1000" b="0">
                <a:solidFill>
                  <a:srgbClr val="007ACC"/>
                </a:solidFill>
                <a:latin typeface="Calibri"/>
              </a:defRPr>
            </a:pPr>
            <a:r>
              <a:t>Includes:</a:t>
            </a:r>
            <a:br/>
            <a:r>
              <a:t>• Pre-seeded risks &amp; standards</a:t>
            </a:r>
            <a:br/>
            <a:r>
              <a:t>• Budget categories</a:t>
            </a:r>
            <a:br/>
            <a:r>
              <a:t>• Timeline &amp; milestones</a:t>
            </a:r>
          </a:p>
        </p:txBody>
      </p:sp>
      <p:sp>
        <p:nvSpPr>
          <p:cNvPr id="24" name="Rectangle 23"/>
          <p:cNvSpPr/>
          <p:nvPr/>
        </p:nvSpPr>
        <p:spPr>
          <a:xfrm>
            <a:off x="3337560" y="3657600"/>
            <a:ext cx="2651760" cy="2011680"/>
          </a:xfrm>
          <a:prstGeom prst="rect">
            <a:avLst/>
          </a:prstGeom>
          <a:solidFill>
            <a:srgbClr val="F5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3474720" y="3749040"/>
            <a:ext cx="2377440" cy="365760"/>
          </a:xfrm>
          <a:prstGeom prst="rect">
            <a:avLst/>
          </a:prstGeom>
          <a:noFill/>
        </p:spPr>
        <p:txBody>
          <a:bodyPr wrap="square">
            <a:spAutoFit/>
          </a:bodyPr>
          <a:lstStyle/>
          <a:p>
            <a:pPr algn="l">
              <a:defRPr sz="1600" b="1">
                <a:solidFill>
                  <a:srgbClr val="0B233A"/>
                </a:solidFill>
                <a:latin typeface="Calibri"/>
              </a:defRPr>
            </a:pPr>
            <a:r>
              <a:t>♿ Rehabilitation</a:t>
            </a:r>
          </a:p>
        </p:txBody>
      </p:sp>
      <p:sp>
        <p:nvSpPr>
          <p:cNvPr id="26" name="TextBox 25"/>
          <p:cNvSpPr txBox="1"/>
          <p:nvPr/>
        </p:nvSpPr>
        <p:spPr>
          <a:xfrm>
            <a:off x="3474720" y="4160520"/>
            <a:ext cx="2377440" cy="640080"/>
          </a:xfrm>
          <a:prstGeom prst="rect">
            <a:avLst/>
          </a:prstGeom>
          <a:noFill/>
        </p:spPr>
        <p:txBody>
          <a:bodyPr wrap="square">
            <a:spAutoFit/>
          </a:bodyPr>
          <a:lstStyle/>
          <a:p>
            <a:pPr algn="l">
              <a:defRPr sz="1100" b="0">
                <a:solidFill>
                  <a:srgbClr val="333333"/>
                </a:solidFill>
                <a:latin typeface="Calibri"/>
              </a:defRPr>
            </a:pPr>
            <a:r>
              <a:t>Therapy devices,</a:t>
            </a:r>
            <a:br/>
            <a:r>
              <a:t>mobility aids</a:t>
            </a:r>
          </a:p>
        </p:txBody>
      </p:sp>
      <p:sp>
        <p:nvSpPr>
          <p:cNvPr id="27" name="TextBox 26"/>
          <p:cNvSpPr txBox="1"/>
          <p:nvPr/>
        </p:nvSpPr>
        <p:spPr>
          <a:xfrm>
            <a:off x="3474720" y="4846320"/>
            <a:ext cx="2377440" cy="731520"/>
          </a:xfrm>
          <a:prstGeom prst="rect">
            <a:avLst/>
          </a:prstGeom>
          <a:noFill/>
        </p:spPr>
        <p:txBody>
          <a:bodyPr wrap="square">
            <a:spAutoFit/>
          </a:bodyPr>
          <a:lstStyle/>
          <a:p>
            <a:pPr algn="l">
              <a:defRPr sz="1000" b="0">
                <a:solidFill>
                  <a:srgbClr val="007ACC"/>
                </a:solidFill>
                <a:latin typeface="Calibri"/>
              </a:defRPr>
            </a:pPr>
            <a:r>
              <a:t>Includes:</a:t>
            </a:r>
            <a:br/>
            <a:r>
              <a:t>• Pre-seeded risks &amp; standards</a:t>
            </a:r>
            <a:br/>
            <a:r>
              <a:t>• Budget categories</a:t>
            </a:r>
            <a:br/>
            <a:r>
              <a:t>• Timeline &amp; milestones</a:t>
            </a:r>
          </a:p>
        </p:txBody>
      </p:sp>
      <p:sp>
        <p:nvSpPr>
          <p:cNvPr id="28" name="Rectangle 27"/>
          <p:cNvSpPr/>
          <p:nvPr/>
        </p:nvSpPr>
        <p:spPr>
          <a:xfrm>
            <a:off x="6217920" y="3657600"/>
            <a:ext cx="2651760" cy="2011680"/>
          </a:xfrm>
          <a:prstGeom prst="rect">
            <a:avLst/>
          </a:prstGeom>
          <a:solidFill>
            <a:srgbClr val="F5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355080" y="3749040"/>
            <a:ext cx="2377440" cy="365760"/>
          </a:xfrm>
          <a:prstGeom prst="rect">
            <a:avLst/>
          </a:prstGeom>
          <a:noFill/>
        </p:spPr>
        <p:txBody>
          <a:bodyPr wrap="square">
            <a:spAutoFit/>
          </a:bodyPr>
          <a:lstStyle/>
          <a:p>
            <a:pPr algn="l">
              <a:defRPr sz="1600" b="1">
                <a:solidFill>
                  <a:srgbClr val="0B233A"/>
                </a:solidFill>
                <a:latin typeface="Calibri"/>
              </a:defRPr>
            </a:pPr>
            <a:r>
              <a:t>💻 SaMD</a:t>
            </a:r>
          </a:p>
        </p:txBody>
      </p:sp>
      <p:sp>
        <p:nvSpPr>
          <p:cNvPr id="30" name="TextBox 29"/>
          <p:cNvSpPr txBox="1"/>
          <p:nvPr/>
        </p:nvSpPr>
        <p:spPr>
          <a:xfrm>
            <a:off x="6355080" y="4160520"/>
            <a:ext cx="2377440" cy="640080"/>
          </a:xfrm>
          <a:prstGeom prst="rect">
            <a:avLst/>
          </a:prstGeom>
          <a:noFill/>
        </p:spPr>
        <p:txBody>
          <a:bodyPr wrap="square">
            <a:spAutoFit/>
          </a:bodyPr>
          <a:lstStyle/>
          <a:p>
            <a:pPr algn="l">
              <a:defRPr sz="1100" b="0">
                <a:solidFill>
                  <a:srgbClr val="333333"/>
                </a:solidFill>
                <a:latin typeface="Calibri"/>
              </a:defRPr>
            </a:pPr>
            <a:r>
              <a:t>Software as a Medical Device</a:t>
            </a:r>
            <a:br/>
            <a:r>
              <a:t>(IEC 62304 lifecycle)</a:t>
            </a:r>
          </a:p>
        </p:txBody>
      </p:sp>
      <p:sp>
        <p:nvSpPr>
          <p:cNvPr id="31" name="TextBox 30"/>
          <p:cNvSpPr txBox="1"/>
          <p:nvPr/>
        </p:nvSpPr>
        <p:spPr>
          <a:xfrm>
            <a:off x="6355080" y="4846320"/>
            <a:ext cx="2377440" cy="731520"/>
          </a:xfrm>
          <a:prstGeom prst="rect">
            <a:avLst/>
          </a:prstGeom>
          <a:noFill/>
        </p:spPr>
        <p:txBody>
          <a:bodyPr wrap="square">
            <a:spAutoFit/>
          </a:bodyPr>
          <a:lstStyle/>
          <a:p>
            <a:pPr algn="l">
              <a:defRPr sz="1000" b="0">
                <a:solidFill>
                  <a:srgbClr val="007ACC"/>
                </a:solidFill>
                <a:latin typeface="Calibri"/>
              </a:defRPr>
            </a:pPr>
            <a:r>
              <a:t>Includes:</a:t>
            </a:r>
            <a:br/>
            <a:r>
              <a:t>• Pre-seeded risks &amp; standards</a:t>
            </a:r>
            <a:br/>
            <a:r>
              <a:t>• Budget categories</a:t>
            </a:r>
            <a:br/>
            <a:r>
              <a:t>• Timeline &amp; milestones</a:t>
            </a:r>
          </a:p>
        </p:txBody>
      </p:sp>
      <p:sp>
        <p:nvSpPr>
          <p:cNvPr id="32" name="TextBox 31"/>
          <p:cNvSpPr txBox="1"/>
          <p:nvPr/>
        </p:nvSpPr>
        <p:spPr>
          <a:xfrm>
            <a:off x="457200" y="6035040"/>
            <a:ext cx="10972800" cy="548640"/>
          </a:xfrm>
          <a:prstGeom prst="rect">
            <a:avLst/>
          </a:prstGeom>
          <a:noFill/>
        </p:spPr>
        <p:txBody>
          <a:bodyPr wrap="square">
            <a:spAutoFit/>
          </a:bodyPr>
          <a:lstStyle/>
          <a:p>
            <a:pPr algn="l">
              <a:defRPr sz="1400" b="0">
                <a:solidFill>
                  <a:srgbClr val="333333"/>
                </a:solidFill>
                <a:latin typeface="Calibri"/>
              </a:defRPr>
            </a:pPr>
            <a:r>
              <a:t>Each template auto-populates risks, standards, budget categories, milestones, and timelines — teams are productive within minutes of project creation, not weeks.</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05840"/>
          </a:xfrm>
          <a:prstGeom prst="rect">
            <a:avLst/>
          </a:prstGeom>
          <a:solidFill>
            <a:srgbClr val="0B23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74320"/>
            <a:ext cx="9144000" cy="548640"/>
          </a:xfrm>
          <a:prstGeom prst="rect">
            <a:avLst/>
          </a:prstGeom>
          <a:noFill/>
        </p:spPr>
        <p:txBody>
          <a:bodyPr wrap="square">
            <a:spAutoFit/>
          </a:bodyPr>
          <a:lstStyle/>
          <a:p>
            <a:pPr algn="l">
              <a:defRPr sz="2800" b="1">
                <a:solidFill>
                  <a:srgbClr val="FFFFFF"/>
                </a:solidFill>
                <a:latin typeface="Calibri"/>
              </a:defRPr>
            </a:pPr>
            <a:r>
              <a:t>Role-Based Access &amp; Subscription Tiers</a:t>
            </a:r>
          </a:p>
        </p:txBody>
      </p:sp>
      <p:sp>
        <p:nvSpPr>
          <p:cNvPr id="4" name="Rectangle 3"/>
          <p:cNvSpPr/>
          <p:nvPr/>
        </p:nvSpPr>
        <p:spPr>
          <a:xfrm>
            <a:off x="457200" y="1280160"/>
            <a:ext cx="2286000" cy="502920"/>
          </a:xfrm>
          <a:prstGeom prst="rect">
            <a:avLst/>
          </a:prstGeom>
          <a:solidFill>
            <a:srgbClr val="0096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1353312"/>
            <a:ext cx="2103120" cy="365760"/>
          </a:xfrm>
          <a:prstGeom prst="rect">
            <a:avLst/>
          </a:prstGeom>
          <a:noFill/>
        </p:spPr>
        <p:txBody>
          <a:bodyPr wrap="square">
            <a:spAutoFit/>
          </a:bodyPr>
          <a:lstStyle/>
          <a:p>
            <a:pPr algn="l">
              <a:defRPr sz="1300" b="1">
                <a:solidFill>
                  <a:srgbClr val="FFFFFF"/>
                </a:solidFill>
                <a:latin typeface="Calibri"/>
              </a:defRPr>
            </a:pPr>
            <a:r>
              <a:t>PMP (Project Manager)</a:t>
            </a:r>
          </a:p>
        </p:txBody>
      </p:sp>
      <p:sp>
        <p:nvSpPr>
          <p:cNvPr id="6" name="TextBox 5"/>
          <p:cNvSpPr txBox="1"/>
          <p:nvPr/>
        </p:nvSpPr>
        <p:spPr>
          <a:xfrm>
            <a:off x="2926080" y="1353312"/>
            <a:ext cx="4572000" cy="365760"/>
          </a:xfrm>
          <a:prstGeom prst="rect">
            <a:avLst/>
          </a:prstGeom>
          <a:noFill/>
        </p:spPr>
        <p:txBody>
          <a:bodyPr wrap="square">
            <a:spAutoFit/>
          </a:bodyPr>
          <a:lstStyle/>
          <a:p>
            <a:pPr algn="l">
              <a:defRPr sz="1300" b="0">
                <a:solidFill>
                  <a:srgbClr val="333333"/>
                </a:solidFill>
                <a:latin typeface="Calibri"/>
              </a:defRPr>
            </a:pPr>
            <a:r>
              <a:t>Full access to all 17 tabs; FDA Comms exclusive</a:t>
            </a:r>
          </a:p>
        </p:txBody>
      </p:sp>
      <p:sp>
        <p:nvSpPr>
          <p:cNvPr id="7" name="Rectangle 6"/>
          <p:cNvSpPr/>
          <p:nvPr/>
        </p:nvSpPr>
        <p:spPr>
          <a:xfrm>
            <a:off x="457200" y="1874520"/>
            <a:ext cx="2286000" cy="502920"/>
          </a:xfrm>
          <a:prstGeom prst="rect">
            <a:avLst/>
          </a:prstGeom>
          <a:solidFill>
            <a:srgbClr val="007A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1947672"/>
            <a:ext cx="2103120" cy="365760"/>
          </a:xfrm>
          <a:prstGeom prst="rect">
            <a:avLst/>
          </a:prstGeom>
          <a:noFill/>
        </p:spPr>
        <p:txBody>
          <a:bodyPr wrap="square">
            <a:spAutoFit/>
          </a:bodyPr>
          <a:lstStyle/>
          <a:p>
            <a:pPr algn="l">
              <a:defRPr sz="1300" b="1">
                <a:solidFill>
                  <a:srgbClr val="FFFFFF"/>
                </a:solidFill>
                <a:latin typeface="Calibri"/>
              </a:defRPr>
            </a:pPr>
            <a:r>
              <a:t>Technology</a:t>
            </a:r>
          </a:p>
        </p:txBody>
      </p:sp>
      <p:sp>
        <p:nvSpPr>
          <p:cNvPr id="9" name="TextBox 8"/>
          <p:cNvSpPr txBox="1"/>
          <p:nvPr/>
        </p:nvSpPr>
        <p:spPr>
          <a:xfrm>
            <a:off x="2926080" y="1947672"/>
            <a:ext cx="4572000" cy="365760"/>
          </a:xfrm>
          <a:prstGeom prst="rect">
            <a:avLst/>
          </a:prstGeom>
          <a:noFill/>
        </p:spPr>
        <p:txBody>
          <a:bodyPr wrap="square">
            <a:spAutoFit/>
          </a:bodyPr>
          <a:lstStyle/>
          <a:p>
            <a:pPr algn="l">
              <a:defRPr sz="1300" b="0">
                <a:solidFill>
                  <a:srgbClr val="333333"/>
                </a:solidFill>
                <a:latin typeface="Calibri"/>
              </a:defRPr>
            </a:pPr>
            <a:r>
              <a:t>Technical/Regulatory tabs, Risks, Docs, Actions, Resources, Message Board</a:t>
            </a:r>
          </a:p>
        </p:txBody>
      </p:sp>
      <p:sp>
        <p:nvSpPr>
          <p:cNvPr id="10" name="Rectangle 9"/>
          <p:cNvSpPr/>
          <p:nvPr/>
        </p:nvSpPr>
        <p:spPr>
          <a:xfrm>
            <a:off x="457200" y="2468880"/>
            <a:ext cx="2286000" cy="502920"/>
          </a:xfrm>
          <a:prstGeom prst="rect">
            <a:avLst/>
          </a:prstGeom>
          <a:solidFill>
            <a:srgbClr val="2E7D3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2542032"/>
            <a:ext cx="2103120" cy="365760"/>
          </a:xfrm>
          <a:prstGeom prst="rect">
            <a:avLst/>
          </a:prstGeom>
          <a:noFill/>
        </p:spPr>
        <p:txBody>
          <a:bodyPr wrap="square">
            <a:spAutoFit/>
          </a:bodyPr>
          <a:lstStyle/>
          <a:p>
            <a:pPr algn="l">
              <a:defRPr sz="1300" b="1">
                <a:solidFill>
                  <a:srgbClr val="FFFFFF"/>
                </a:solidFill>
                <a:latin typeface="Calibri"/>
              </a:defRPr>
            </a:pPr>
            <a:r>
              <a:t>Business</a:t>
            </a:r>
          </a:p>
        </p:txBody>
      </p:sp>
      <p:sp>
        <p:nvSpPr>
          <p:cNvPr id="12" name="TextBox 11"/>
          <p:cNvSpPr txBox="1"/>
          <p:nvPr/>
        </p:nvSpPr>
        <p:spPr>
          <a:xfrm>
            <a:off x="2926080" y="2542032"/>
            <a:ext cx="4572000" cy="365760"/>
          </a:xfrm>
          <a:prstGeom prst="rect">
            <a:avLst/>
          </a:prstGeom>
          <a:noFill/>
        </p:spPr>
        <p:txBody>
          <a:bodyPr wrap="square">
            <a:spAutoFit/>
          </a:bodyPr>
          <a:lstStyle/>
          <a:p>
            <a:pPr algn="l">
              <a:defRPr sz="1300" b="0">
                <a:solidFill>
                  <a:srgbClr val="333333"/>
                </a:solidFill>
                <a:latin typeface="Calibri"/>
              </a:defRPr>
            </a:pPr>
            <a:r>
              <a:t>Business milestones, Budget, Investment, Message Board</a:t>
            </a:r>
          </a:p>
        </p:txBody>
      </p:sp>
      <p:sp>
        <p:nvSpPr>
          <p:cNvPr id="13" name="Rectangle 12"/>
          <p:cNvSpPr/>
          <p:nvPr/>
        </p:nvSpPr>
        <p:spPr>
          <a:xfrm>
            <a:off x="457200" y="3063240"/>
            <a:ext cx="2286000" cy="502920"/>
          </a:xfrm>
          <a:prstGeom prst="rect">
            <a:avLst/>
          </a:prstGeom>
          <a:solidFill>
            <a:srgbClr val="7B1FA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48640" y="3136392"/>
            <a:ext cx="2103120" cy="365760"/>
          </a:xfrm>
          <a:prstGeom prst="rect">
            <a:avLst/>
          </a:prstGeom>
          <a:noFill/>
        </p:spPr>
        <p:txBody>
          <a:bodyPr wrap="square">
            <a:spAutoFit/>
          </a:bodyPr>
          <a:lstStyle/>
          <a:p>
            <a:pPr algn="l">
              <a:defRPr sz="1300" b="1">
                <a:solidFill>
                  <a:srgbClr val="FFFFFF"/>
                </a:solidFill>
                <a:latin typeface="Calibri"/>
              </a:defRPr>
            </a:pPr>
            <a:r>
              <a:t>Accounting</a:t>
            </a:r>
          </a:p>
        </p:txBody>
      </p:sp>
      <p:sp>
        <p:nvSpPr>
          <p:cNvPr id="15" name="TextBox 14"/>
          <p:cNvSpPr txBox="1"/>
          <p:nvPr/>
        </p:nvSpPr>
        <p:spPr>
          <a:xfrm>
            <a:off x="2926080" y="3136392"/>
            <a:ext cx="4572000" cy="365760"/>
          </a:xfrm>
          <a:prstGeom prst="rect">
            <a:avLst/>
          </a:prstGeom>
          <a:noFill/>
        </p:spPr>
        <p:txBody>
          <a:bodyPr wrap="square">
            <a:spAutoFit/>
          </a:bodyPr>
          <a:lstStyle/>
          <a:p>
            <a:pPr algn="l">
              <a:defRPr sz="1300" b="0">
                <a:solidFill>
                  <a:srgbClr val="333333"/>
                </a:solidFill>
                <a:latin typeface="Calibri"/>
              </a:defRPr>
            </a:pPr>
            <a:r>
              <a:t>Budget, Cash/Runway (limited editing)</a:t>
            </a:r>
          </a:p>
        </p:txBody>
      </p:sp>
      <p:sp>
        <p:nvSpPr>
          <p:cNvPr id="16" name="TextBox 15"/>
          <p:cNvSpPr txBox="1"/>
          <p:nvPr/>
        </p:nvSpPr>
        <p:spPr>
          <a:xfrm>
            <a:off x="457200" y="3749039"/>
            <a:ext cx="4572000" cy="457200"/>
          </a:xfrm>
          <a:prstGeom prst="rect">
            <a:avLst/>
          </a:prstGeom>
          <a:noFill/>
        </p:spPr>
        <p:txBody>
          <a:bodyPr wrap="square">
            <a:spAutoFit/>
          </a:bodyPr>
          <a:lstStyle/>
          <a:p>
            <a:pPr algn="l">
              <a:defRPr sz="2200" b="1">
                <a:solidFill>
                  <a:srgbClr val="0B233A"/>
                </a:solidFill>
                <a:latin typeface="Calibri"/>
              </a:defRPr>
            </a:pPr>
            <a:r>
              <a:t>Subscription Tiers</a:t>
            </a:r>
          </a:p>
        </p:txBody>
      </p:sp>
      <p:sp>
        <p:nvSpPr>
          <p:cNvPr id="17" name="Rectangle 16"/>
          <p:cNvSpPr/>
          <p:nvPr/>
        </p:nvSpPr>
        <p:spPr>
          <a:xfrm>
            <a:off x="457200" y="4297680"/>
            <a:ext cx="3200400" cy="548640"/>
          </a:xfrm>
          <a:prstGeom prst="rect">
            <a:avLst/>
          </a:prstGeom>
          <a:solidFill>
            <a:srgbClr val="0096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48640" y="4389120"/>
            <a:ext cx="3017520" cy="365760"/>
          </a:xfrm>
          <a:prstGeom prst="rect">
            <a:avLst/>
          </a:prstGeom>
          <a:noFill/>
        </p:spPr>
        <p:txBody>
          <a:bodyPr wrap="square">
            <a:spAutoFit/>
          </a:bodyPr>
          <a:lstStyle/>
          <a:p>
            <a:pPr algn="l">
              <a:defRPr sz="1400" b="1">
                <a:solidFill>
                  <a:srgbClr val="FFFFFF"/>
                </a:solidFill>
                <a:latin typeface="Calibri"/>
              </a:defRPr>
            </a:pPr>
            <a:r>
              <a:t>Starter — $500/mo</a:t>
            </a:r>
          </a:p>
        </p:txBody>
      </p:sp>
      <p:sp>
        <p:nvSpPr>
          <p:cNvPr id="19" name="TextBox 18"/>
          <p:cNvSpPr txBox="1"/>
          <p:nvPr/>
        </p:nvSpPr>
        <p:spPr>
          <a:xfrm>
            <a:off x="3840480" y="4389120"/>
            <a:ext cx="1371600" cy="365760"/>
          </a:xfrm>
          <a:prstGeom prst="rect">
            <a:avLst/>
          </a:prstGeom>
          <a:noFill/>
        </p:spPr>
        <p:txBody>
          <a:bodyPr wrap="square">
            <a:spAutoFit/>
          </a:bodyPr>
          <a:lstStyle/>
          <a:p>
            <a:pPr algn="l">
              <a:defRPr sz="1300" b="1">
                <a:solidFill>
                  <a:srgbClr val="333333"/>
                </a:solidFill>
                <a:latin typeface="Calibri"/>
              </a:defRPr>
            </a:pPr>
            <a:r>
              <a:t>2 seats</a:t>
            </a:r>
          </a:p>
        </p:txBody>
      </p:sp>
      <p:sp>
        <p:nvSpPr>
          <p:cNvPr id="20" name="TextBox 19"/>
          <p:cNvSpPr txBox="1"/>
          <p:nvPr/>
        </p:nvSpPr>
        <p:spPr>
          <a:xfrm>
            <a:off x="5212080" y="4389120"/>
            <a:ext cx="6400800" cy="365760"/>
          </a:xfrm>
          <a:prstGeom prst="rect">
            <a:avLst/>
          </a:prstGeom>
          <a:noFill/>
        </p:spPr>
        <p:txBody>
          <a:bodyPr wrap="square">
            <a:spAutoFit/>
          </a:bodyPr>
          <a:lstStyle/>
          <a:p>
            <a:pPr algn="l">
              <a:defRPr sz="1300" b="0">
                <a:solidFill>
                  <a:srgbClr val="333333"/>
                </a:solidFill>
                <a:latin typeface="Calibri"/>
              </a:defRPr>
            </a:pPr>
            <a:r>
              <a:t>Dual-Track, Gates, Timeline, Budget</a:t>
            </a:r>
          </a:p>
        </p:txBody>
      </p:sp>
      <p:sp>
        <p:nvSpPr>
          <p:cNvPr id="21" name="Rectangle 20"/>
          <p:cNvSpPr/>
          <p:nvPr/>
        </p:nvSpPr>
        <p:spPr>
          <a:xfrm>
            <a:off x="457200" y="4937760"/>
            <a:ext cx="3200400" cy="548640"/>
          </a:xfrm>
          <a:prstGeom prst="rect">
            <a:avLst/>
          </a:prstGeom>
          <a:solidFill>
            <a:srgbClr val="007A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48640" y="5029200"/>
            <a:ext cx="3017520" cy="365760"/>
          </a:xfrm>
          <a:prstGeom prst="rect">
            <a:avLst/>
          </a:prstGeom>
          <a:noFill/>
        </p:spPr>
        <p:txBody>
          <a:bodyPr wrap="square">
            <a:spAutoFit/>
          </a:bodyPr>
          <a:lstStyle/>
          <a:p>
            <a:pPr algn="l">
              <a:defRPr sz="1400" b="1">
                <a:solidFill>
                  <a:srgbClr val="FFFFFF"/>
                </a:solidFill>
                <a:latin typeface="Calibri"/>
              </a:defRPr>
            </a:pPr>
            <a:r>
              <a:t>Growth — $1,000/mo</a:t>
            </a:r>
          </a:p>
        </p:txBody>
      </p:sp>
      <p:sp>
        <p:nvSpPr>
          <p:cNvPr id="23" name="TextBox 22"/>
          <p:cNvSpPr txBox="1"/>
          <p:nvPr/>
        </p:nvSpPr>
        <p:spPr>
          <a:xfrm>
            <a:off x="3840480" y="5029200"/>
            <a:ext cx="1371600" cy="365760"/>
          </a:xfrm>
          <a:prstGeom prst="rect">
            <a:avLst/>
          </a:prstGeom>
          <a:noFill/>
        </p:spPr>
        <p:txBody>
          <a:bodyPr wrap="square">
            <a:spAutoFit/>
          </a:bodyPr>
          <a:lstStyle/>
          <a:p>
            <a:pPr algn="l">
              <a:defRPr sz="1300" b="1">
                <a:solidFill>
                  <a:srgbClr val="333333"/>
                </a:solidFill>
                <a:latin typeface="Calibri"/>
              </a:defRPr>
            </a:pPr>
            <a:r>
              <a:t>5 seats</a:t>
            </a:r>
          </a:p>
        </p:txBody>
      </p:sp>
      <p:sp>
        <p:nvSpPr>
          <p:cNvPr id="24" name="TextBox 23"/>
          <p:cNvSpPr txBox="1"/>
          <p:nvPr/>
        </p:nvSpPr>
        <p:spPr>
          <a:xfrm>
            <a:off x="5212080" y="5029200"/>
            <a:ext cx="6400800" cy="365760"/>
          </a:xfrm>
          <a:prstGeom prst="rect">
            <a:avLst/>
          </a:prstGeom>
          <a:noFill/>
        </p:spPr>
        <p:txBody>
          <a:bodyPr wrap="square">
            <a:spAutoFit/>
          </a:bodyPr>
          <a:lstStyle/>
          <a:p>
            <a:pPr algn="l">
              <a:defRPr sz="1300" b="0">
                <a:solidFill>
                  <a:srgbClr val="333333"/>
                </a:solidFill>
                <a:latin typeface="Calibri"/>
              </a:defRPr>
            </a:pPr>
            <a:r>
              <a:t>All except FDA Comms, US Investment</a:t>
            </a:r>
          </a:p>
        </p:txBody>
      </p:sp>
      <p:sp>
        <p:nvSpPr>
          <p:cNvPr id="25" name="Rectangle 24"/>
          <p:cNvSpPr/>
          <p:nvPr/>
        </p:nvSpPr>
        <p:spPr>
          <a:xfrm>
            <a:off x="457200" y="5577840"/>
            <a:ext cx="3200400" cy="548640"/>
          </a:xfrm>
          <a:prstGeom prst="rect">
            <a:avLst/>
          </a:prstGeom>
          <a:solidFill>
            <a:srgbClr val="0B23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548640" y="5669280"/>
            <a:ext cx="3017520" cy="365760"/>
          </a:xfrm>
          <a:prstGeom prst="rect">
            <a:avLst/>
          </a:prstGeom>
          <a:noFill/>
        </p:spPr>
        <p:txBody>
          <a:bodyPr wrap="square">
            <a:spAutoFit/>
          </a:bodyPr>
          <a:lstStyle/>
          <a:p>
            <a:pPr algn="l">
              <a:defRPr sz="1400" b="1">
                <a:solidFill>
                  <a:srgbClr val="FFFFFF"/>
                </a:solidFill>
                <a:latin typeface="Calibri"/>
              </a:defRPr>
            </a:pPr>
            <a:r>
              <a:t>Scale — $2,000/mo</a:t>
            </a:r>
          </a:p>
        </p:txBody>
      </p:sp>
      <p:sp>
        <p:nvSpPr>
          <p:cNvPr id="27" name="TextBox 26"/>
          <p:cNvSpPr txBox="1"/>
          <p:nvPr/>
        </p:nvSpPr>
        <p:spPr>
          <a:xfrm>
            <a:off x="3840480" y="5669280"/>
            <a:ext cx="1371600" cy="365760"/>
          </a:xfrm>
          <a:prstGeom prst="rect">
            <a:avLst/>
          </a:prstGeom>
          <a:noFill/>
        </p:spPr>
        <p:txBody>
          <a:bodyPr wrap="square">
            <a:spAutoFit/>
          </a:bodyPr>
          <a:lstStyle/>
          <a:p>
            <a:pPr algn="l">
              <a:defRPr sz="1300" b="1">
                <a:solidFill>
                  <a:srgbClr val="333333"/>
                </a:solidFill>
                <a:latin typeface="Calibri"/>
              </a:defRPr>
            </a:pPr>
            <a:r>
              <a:t>10 seats</a:t>
            </a:r>
          </a:p>
        </p:txBody>
      </p:sp>
      <p:sp>
        <p:nvSpPr>
          <p:cNvPr id="28" name="TextBox 27"/>
          <p:cNvSpPr txBox="1"/>
          <p:nvPr/>
        </p:nvSpPr>
        <p:spPr>
          <a:xfrm>
            <a:off x="5212080" y="5669280"/>
            <a:ext cx="6400800" cy="365760"/>
          </a:xfrm>
          <a:prstGeom prst="rect">
            <a:avLst/>
          </a:prstGeom>
          <a:noFill/>
        </p:spPr>
        <p:txBody>
          <a:bodyPr wrap="square">
            <a:spAutoFit/>
          </a:bodyPr>
          <a:lstStyle/>
          <a:p>
            <a:pPr algn="l">
              <a:defRPr sz="1300" b="0">
                <a:solidFill>
                  <a:srgbClr val="333333"/>
                </a:solidFill>
                <a:latin typeface="Calibri"/>
              </a:defRPr>
            </a:pPr>
            <a:r>
              <a:t>All 17 tabs including FDA Comms + Predicate Finder</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05840"/>
          </a:xfrm>
          <a:prstGeom prst="rect">
            <a:avLst/>
          </a:prstGeom>
          <a:solidFill>
            <a:srgbClr val="0B23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74320"/>
            <a:ext cx="9144000" cy="548640"/>
          </a:xfrm>
          <a:prstGeom prst="rect">
            <a:avLst/>
          </a:prstGeom>
          <a:noFill/>
        </p:spPr>
        <p:txBody>
          <a:bodyPr wrap="square">
            <a:spAutoFit/>
          </a:bodyPr>
          <a:lstStyle/>
          <a:p>
            <a:pPr algn="l">
              <a:defRPr sz="2800" b="1">
                <a:solidFill>
                  <a:srgbClr val="FFFFFF"/>
                </a:solidFill>
                <a:latin typeface="Calibri"/>
              </a:defRPr>
            </a:pPr>
            <a:r>
              <a:t>Competitive Comparison: Control Tower vs. Alternatives</a:t>
            </a:r>
          </a:p>
        </p:txBody>
      </p:sp>
      <p:sp>
        <p:nvSpPr>
          <p:cNvPr id="4" name="Rectangle 3"/>
          <p:cNvSpPr/>
          <p:nvPr/>
        </p:nvSpPr>
        <p:spPr>
          <a:xfrm>
            <a:off x="457200" y="1188720"/>
            <a:ext cx="2286000" cy="548640"/>
          </a:xfrm>
          <a:prstGeom prst="rect">
            <a:avLst/>
          </a:prstGeom>
          <a:solidFill>
            <a:srgbClr val="0B23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2920" y="1216152"/>
            <a:ext cx="2194560" cy="502920"/>
          </a:xfrm>
          <a:prstGeom prst="rect">
            <a:avLst/>
          </a:prstGeom>
          <a:noFill/>
        </p:spPr>
        <p:txBody>
          <a:bodyPr wrap="square">
            <a:spAutoFit/>
          </a:bodyPr>
          <a:lstStyle/>
          <a:p>
            <a:pPr algn="ctr">
              <a:defRPr sz="1000" b="1">
                <a:solidFill>
                  <a:srgbClr val="FFFFFF"/>
                </a:solidFill>
                <a:latin typeface="Calibri"/>
              </a:defRPr>
            </a:pPr>
            <a:r>
              <a:t>Feature</a:t>
            </a:r>
          </a:p>
        </p:txBody>
      </p:sp>
      <p:sp>
        <p:nvSpPr>
          <p:cNvPr id="6" name="Rectangle 5"/>
          <p:cNvSpPr/>
          <p:nvPr/>
        </p:nvSpPr>
        <p:spPr>
          <a:xfrm>
            <a:off x="2743200" y="1188720"/>
            <a:ext cx="1645920" cy="548640"/>
          </a:xfrm>
          <a:prstGeom prst="rect">
            <a:avLst/>
          </a:prstGeom>
          <a:solidFill>
            <a:srgbClr val="0096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788920" y="1216152"/>
            <a:ext cx="1554480" cy="502920"/>
          </a:xfrm>
          <a:prstGeom prst="rect">
            <a:avLst/>
          </a:prstGeom>
          <a:noFill/>
        </p:spPr>
        <p:txBody>
          <a:bodyPr wrap="square">
            <a:spAutoFit/>
          </a:bodyPr>
          <a:lstStyle/>
          <a:p>
            <a:pPr algn="ctr">
              <a:defRPr sz="1000" b="1">
                <a:solidFill>
                  <a:srgbClr val="FFFFFF"/>
                </a:solidFill>
                <a:latin typeface="Calibri"/>
              </a:defRPr>
            </a:pPr>
            <a:r>
              <a:t>Control Tower</a:t>
            </a:r>
          </a:p>
        </p:txBody>
      </p:sp>
      <p:sp>
        <p:nvSpPr>
          <p:cNvPr id="8" name="Rectangle 7"/>
          <p:cNvSpPr/>
          <p:nvPr/>
        </p:nvSpPr>
        <p:spPr>
          <a:xfrm>
            <a:off x="4389120" y="1188720"/>
            <a:ext cx="1371600" cy="548640"/>
          </a:xfrm>
          <a:prstGeom prst="rect">
            <a:avLst/>
          </a:prstGeom>
          <a:solidFill>
            <a:srgbClr val="F5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434840" y="1216152"/>
            <a:ext cx="1280160" cy="502920"/>
          </a:xfrm>
          <a:prstGeom prst="rect">
            <a:avLst/>
          </a:prstGeom>
          <a:noFill/>
        </p:spPr>
        <p:txBody>
          <a:bodyPr wrap="square">
            <a:spAutoFit/>
          </a:bodyPr>
          <a:lstStyle/>
          <a:p>
            <a:pPr algn="ctr">
              <a:defRPr sz="1000" b="1">
                <a:solidFill>
                  <a:srgbClr val="333333"/>
                </a:solidFill>
                <a:latin typeface="Calibri"/>
              </a:defRPr>
            </a:pPr>
            <a:r>
              <a:t>Greenlight</a:t>
            </a:r>
            <a:br/>
            <a:r>
              <a:t>Guru</a:t>
            </a:r>
          </a:p>
        </p:txBody>
      </p:sp>
      <p:sp>
        <p:nvSpPr>
          <p:cNvPr id="10" name="Rectangle 9"/>
          <p:cNvSpPr/>
          <p:nvPr/>
        </p:nvSpPr>
        <p:spPr>
          <a:xfrm>
            <a:off x="5760720" y="1188720"/>
            <a:ext cx="1371600" cy="548640"/>
          </a:xfrm>
          <a:prstGeom prst="rect">
            <a:avLst/>
          </a:prstGeom>
          <a:solidFill>
            <a:srgbClr val="F5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806440" y="1216152"/>
            <a:ext cx="1280160" cy="502920"/>
          </a:xfrm>
          <a:prstGeom prst="rect">
            <a:avLst/>
          </a:prstGeom>
          <a:noFill/>
        </p:spPr>
        <p:txBody>
          <a:bodyPr wrap="square">
            <a:spAutoFit/>
          </a:bodyPr>
          <a:lstStyle/>
          <a:p>
            <a:pPr algn="ctr">
              <a:defRPr sz="1000" b="1">
                <a:solidFill>
                  <a:srgbClr val="333333"/>
                </a:solidFill>
                <a:latin typeface="Calibri"/>
              </a:defRPr>
            </a:pPr>
            <a:r>
              <a:t>Master</a:t>
            </a:r>
            <a:br/>
            <a:r>
              <a:t>Control</a:t>
            </a:r>
          </a:p>
        </p:txBody>
      </p:sp>
      <p:sp>
        <p:nvSpPr>
          <p:cNvPr id="12" name="Rectangle 11"/>
          <p:cNvSpPr/>
          <p:nvPr/>
        </p:nvSpPr>
        <p:spPr>
          <a:xfrm>
            <a:off x="7132320" y="1188720"/>
            <a:ext cx="1371600" cy="548640"/>
          </a:xfrm>
          <a:prstGeom prst="rect">
            <a:avLst/>
          </a:prstGeom>
          <a:solidFill>
            <a:srgbClr val="F5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178040" y="1216152"/>
            <a:ext cx="1280160" cy="502920"/>
          </a:xfrm>
          <a:prstGeom prst="rect">
            <a:avLst/>
          </a:prstGeom>
          <a:noFill/>
        </p:spPr>
        <p:txBody>
          <a:bodyPr wrap="square">
            <a:spAutoFit/>
          </a:bodyPr>
          <a:lstStyle/>
          <a:p>
            <a:pPr algn="ctr">
              <a:defRPr sz="1000" b="1">
                <a:solidFill>
                  <a:srgbClr val="333333"/>
                </a:solidFill>
                <a:latin typeface="Calibri"/>
              </a:defRPr>
            </a:pPr>
            <a:r>
              <a:t>Jama</a:t>
            </a:r>
            <a:br/>
            <a:r>
              <a:t>Connect</a:t>
            </a:r>
          </a:p>
        </p:txBody>
      </p:sp>
      <p:sp>
        <p:nvSpPr>
          <p:cNvPr id="14" name="Rectangle 13"/>
          <p:cNvSpPr/>
          <p:nvPr/>
        </p:nvSpPr>
        <p:spPr>
          <a:xfrm>
            <a:off x="8503920" y="1188720"/>
            <a:ext cx="1188720" cy="548640"/>
          </a:xfrm>
          <a:prstGeom prst="rect">
            <a:avLst/>
          </a:prstGeom>
          <a:solidFill>
            <a:srgbClr val="F5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549640" y="1216152"/>
            <a:ext cx="1097280" cy="502920"/>
          </a:xfrm>
          <a:prstGeom prst="rect">
            <a:avLst/>
          </a:prstGeom>
          <a:noFill/>
        </p:spPr>
        <p:txBody>
          <a:bodyPr wrap="square">
            <a:spAutoFit/>
          </a:bodyPr>
          <a:lstStyle/>
          <a:p>
            <a:pPr algn="ctr">
              <a:defRPr sz="1000" b="1">
                <a:solidFill>
                  <a:srgbClr val="333333"/>
                </a:solidFill>
                <a:latin typeface="Calibri"/>
              </a:defRPr>
            </a:pPr>
            <a:r>
              <a:t>Qualio</a:t>
            </a:r>
          </a:p>
        </p:txBody>
      </p:sp>
      <p:sp>
        <p:nvSpPr>
          <p:cNvPr id="16" name="Rectangle 15"/>
          <p:cNvSpPr/>
          <p:nvPr/>
        </p:nvSpPr>
        <p:spPr>
          <a:xfrm>
            <a:off x="9692640" y="1188720"/>
            <a:ext cx="1645920" cy="548640"/>
          </a:xfrm>
          <a:prstGeom prst="rect">
            <a:avLst/>
          </a:prstGeom>
          <a:solidFill>
            <a:srgbClr val="F5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738360" y="1216152"/>
            <a:ext cx="1554480" cy="502920"/>
          </a:xfrm>
          <a:prstGeom prst="rect">
            <a:avLst/>
          </a:prstGeom>
          <a:noFill/>
        </p:spPr>
        <p:txBody>
          <a:bodyPr wrap="square">
            <a:spAutoFit/>
          </a:bodyPr>
          <a:lstStyle/>
          <a:p>
            <a:pPr algn="ctr">
              <a:defRPr sz="1000" b="1">
                <a:solidFill>
                  <a:srgbClr val="333333"/>
                </a:solidFill>
                <a:latin typeface="Calibri"/>
              </a:defRPr>
            </a:pPr>
            <a:r>
              <a:t>Monday.com</a:t>
            </a:r>
            <a:br/>
            <a:r>
              <a:t>/ Asana</a:t>
            </a:r>
          </a:p>
        </p:txBody>
      </p:sp>
      <p:sp>
        <p:nvSpPr>
          <p:cNvPr id="18" name="Rectangle 17"/>
          <p:cNvSpPr/>
          <p:nvPr/>
        </p:nvSpPr>
        <p:spPr>
          <a:xfrm>
            <a:off x="457200" y="1737360"/>
            <a:ext cx="2286000" cy="30175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02920" y="1755648"/>
            <a:ext cx="2194560" cy="265176"/>
          </a:xfrm>
          <a:prstGeom prst="rect">
            <a:avLst/>
          </a:prstGeom>
          <a:noFill/>
        </p:spPr>
        <p:txBody>
          <a:bodyPr wrap="square">
            <a:spAutoFit/>
          </a:bodyPr>
          <a:lstStyle/>
          <a:p>
            <a:pPr algn="l">
              <a:defRPr sz="900" b="0">
                <a:solidFill>
                  <a:srgbClr val="333333"/>
                </a:solidFill>
                <a:latin typeface="Calibri"/>
              </a:defRPr>
            </a:pPr>
            <a:r>
              <a:t>Dual-Track Milestones</a:t>
            </a:r>
          </a:p>
        </p:txBody>
      </p:sp>
      <p:sp>
        <p:nvSpPr>
          <p:cNvPr id="20" name="Rectangle 19"/>
          <p:cNvSpPr/>
          <p:nvPr/>
        </p:nvSpPr>
        <p:spPr>
          <a:xfrm>
            <a:off x="2743200" y="1737360"/>
            <a:ext cx="1645920" cy="30175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2788920" y="1755648"/>
            <a:ext cx="1554480" cy="265176"/>
          </a:xfrm>
          <a:prstGeom prst="rect">
            <a:avLst/>
          </a:prstGeom>
          <a:noFill/>
        </p:spPr>
        <p:txBody>
          <a:bodyPr wrap="square">
            <a:spAutoFit/>
          </a:bodyPr>
          <a:lstStyle/>
          <a:p>
            <a:pPr algn="ctr">
              <a:defRPr sz="900" b="0">
                <a:solidFill>
                  <a:srgbClr val="2E7D32"/>
                </a:solidFill>
                <a:latin typeface="Calibri"/>
              </a:defRPr>
            </a:pPr>
            <a:r>
              <a:t>✅</a:t>
            </a:r>
          </a:p>
        </p:txBody>
      </p:sp>
      <p:sp>
        <p:nvSpPr>
          <p:cNvPr id="22" name="Rectangle 21"/>
          <p:cNvSpPr/>
          <p:nvPr/>
        </p:nvSpPr>
        <p:spPr>
          <a:xfrm>
            <a:off x="4389120" y="1737360"/>
            <a:ext cx="1371600" cy="30175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4434840" y="1755648"/>
            <a:ext cx="1280160" cy="265176"/>
          </a:xfrm>
          <a:prstGeom prst="rect">
            <a:avLst/>
          </a:prstGeom>
          <a:noFill/>
        </p:spPr>
        <p:txBody>
          <a:bodyPr wrap="square">
            <a:spAutoFit/>
          </a:bodyPr>
          <a:lstStyle/>
          <a:p>
            <a:pPr algn="ctr">
              <a:defRPr sz="900" b="0">
                <a:solidFill>
                  <a:srgbClr val="E53E3E"/>
                </a:solidFill>
                <a:latin typeface="Calibri"/>
              </a:defRPr>
            </a:pPr>
            <a:r>
              <a:t>❌</a:t>
            </a:r>
          </a:p>
        </p:txBody>
      </p:sp>
      <p:sp>
        <p:nvSpPr>
          <p:cNvPr id="24" name="Rectangle 23"/>
          <p:cNvSpPr/>
          <p:nvPr/>
        </p:nvSpPr>
        <p:spPr>
          <a:xfrm>
            <a:off x="5760720" y="1737360"/>
            <a:ext cx="1371600" cy="30175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5806440" y="1755648"/>
            <a:ext cx="1280160" cy="265176"/>
          </a:xfrm>
          <a:prstGeom prst="rect">
            <a:avLst/>
          </a:prstGeom>
          <a:noFill/>
        </p:spPr>
        <p:txBody>
          <a:bodyPr wrap="square">
            <a:spAutoFit/>
          </a:bodyPr>
          <a:lstStyle/>
          <a:p>
            <a:pPr algn="ctr">
              <a:defRPr sz="900" b="0">
                <a:solidFill>
                  <a:srgbClr val="E53E3E"/>
                </a:solidFill>
                <a:latin typeface="Calibri"/>
              </a:defRPr>
            </a:pPr>
            <a:r>
              <a:t>❌</a:t>
            </a:r>
          </a:p>
        </p:txBody>
      </p:sp>
      <p:sp>
        <p:nvSpPr>
          <p:cNvPr id="26" name="Rectangle 25"/>
          <p:cNvSpPr/>
          <p:nvPr/>
        </p:nvSpPr>
        <p:spPr>
          <a:xfrm>
            <a:off x="7132320" y="1737360"/>
            <a:ext cx="1371600" cy="30175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7178040" y="1755648"/>
            <a:ext cx="1280160" cy="265176"/>
          </a:xfrm>
          <a:prstGeom prst="rect">
            <a:avLst/>
          </a:prstGeom>
          <a:noFill/>
        </p:spPr>
        <p:txBody>
          <a:bodyPr wrap="square">
            <a:spAutoFit/>
          </a:bodyPr>
          <a:lstStyle/>
          <a:p>
            <a:pPr algn="ctr">
              <a:defRPr sz="900" b="0">
                <a:solidFill>
                  <a:srgbClr val="E53E3E"/>
                </a:solidFill>
                <a:latin typeface="Calibri"/>
              </a:defRPr>
            </a:pPr>
            <a:r>
              <a:t>❌</a:t>
            </a:r>
          </a:p>
        </p:txBody>
      </p:sp>
      <p:sp>
        <p:nvSpPr>
          <p:cNvPr id="28" name="Rectangle 27"/>
          <p:cNvSpPr/>
          <p:nvPr/>
        </p:nvSpPr>
        <p:spPr>
          <a:xfrm>
            <a:off x="8503920" y="1737360"/>
            <a:ext cx="1188720" cy="30175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8549640" y="1755648"/>
            <a:ext cx="1097280" cy="265176"/>
          </a:xfrm>
          <a:prstGeom prst="rect">
            <a:avLst/>
          </a:prstGeom>
          <a:noFill/>
        </p:spPr>
        <p:txBody>
          <a:bodyPr wrap="square">
            <a:spAutoFit/>
          </a:bodyPr>
          <a:lstStyle/>
          <a:p>
            <a:pPr algn="ctr">
              <a:defRPr sz="900" b="0">
                <a:solidFill>
                  <a:srgbClr val="E53E3E"/>
                </a:solidFill>
                <a:latin typeface="Calibri"/>
              </a:defRPr>
            </a:pPr>
            <a:r>
              <a:t>❌</a:t>
            </a:r>
          </a:p>
        </p:txBody>
      </p:sp>
      <p:sp>
        <p:nvSpPr>
          <p:cNvPr id="30" name="Rectangle 29"/>
          <p:cNvSpPr/>
          <p:nvPr/>
        </p:nvSpPr>
        <p:spPr>
          <a:xfrm>
            <a:off x="9692640" y="1737360"/>
            <a:ext cx="1645920" cy="30175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9738360" y="1755648"/>
            <a:ext cx="1554480" cy="265176"/>
          </a:xfrm>
          <a:prstGeom prst="rect">
            <a:avLst/>
          </a:prstGeom>
          <a:noFill/>
        </p:spPr>
        <p:txBody>
          <a:bodyPr wrap="square">
            <a:spAutoFit/>
          </a:bodyPr>
          <a:lstStyle/>
          <a:p>
            <a:pPr algn="ctr">
              <a:defRPr sz="900" b="0">
                <a:solidFill>
                  <a:srgbClr val="E53E3E"/>
                </a:solidFill>
                <a:latin typeface="Calibri"/>
              </a:defRPr>
            </a:pPr>
            <a:r>
              <a:t>❌</a:t>
            </a:r>
          </a:p>
        </p:txBody>
      </p:sp>
      <p:sp>
        <p:nvSpPr>
          <p:cNvPr id="32" name="Rectangle 31"/>
          <p:cNvSpPr/>
          <p:nvPr/>
        </p:nvSpPr>
        <p:spPr>
          <a:xfrm>
            <a:off x="457200" y="2039112"/>
            <a:ext cx="2286000" cy="301752"/>
          </a:xfrm>
          <a:prstGeom prst="rect">
            <a:avLst/>
          </a:prstGeom>
          <a:solidFill>
            <a:srgbClr val="F5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502920" y="2057400"/>
            <a:ext cx="2194560" cy="265176"/>
          </a:xfrm>
          <a:prstGeom prst="rect">
            <a:avLst/>
          </a:prstGeom>
          <a:noFill/>
        </p:spPr>
        <p:txBody>
          <a:bodyPr wrap="square">
            <a:spAutoFit/>
          </a:bodyPr>
          <a:lstStyle/>
          <a:p>
            <a:pPr algn="l">
              <a:defRPr sz="900" b="0">
                <a:solidFill>
                  <a:srgbClr val="333333"/>
                </a:solidFill>
                <a:latin typeface="Calibri"/>
              </a:defRPr>
            </a:pPr>
            <a:r>
              <a:t>Phase-Gate System</a:t>
            </a:r>
          </a:p>
        </p:txBody>
      </p:sp>
      <p:sp>
        <p:nvSpPr>
          <p:cNvPr id="34" name="Rectangle 33"/>
          <p:cNvSpPr/>
          <p:nvPr/>
        </p:nvSpPr>
        <p:spPr>
          <a:xfrm>
            <a:off x="2743200" y="2039112"/>
            <a:ext cx="1645920" cy="301752"/>
          </a:xfrm>
          <a:prstGeom prst="rect">
            <a:avLst/>
          </a:prstGeom>
          <a:solidFill>
            <a:srgbClr val="F5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2788920" y="2057400"/>
            <a:ext cx="1554480" cy="265176"/>
          </a:xfrm>
          <a:prstGeom prst="rect">
            <a:avLst/>
          </a:prstGeom>
          <a:noFill/>
        </p:spPr>
        <p:txBody>
          <a:bodyPr wrap="square">
            <a:spAutoFit/>
          </a:bodyPr>
          <a:lstStyle/>
          <a:p>
            <a:pPr algn="ctr">
              <a:defRPr sz="900" b="0">
                <a:solidFill>
                  <a:srgbClr val="2E7D32"/>
                </a:solidFill>
                <a:latin typeface="Calibri"/>
              </a:defRPr>
            </a:pPr>
            <a:r>
              <a:t>✅</a:t>
            </a:r>
          </a:p>
        </p:txBody>
      </p:sp>
      <p:sp>
        <p:nvSpPr>
          <p:cNvPr id="36" name="Rectangle 35"/>
          <p:cNvSpPr/>
          <p:nvPr/>
        </p:nvSpPr>
        <p:spPr>
          <a:xfrm>
            <a:off x="4389120" y="2039112"/>
            <a:ext cx="1371600" cy="301752"/>
          </a:xfrm>
          <a:prstGeom prst="rect">
            <a:avLst/>
          </a:prstGeom>
          <a:solidFill>
            <a:srgbClr val="F5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4434840" y="2057400"/>
            <a:ext cx="1280160" cy="265176"/>
          </a:xfrm>
          <a:prstGeom prst="rect">
            <a:avLst/>
          </a:prstGeom>
          <a:noFill/>
        </p:spPr>
        <p:txBody>
          <a:bodyPr wrap="square">
            <a:spAutoFit/>
          </a:bodyPr>
          <a:lstStyle/>
          <a:p>
            <a:pPr algn="ctr">
              <a:defRPr sz="900" b="0">
                <a:solidFill>
                  <a:srgbClr val="E53E3E"/>
                </a:solidFill>
                <a:latin typeface="Calibri"/>
              </a:defRPr>
            </a:pPr>
            <a:r>
              <a:t>❌</a:t>
            </a:r>
          </a:p>
        </p:txBody>
      </p:sp>
      <p:sp>
        <p:nvSpPr>
          <p:cNvPr id="38" name="Rectangle 37"/>
          <p:cNvSpPr/>
          <p:nvPr/>
        </p:nvSpPr>
        <p:spPr>
          <a:xfrm>
            <a:off x="5760720" y="2039112"/>
            <a:ext cx="1371600" cy="301752"/>
          </a:xfrm>
          <a:prstGeom prst="rect">
            <a:avLst/>
          </a:prstGeom>
          <a:solidFill>
            <a:srgbClr val="F5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5806440" y="2057400"/>
            <a:ext cx="1280160" cy="265176"/>
          </a:xfrm>
          <a:prstGeom prst="rect">
            <a:avLst/>
          </a:prstGeom>
          <a:noFill/>
        </p:spPr>
        <p:txBody>
          <a:bodyPr wrap="square">
            <a:spAutoFit/>
          </a:bodyPr>
          <a:lstStyle/>
          <a:p>
            <a:pPr algn="ctr">
              <a:defRPr sz="900" b="0">
                <a:solidFill>
                  <a:srgbClr val="E53E3E"/>
                </a:solidFill>
                <a:latin typeface="Calibri"/>
              </a:defRPr>
            </a:pPr>
            <a:r>
              <a:t>❌</a:t>
            </a:r>
          </a:p>
        </p:txBody>
      </p:sp>
      <p:sp>
        <p:nvSpPr>
          <p:cNvPr id="40" name="Rectangle 39"/>
          <p:cNvSpPr/>
          <p:nvPr/>
        </p:nvSpPr>
        <p:spPr>
          <a:xfrm>
            <a:off x="7132320" y="2039112"/>
            <a:ext cx="1371600" cy="301752"/>
          </a:xfrm>
          <a:prstGeom prst="rect">
            <a:avLst/>
          </a:prstGeom>
          <a:solidFill>
            <a:srgbClr val="F5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7178040" y="2057400"/>
            <a:ext cx="1280160" cy="265176"/>
          </a:xfrm>
          <a:prstGeom prst="rect">
            <a:avLst/>
          </a:prstGeom>
          <a:noFill/>
        </p:spPr>
        <p:txBody>
          <a:bodyPr wrap="square">
            <a:spAutoFit/>
          </a:bodyPr>
          <a:lstStyle/>
          <a:p>
            <a:pPr algn="ctr">
              <a:defRPr sz="900" b="0">
                <a:solidFill>
                  <a:srgbClr val="E53E3E"/>
                </a:solidFill>
                <a:latin typeface="Calibri"/>
              </a:defRPr>
            </a:pPr>
            <a:r>
              <a:t>❌</a:t>
            </a:r>
          </a:p>
        </p:txBody>
      </p:sp>
      <p:sp>
        <p:nvSpPr>
          <p:cNvPr id="42" name="Rectangle 41"/>
          <p:cNvSpPr/>
          <p:nvPr/>
        </p:nvSpPr>
        <p:spPr>
          <a:xfrm>
            <a:off x="8503920" y="2039112"/>
            <a:ext cx="1188720" cy="301752"/>
          </a:xfrm>
          <a:prstGeom prst="rect">
            <a:avLst/>
          </a:prstGeom>
          <a:solidFill>
            <a:srgbClr val="F5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8549640" y="2057400"/>
            <a:ext cx="1097280" cy="265176"/>
          </a:xfrm>
          <a:prstGeom prst="rect">
            <a:avLst/>
          </a:prstGeom>
          <a:noFill/>
        </p:spPr>
        <p:txBody>
          <a:bodyPr wrap="square">
            <a:spAutoFit/>
          </a:bodyPr>
          <a:lstStyle/>
          <a:p>
            <a:pPr algn="ctr">
              <a:defRPr sz="900" b="0">
                <a:solidFill>
                  <a:srgbClr val="E53E3E"/>
                </a:solidFill>
                <a:latin typeface="Calibri"/>
              </a:defRPr>
            </a:pPr>
            <a:r>
              <a:t>❌</a:t>
            </a:r>
          </a:p>
        </p:txBody>
      </p:sp>
      <p:sp>
        <p:nvSpPr>
          <p:cNvPr id="44" name="Rectangle 43"/>
          <p:cNvSpPr/>
          <p:nvPr/>
        </p:nvSpPr>
        <p:spPr>
          <a:xfrm>
            <a:off x="9692640" y="2039112"/>
            <a:ext cx="1645920" cy="301752"/>
          </a:xfrm>
          <a:prstGeom prst="rect">
            <a:avLst/>
          </a:prstGeom>
          <a:solidFill>
            <a:srgbClr val="F5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9738360" y="2057400"/>
            <a:ext cx="1554480" cy="265176"/>
          </a:xfrm>
          <a:prstGeom prst="rect">
            <a:avLst/>
          </a:prstGeom>
          <a:noFill/>
        </p:spPr>
        <p:txBody>
          <a:bodyPr wrap="square">
            <a:spAutoFit/>
          </a:bodyPr>
          <a:lstStyle/>
          <a:p>
            <a:pPr algn="ctr">
              <a:defRPr sz="900" b="0">
                <a:solidFill>
                  <a:srgbClr val="E53E3E"/>
                </a:solidFill>
                <a:latin typeface="Calibri"/>
              </a:defRPr>
            </a:pPr>
            <a:r>
              <a:t>❌</a:t>
            </a:r>
          </a:p>
        </p:txBody>
      </p:sp>
      <p:sp>
        <p:nvSpPr>
          <p:cNvPr id="46" name="Rectangle 45"/>
          <p:cNvSpPr/>
          <p:nvPr/>
        </p:nvSpPr>
        <p:spPr>
          <a:xfrm>
            <a:off x="457200" y="2340864"/>
            <a:ext cx="2286000" cy="30175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502920" y="2359152"/>
            <a:ext cx="2194560" cy="265176"/>
          </a:xfrm>
          <a:prstGeom prst="rect">
            <a:avLst/>
          </a:prstGeom>
          <a:noFill/>
        </p:spPr>
        <p:txBody>
          <a:bodyPr wrap="square">
            <a:spAutoFit/>
          </a:bodyPr>
          <a:lstStyle/>
          <a:p>
            <a:pPr algn="l">
              <a:defRPr sz="900" b="0">
                <a:solidFill>
                  <a:srgbClr val="333333"/>
                </a:solidFill>
                <a:latin typeface="Calibri"/>
              </a:defRPr>
            </a:pPr>
            <a:r>
              <a:t>FDA Q-Sub Generator</a:t>
            </a:r>
          </a:p>
        </p:txBody>
      </p:sp>
      <p:sp>
        <p:nvSpPr>
          <p:cNvPr id="48" name="Rectangle 47"/>
          <p:cNvSpPr/>
          <p:nvPr/>
        </p:nvSpPr>
        <p:spPr>
          <a:xfrm>
            <a:off x="2743200" y="2340864"/>
            <a:ext cx="1645920" cy="30175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2788920" y="2359152"/>
            <a:ext cx="1554480" cy="265176"/>
          </a:xfrm>
          <a:prstGeom prst="rect">
            <a:avLst/>
          </a:prstGeom>
          <a:noFill/>
        </p:spPr>
        <p:txBody>
          <a:bodyPr wrap="square">
            <a:spAutoFit/>
          </a:bodyPr>
          <a:lstStyle/>
          <a:p>
            <a:pPr algn="ctr">
              <a:defRPr sz="900" b="0">
                <a:solidFill>
                  <a:srgbClr val="2E7D32"/>
                </a:solidFill>
                <a:latin typeface="Calibri"/>
              </a:defRPr>
            </a:pPr>
            <a:r>
              <a:t>✅</a:t>
            </a:r>
          </a:p>
        </p:txBody>
      </p:sp>
      <p:sp>
        <p:nvSpPr>
          <p:cNvPr id="50" name="Rectangle 49"/>
          <p:cNvSpPr/>
          <p:nvPr/>
        </p:nvSpPr>
        <p:spPr>
          <a:xfrm>
            <a:off x="4389120" y="2340864"/>
            <a:ext cx="1371600" cy="30175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4434840" y="2359152"/>
            <a:ext cx="1280160" cy="265176"/>
          </a:xfrm>
          <a:prstGeom prst="rect">
            <a:avLst/>
          </a:prstGeom>
          <a:noFill/>
        </p:spPr>
        <p:txBody>
          <a:bodyPr wrap="square">
            <a:spAutoFit/>
          </a:bodyPr>
          <a:lstStyle/>
          <a:p>
            <a:pPr algn="ctr">
              <a:defRPr sz="900" b="0">
                <a:solidFill>
                  <a:srgbClr val="E53E3E"/>
                </a:solidFill>
                <a:latin typeface="Calibri"/>
              </a:defRPr>
            </a:pPr>
            <a:r>
              <a:t>❌</a:t>
            </a:r>
          </a:p>
        </p:txBody>
      </p:sp>
      <p:sp>
        <p:nvSpPr>
          <p:cNvPr id="52" name="Rectangle 51"/>
          <p:cNvSpPr/>
          <p:nvPr/>
        </p:nvSpPr>
        <p:spPr>
          <a:xfrm>
            <a:off x="5760720" y="2340864"/>
            <a:ext cx="1371600" cy="30175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5806440" y="2359152"/>
            <a:ext cx="1280160" cy="265176"/>
          </a:xfrm>
          <a:prstGeom prst="rect">
            <a:avLst/>
          </a:prstGeom>
          <a:noFill/>
        </p:spPr>
        <p:txBody>
          <a:bodyPr wrap="square">
            <a:spAutoFit/>
          </a:bodyPr>
          <a:lstStyle/>
          <a:p>
            <a:pPr algn="ctr">
              <a:defRPr sz="900" b="0">
                <a:solidFill>
                  <a:srgbClr val="E53E3E"/>
                </a:solidFill>
                <a:latin typeface="Calibri"/>
              </a:defRPr>
            </a:pPr>
            <a:r>
              <a:t>❌</a:t>
            </a:r>
          </a:p>
        </p:txBody>
      </p:sp>
      <p:sp>
        <p:nvSpPr>
          <p:cNvPr id="54" name="Rectangle 53"/>
          <p:cNvSpPr/>
          <p:nvPr/>
        </p:nvSpPr>
        <p:spPr>
          <a:xfrm>
            <a:off x="7132320" y="2340864"/>
            <a:ext cx="1371600" cy="30175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TextBox 54"/>
          <p:cNvSpPr txBox="1"/>
          <p:nvPr/>
        </p:nvSpPr>
        <p:spPr>
          <a:xfrm>
            <a:off x="7178040" y="2359152"/>
            <a:ext cx="1280160" cy="265176"/>
          </a:xfrm>
          <a:prstGeom prst="rect">
            <a:avLst/>
          </a:prstGeom>
          <a:noFill/>
        </p:spPr>
        <p:txBody>
          <a:bodyPr wrap="square">
            <a:spAutoFit/>
          </a:bodyPr>
          <a:lstStyle/>
          <a:p>
            <a:pPr algn="ctr">
              <a:defRPr sz="900" b="0">
                <a:solidFill>
                  <a:srgbClr val="E53E3E"/>
                </a:solidFill>
                <a:latin typeface="Calibri"/>
              </a:defRPr>
            </a:pPr>
            <a:r>
              <a:t>❌</a:t>
            </a:r>
          </a:p>
        </p:txBody>
      </p:sp>
      <p:sp>
        <p:nvSpPr>
          <p:cNvPr id="56" name="Rectangle 55"/>
          <p:cNvSpPr/>
          <p:nvPr/>
        </p:nvSpPr>
        <p:spPr>
          <a:xfrm>
            <a:off x="8503920" y="2340864"/>
            <a:ext cx="1188720" cy="30175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p:cNvSpPr txBox="1"/>
          <p:nvPr/>
        </p:nvSpPr>
        <p:spPr>
          <a:xfrm>
            <a:off x="8549640" y="2359152"/>
            <a:ext cx="1097280" cy="265176"/>
          </a:xfrm>
          <a:prstGeom prst="rect">
            <a:avLst/>
          </a:prstGeom>
          <a:noFill/>
        </p:spPr>
        <p:txBody>
          <a:bodyPr wrap="square">
            <a:spAutoFit/>
          </a:bodyPr>
          <a:lstStyle/>
          <a:p>
            <a:pPr algn="ctr">
              <a:defRPr sz="900" b="0">
                <a:solidFill>
                  <a:srgbClr val="E53E3E"/>
                </a:solidFill>
                <a:latin typeface="Calibri"/>
              </a:defRPr>
            </a:pPr>
            <a:r>
              <a:t>❌</a:t>
            </a:r>
          </a:p>
        </p:txBody>
      </p:sp>
      <p:sp>
        <p:nvSpPr>
          <p:cNvPr id="58" name="Rectangle 57"/>
          <p:cNvSpPr/>
          <p:nvPr/>
        </p:nvSpPr>
        <p:spPr>
          <a:xfrm>
            <a:off x="9692640" y="2340864"/>
            <a:ext cx="1645920" cy="30175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TextBox 58"/>
          <p:cNvSpPr txBox="1"/>
          <p:nvPr/>
        </p:nvSpPr>
        <p:spPr>
          <a:xfrm>
            <a:off x="9738360" y="2359152"/>
            <a:ext cx="1554480" cy="265176"/>
          </a:xfrm>
          <a:prstGeom prst="rect">
            <a:avLst/>
          </a:prstGeom>
          <a:noFill/>
        </p:spPr>
        <p:txBody>
          <a:bodyPr wrap="square">
            <a:spAutoFit/>
          </a:bodyPr>
          <a:lstStyle/>
          <a:p>
            <a:pPr algn="ctr">
              <a:defRPr sz="900" b="0">
                <a:solidFill>
                  <a:srgbClr val="E53E3E"/>
                </a:solidFill>
                <a:latin typeface="Calibri"/>
              </a:defRPr>
            </a:pPr>
            <a:r>
              <a:t>❌</a:t>
            </a:r>
          </a:p>
        </p:txBody>
      </p:sp>
      <p:sp>
        <p:nvSpPr>
          <p:cNvPr id="60" name="Rectangle 59"/>
          <p:cNvSpPr/>
          <p:nvPr/>
        </p:nvSpPr>
        <p:spPr>
          <a:xfrm>
            <a:off x="457200" y="2642616"/>
            <a:ext cx="2286000" cy="301752"/>
          </a:xfrm>
          <a:prstGeom prst="rect">
            <a:avLst/>
          </a:prstGeom>
          <a:solidFill>
            <a:srgbClr val="F5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TextBox 60"/>
          <p:cNvSpPr txBox="1"/>
          <p:nvPr/>
        </p:nvSpPr>
        <p:spPr>
          <a:xfrm>
            <a:off x="502920" y="2660904"/>
            <a:ext cx="2194560" cy="265176"/>
          </a:xfrm>
          <a:prstGeom prst="rect">
            <a:avLst/>
          </a:prstGeom>
          <a:noFill/>
        </p:spPr>
        <p:txBody>
          <a:bodyPr wrap="square">
            <a:spAutoFit/>
          </a:bodyPr>
          <a:lstStyle/>
          <a:p>
            <a:pPr algn="l">
              <a:defRPr sz="900" b="0">
                <a:solidFill>
                  <a:srgbClr val="333333"/>
                </a:solidFill>
                <a:latin typeface="Calibri"/>
              </a:defRPr>
            </a:pPr>
            <a:r>
              <a:t>RTA Pre-Check</a:t>
            </a:r>
          </a:p>
        </p:txBody>
      </p:sp>
      <p:sp>
        <p:nvSpPr>
          <p:cNvPr id="62" name="Rectangle 61"/>
          <p:cNvSpPr/>
          <p:nvPr/>
        </p:nvSpPr>
        <p:spPr>
          <a:xfrm>
            <a:off x="2743200" y="2642616"/>
            <a:ext cx="1645920" cy="301752"/>
          </a:xfrm>
          <a:prstGeom prst="rect">
            <a:avLst/>
          </a:prstGeom>
          <a:solidFill>
            <a:srgbClr val="F5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TextBox 62"/>
          <p:cNvSpPr txBox="1"/>
          <p:nvPr/>
        </p:nvSpPr>
        <p:spPr>
          <a:xfrm>
            <a:off x="2788920" y="2660904"/>
            <a:ext cx="1554480" cy="265176"/>
          </a:xfrm>
          <a:prstGeom prst="rect">
            <a:avLst/>
          </a:prstGeom>
          <a:noFill/>
        </p:spPr>
        <p:txBody>
          <a:bodyPr wrap="square">
            <a:spAutoFit/>
          </a:bodyPr>
          <a:lstStyle/>
          <a:p>
            <a:pPr algn="ctr">
              <a:defRPr sz="900" b="0">
                <a:solidFill>
                  <a:srgbClr val="2E7D32"/>
                </a:solidFill>
                <a:latin typeface="Calibri"/>
              </a:defRPr>
            </a:pPr>
            <a:r>
              <a:t>✅</a:t>
            </a:r>
          </a:p>
        </p:txBody>
      </p:sp>
      <p:sp>
        <p:nvSpPr>
          <p:cNvPr id="64" name="Rectangle 63"/>
          <p:cNvSpPr/>
          <p:nvPr/>
        </p:nvSpPr>
        <p:spPr>
          <a:xfrm>
            <a:off x="4389120" y="2642616"/>
            <a:ext cx="1371600" cy="301752"/>
          </a:xfrm>
          <a:prstGeom prst="rect">
            <a:avLst/>
          </a:prstGeom>
          <a:solidFill>
            <a:srgbClr val="F5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TextBox 64"/>
          <p:cNvSpPr txBox="1"/>
          <p:nvPr/>
        </p:nvSpPr>
        <p:spPr>
          <a:xfrm>
            <a:off x="4434840" y="2660904"/>
            <a:ext cx="1280160" cy="265176"/>
          </a:xfrm>
          <a:prstGeom prst="rect">
            <a:avLst/>
          </a:prstGeom>
          <a:noFill/>
        </p:spPr>
        <p:txBody>
          <a:bodyPr wrap="square">
            <a:spAutoFit/>
          </a:bodyPr>
          <a:lstStyle/>
          <a:p>
            <a:pPr algn="ctr">
              <a:defRPr sz="900" b="0">
                <a:solidFill>
                  <a:srgbClr val="E53E3E"/>
                </a:solidFill>
                <a:latin typeface="Calibri"/>
              </a:defRPr>
            </a:pPr>
            <a:r>
              <a:t>❌</a:t>
            </a:r>
          </a:p>
        </p:txBody>
      </p:sp>
      <p:sp>
        <p:nvSpPr>
          <p:cNvPr id="66" name="Rectangle 65"/>
          <p:cNvSpPr/>
          <p:nvPr/>
        </p:nvSpPr>
        <p:spPr>
          <a:xfrm>
            <a:off x="5760720" y="2642616"/>
            <a:ext cx="1371600" cy="301752"/>
          </a:xfrm>
          <a:prstGeom prst="rect">
            <a:avLst/>
          </a:prstGeom>
          <a:solidFill>
            <a:srgbClr val="F5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TextBox 66"/>
          <p:cNvSpPr txBox="1"/>
          <p:nvPr/>
        </p:nvSpPr>
        <p:spPr>
          <a:xfrm>
            <a:off x="5806440" y="2660904"/>
            <a:ext cx="1280160" cy="265176"/>
          </a:xfrm>
          <a:prstGeom prst="rect">
            <a:avLst/>
          </a:prstGeom>
          <a:noFill/>
        </p:spPr>
        <p:txBody>
          <a:bodyPr wrap="square">
            <a:spAutoFit/>
          </a:bodyPr>
          <a:lstStyle/>
          <a:p>
            <a:pPr algn="ctr">
              <a:defRPr sz="900" b="0">
                <a:solidFill>
                  <a:srgbClr val="E53E3E"/>
                </a:solidFill>
                <a:latin typeface="Calibri"/>
              </a:defRPr>
            </a:pPr>
            <a:r>
              <a:t>❌</a:t>
            </a:r>
          </a:p>
        </p:txBody>
      </p:sp>
      <p:sp>
        <p:nvSpPr>
          <p:cNvPr id="68" name="Rectangle 67"/>
          <p:cNvSpPr/>
          <p:nvPr/>
        </p:nvSpPr>
        <p:spPr>
          <a:xfrm>
            <a:off x="7132320" y="2642616"/>
            <a:ext cx="1371600" cy="301752"/>
          </a:xfrm>
          <a:prstGeom prst="rect">
            <a:avLst/>
          </a:prstGeom>
          <a:solidFill>
            <a:srgbClr val="F5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TextBox 68"/>
          <p:cNvSpPr txBox="1"/>
          <p:nvPr/>
        </p:nvSpPr>
        <p:spPr>
          <a:xfrm>
            <a:off x="7178040" y="2660904"/>
            <a:ext cx="1280160" cy="265176"/>
          </a:xfrm>
          <a:prstGeom prst="rect">
            <a:avLst/>
          </a:prstGeom>
          <a:noFill/>
        </p:spPr>
        <p:txBody>
          <a:bodyPr wrap="square">
            <a:spAutoFit/>
          </a:bodyPr>
          <a:lstStyle/>
          <a:p>
            <a:pPr algn="ctr">
              <a:defRPr sz="900" b="0">
                <a:solidFill>
                  <a:srgbClr val="E53E3E"/>
                </a:solidFill>
                <a:latin typeface="Calibri"/>
              </a:defRPr>
            </a:pPr>
            <a:r>
              <a:t>❌</a:t>
            </a:r>
          </a:p>
        </p:txBody>
      </p:sp>
      <p:sp>
        <p:nvSpPr>
          <p:cNvPr id="70" name="Rectangle 69"/>
          <p:cNvSpPr/>
          <p:nvPr/>
        </p:nvSpPr>
        <p:spPr>
          <a:xfrm>
            <a:off x="8503920" y="2642616"/>
            <a:ext cx="1188720" cy="301752"/>
          </a:xfrm>
          <a:prstGeom prst="rect">
            <a:avLst/>
          </a:prstGeom>
          <a:solidFill>
            <a:srgbClr val="F5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TextBox 70"/>
          <p:cNvSpPr txBox="1"/>
          <p:nvPr/>
        </p:nvSpPr>
        <p:spPr>
          <a:xfrm>
            <a:off x="8549640" y="2660904"/>
            <a:ext cx="1097280" cy="265176"/>
          </a:xfrm>
          <a:prstGeom prst="rect">
            <a:avLst/>
          </a:prstGeom>
          <a:noFill/>
        </p:spPr>
        <p:txBody>
          <a:bodyPr wrap="square">
            <a:spAutoFit/>
          </a:bodyPr>
          <a:lstStyle/>
          <a:p>
            <a:pPr algn="ctr">
              <a:defRPr sz="900" b="0">
                <a:solidFill>
                  <a:srgbClr val="E53E3E"/>
                </a:solidFill>
                <a:latin typeface="Calibri"/>
              </a:defRPr>
            </a:pPr>
            <a:r>
              <a:t>❌</a:t>
            </a:r>
          </a:p>
        </p:txBody>
      </p:sp>
      <p:sp>
        <p:nvSpPr>
          <p:cNvPr id="72" name="Rectangle 71"/>
          <p:cNvSpPr/>
          <p:nvPr/>
        </p:nvSpPr>
        <p:spPr>
          <a:xfrm>
            <a:off x="9692640" y="2642616"/>
            <a:ext cx="1645920" cy="301752"/>
          </a:xfrm>
          <a:prstGeom prst="rect">
            <a:avLst/>
          </a:prstGeom>
          <a:solidFill>
            <a:srgbClr val="F5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TextBox 72"/>
          <p:cNvSpPr txBox="1"/>
          <p:nvPr/>
        </p:nvSpPr>
        <p:spPr>
          <a:xfrm>
            <a:off x="9738360" y="2660904"/>
            <a:ext cx="1554480" cy="265176"/>
          </a:xfrm>
          <a:prstGeom prst="rect">
            <a:avLst/>
          </a:prstGeom>
          <a:noFill/>
        </p:spPr>
        <p:txBody>
          <a:bodyPr wrap="square">
            <a:spAutoFit/>
          </a:bodyPr>
          <a:lstStyle/>
          <a:p>
            <a:pPr algn="ctr">
              <a:defRPr sz="900" b="0">
                <a:solidFill>
                  <a:srgbClr val="E53E3E"/>
                </a:solidFill>
                <a:latin typeface="Calibri"/>
              </a:defRPr>
            </a:pPr>
            <a:r>
              <a:t>❌</a:t>
            </a:r>
          </a:p>
        </p:txBody>
      </p:sp>
      <p:sp>
        <p:nvSpPr>
          <p:cNvPr id="74" name="Rectangle 73"/>
          <p:cNvSpPr/>
          <p:nvPr/>
        </p:nvSpPr>
        <p:spPr>
          <a:xfrm>
            <a:off x="457200" y="2944368"/>
            <a:ext cx="2286000" cy="30175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TextBox 74"/>
          <p:cNvSpPr txBox="1"/>
          <p:nvPr/>
        </p:nvSpPr>
        <p:spPr>
          <a:xfrm>
            <a:off x="502920" y="2962656"/>
            <a:ext cx="2194560" cy="265176"/>
          </a:xfrm>
          <a:prstGeom prst="rect">
            <a:avLst/>
          </a:prstGeom>
          <a:noFill/>
        </p:spPr>
        <p:txBody>
          <a:bodyPr wrap="square">
            <a:spAutoFit/>
          </a:bodyPr>
          <a:lstStyle/>
          <a:p>
            <a:pPr algn="l">
              <a:defRPr sz="900" b="0">
                <a:solidFill>
                  <a:srgbClr val="333333"/>
                </a:solidFill>
                <a:latin typeface="Calibri"/>
              </a:defRPr>
            </a:pPr>
            <a:r>
              <a:t>Predicate Finder (openFDA)</a:t>
            </a:r>
          </a:p>
        </p:txBody>
      </p:sp>
      <p:sp>
        <p:nvSpPr>
          <p:cNvPr id="76" name="Rectangle 75"/>
          <p:cNvSpPr/>
          <p:nvPr/>
        </p:nvSpPr>
        <p:spPr>
          <a:xfrm>
            <a:off x="2743200" y="2944368"/>
            <a:ext cx="1645920" cy="30175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 name="TextBox 76"/>
          <p:cNvSpPr txBox="1"/>
          <p:nvPr/>
        </p:nvSpPr>
        <p:spPr>
          <a:xfrm>
            <a:off x="2788920" y="2962656"/>
            <a:ext cx="1554480" cy="265176"/>
          </a:xfrm>
          <a:prstGeom prst="rect">
            <a:avLst/>
          </a:prstGeom>
          <a:noFill/>
        </p:spPr>
        <p:txBody>
          <a:bodyPr wrap="square">
            <a:spAutoFit/>
          </a:bodyPr>
          <a:lstStyle/>
          <a:p>
            <a:pPr algn="ctr">
              <a:defRPr sz="900" b="0">
                <a:solidFill>
                  <a:srgbClr val="2E7D32"/>
                </a:solidFill>
                <a:latin typeface="Calibri"/>
              </a:defRPr>
            </a:pPr>
            <a:r>
              <a:t>✅</a:t>
            </a:r>
          </a:p>
        </p:txBody>
      </p:sp>
      <p:sp>
        <p:nvSpPr>
          <p:cNvPr id="78" name="Rectangle 77"/>
          <p:cNvSpPr/>
          <p:nvPr/>
        </p:nvSpPr>
        <p:spPr>
          <a:xfrm>
            <a:off x="4389120" y="2944368"/>
            <a:ext cx="1371600" cy="30175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 name="TextBox 78"/>
          <p:cNvSpPr txBox="1"/>
          <p:nvPr/>
        </p:nvSpPr>
        <p:spPr>
          <a:xfrm>
            <a:off x="4434840" y="2962656"/>
            <a:ext cx="1280160" cy="265176"/>
          </a:xfrm>
          <a:prstGeom prst="rect">
            <a:avLst/>
          </a:prstGeom>
          <a:noFill/>
        </p:spPr>
        <p:txBody>
          <a:bodyPr wrap="square">
            <a:spAutoFit/>
          </a:bodyPr>
          <a:lstStyle/>
          <a:p>
            <a:pPr algn="ctr">
              <a:defRPr sz="900" b="0">
                <a:solidFill>
                  <a:srgbClr val="E53E3E"/>
                </a:solidFill>
                <a:latin typeface="Calibri"/>
              </a:defRPr>
            </a:pPr>
            <a:r>
              <a:t>❌</a:t>
            </a:r>
          </a:p>
        </p:txBody>
      </p:sp>
      <p:sp>
        <p:nvSpPr>
          <p:cNvPr id="80" name="Rectangle 79"/>
          <p:cNvSpPr/>
          <p:nvPr/>
        </p:nvSpPr>
        <p:spPr>
          <a:xfrm>
            <a:off x="5760720" y="2944368"/>
            <a:ext cx="1371600" cy="30175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 name="TextBox 80"/>
          <p:cNvSpPr txBox="1"/>
          <p:nvPr/>
        </p:nvSpPr>
        <p:spPr>
          <a:xfrm>
            <a:off x="5806440" y="2962656"/>
            <a:ext cx="1280160" cy="265176"/>
          </a:xfrm>
          <a:prstGeom prst="rect">
            <a:avLst/>
          </a:prstGeom>
          <a:noFill/>
        </p:spPr>
        <p:txBody>
          <a:bodyPr wrap="square">
            <a:spAutoFit/>
          </a:bodyPr>
          <a:lstStyle/>
          <a:p>
            <a:pPr algn="ctr">
              <a:defRPr sz="900" b="0">
                <a:solidFill>
                  <a:srgbClr val="E53E3E"/>
                </a:solidFill>
                <a:latin typeface="Calibri"/>
              </a:defRPr>
            </a:pPr>
            <a:r>
              <a:t>❌</a:t>
            </a:r>
          </a:p>
        </p:txBody>
      </p:sp>
      <p:sp>
        <p:nvSpPr>
          <p:cNvPr id="82" name="Rectangle 81"/>
          <p:cNvSpPr/>
          <p:nvPr/>
        </p:nvSpPr>
        <p:spPr>
          <a:xfrm>
            <a:off x="7132320" y="2944368"/>
            <a:ext cx="1371600" cy="30175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3" name="TextBox 82"/>
          <p:cNvSpPr txBox="1"/>
          <p:nvPr/>
        </p:nvSpPr>
        <p:spPr>
          <a:xfrm>
            <a:off x="7178040" y="2962656"/>
            <a:ext cx="1280160" cy="265176"/>
          </a:xfrm>
          <a:prstGeom prst="rect">
            <a:avLst/>
          </a:prstGeom>
          <a:noFill/>
        </p:spPr>
        <p:txBody>
          <a:bodyPr wrap="square">
            <a:spAutoFit/>
          </a:bodyPr>
          <a:lstStyle/>
          <a:p>
            <a:pPr algn="ctr">
              <a:defRPr sz="900" b="0">
                <a:solidFill>
                  <a:srgbClr val="E53E3E"/>
                </a:solidFill>
                <a:latin typeface="Calibri"/>
              </a:defRPr>
            </a:pPr>
            <a:r>
              <a:t>❌</a:t>
            </a:r>
          </a:p>
        </p:txBody>
      </p:sp>
      <p:sp>
        <p:nvSpPr>
          <p:cNvPr id="84" name="Rectangle 83"/>
          <p:cNvSpPr/>
          <p:nvPr/>
        </p:nvSpPr>
        <p:spPr>
          <a:xfrm>
            <a:off x="8503920" y="2944368"/>
            <a:ext cx="1188720" cy="30175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5" name="TextBox 84"/>
          <p:cNvSpPr txBox="1"/>
          <p:nvPr/>
        </p:nvSpPr>
        <p:spPr>
          <a:xfrm>
            <a:off x="8549640" y="2962656"/>
            <a:ext cx="1097280" cy="265176"/>
          </a:xfrm>
          <a:prstGeom prst="rect">
            <a:avLst/>
          </a:prstGeom>
          <a:noFill/>
        </p:spPr>
        <p:txBody>
          <a:bodyPr wrap="square">
            <a:spAutoFit/>
          </a:bodyPr>
          <a:lstStyle/>
          <a:p>
            <a:pPr algn="ctr">
              <a:defRPr sz="900" b="0">
                <a:solidFill>
                  <a:srgbClr val="E53E3E"/>
                </a:solidFill>
                <a:latin typeface="Calibri"/>
              </a:defRPr>
            </a:pPr>
            <a:r>
              <a:t>❌</a:t>
            </a:r>
          </a:p>
        </p:txBody>
      </p:sp>
      <p:sp>
        <p:nvSpPr>
          <p:cNvPr id="86" name="Rectangle 85"/>
          <p:cNvSpPr/>
          <p:nvPr/>
        </p:nvSpPr>
        <p:spPr>
          <a:xfrm>
            <a:off x="9692640" y="2944368"/>
            <a:ext cx="1645920" cy="30175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7" name="TextBox 86"/>
          <p:cNvSpPr txBox="1"/>
          <p:nvPr/>
        </p:nvSpPr>
        <p:spPr>
          <a:xfrm>
            <a:off x="9738360" y="2962656"/>
            <a:ext cx="1554480" cy="265176"/>
          </a:xfrm>
          <a:prstGeom prst="rect">
            <a:avLst/>
          </a:prstGeom>
          <a:noFill/>
        </p:spPr>
        <p:txBody>
          <a:bodyPr wrap="square">
            <a:spAutoFit/>
          </a:bodyPr>
          <a:lstStyle/>
          <a:p>
            <a:pPr algn="ctr">
              <a:defRPr sz="900" b="0">
                <a:solidFill>
                  <a:srgbClr val="E53E3E"/>
                </a:solidFill>
                <a:latin typeface="Calibri"/>
              </a:defRPr>
            </a:pPr>
            <a:r>
              <a:t>❌</a:t>
            </a:r>
          </a:p>
        </p:txBody>
      </p:sp>
      <p:sp>
        <p:nvSpPr>
          <p:cNvPr id="88" name="Rectangle 87"/>
          <p:cNvSpPr/>
          <p:nvPr/>
        </p:nvSpPr>
        <p:spPr>
          <a:xfrm>
            <a:off x="457200" y="3246120"/>
            <a:ext cx="2286000" cy="301752"/>
          </a:xfrm>
          <a:prstGeom prst="rect">
            <a:avLst/>
          </a:prstGeom>
          <a:solidFill>
            <a:srgbClr val="F5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9" name="TextBox 88"/>
          <p:cNvSpPr txBox="1"/>
          <p:nvPr/>
        </p:nvSpPr>
        <p:spPr>
          <a:xfrm>
            <a:off x="502920" y="3264408"/>
            <a:ext cx="2194560" cy="265176"/>
          </a:xfrm>
          <a:prstGeom prst="rect">
            <a:avLst/>
          </a:prstGeom>
          <a:noFill/>
        </p:spPr>
        <p:txBody>
          <a:bodyPr wrap="square">
            <a:spAutoFit/>
          </a:bodyPr>
          <a:lstStyle/>
          <a:p>
            <a:pPr algn="l">
              <a:defRPr sz="900" b="0">
                <a:solidFill>
                  <a:srgbClr val="333333"/>
                </a:solidFill>
                <a:latin typeface="Calibri"/>
              </a:defRPr>
            </a:pPr>
            <a:r>
              <a:t>FDA Guidance Doc Search</a:t>
            </a:r>
          </a:p>
        </p:txBody>
      </p:sp>
      <p:sp>
        <p:nvSpPr>
          <p:cNvPr id="90" name="Rectangle 89"/>
          <p:cNvSpPr/>
          <p:nvPr/>
        </p:nvSpPr>
        <p:spPr>
          <a:xfrm>
            <a:off x="2743200" y="3246120"/>
            <a:ext cx="1645920" cy="301752"/>
          </a:xfrm>
          <a:prstGeom prst="rect">
            <a:avLst/>
          </a:prstGeom>
          <a:solidFill>
            <a:srgbClr val="F5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1" name="TextBox 90"/>
          <p:cNvSpPr txBox="1"/>
          <p:nvPr/>
        </p:nvSpPr>
        <p:spPr>
          <a:xfrm>
            <a:off x="2788920" y="3264408"/>
            <a:ext cx="1554480" cy="265176"/>
          </a:xfrm>
          <a:prstGeom prst="rect">
            <a:avLst/>
          </a:prstGeom>
          <a:noFill/>
        </p:spPr>
        <p:txBody>
          <a:bodyPr wrap="square">
            <a:spAutoFit/>
          </a:bodyPr>
          <a:lstStyle/>
          <a:p>
            <a:pPr algn="ctr">
              <a:defRPr sz="900" b="0">
                <a:solidFill>
                  <a:srgbClr val="2E7D32"/>
                </a:solidFill>
                <a:latin typeface="Calibri"/>
              </a:defRPr>
            </a:pPr>
            <a:r>
              <a:t>✅</a:t>
            </a:r>
          </a:p>
        </p:txBody>
      </p:sp>
      <p:sp>
        <p:nvSpPr>
          <p:cNvPr id="92" name="Rectangle 91"/>
          <p:cNvSpPr/>
          <p:nvPr/>
        </p:nvSpPr>
        <p:spPr>
          <a:xfrm>
            <a:off x="4389120" y="3246120"/>
            <a:ext cx="1371600" cy="301752"/>
          </a:xfrm>
          <a:prstGeom prst="rect">
            <a:avLst/>
          </a:prstGeom>
          <a:solidFill>
            <a:srgbClr val="F5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3" name="TextBox 92"/>
          <p:cNvSpPr txBox="1"/>
          <p:nvPr/>
        </p:nvSpPr>
        <p:spPr>
          <a:xfrm>
            <a:off x="4434840" y="3264408"/>
            <a:ext cx="1280160" cy="265176"/>
          </a:xfrm>
          <a:prstGeom prst="rect">
            <a:avLst/>
          </a:prstGeom>
          <a:noFill/>
        </p:spPr>
        <p:txBody>
          <a:bodyPr wrap="square">
            <a:spAutoFit/>
          </a:bodyPr>
          <a:lstStyle/>
          <a:p>
            <a:pPr algn="ctr">
              <a:defRPr sz="900" b="0">
                <a:solidFill>
                  <a:srgbClr val="E53E3E"/>
                </a:solidFill>
                <a:latin typeface="Calibri"/>
              </a:defRPr>
            </a:pPr>
            <a:r>
              <a:t>❌</a:t>
            </a:r>
          </a:p>
        </p:txBody>
      </p:sp>
      <p:sp>
        <p:nvSpPr>
          <p:cNvPr id="94" name="Rectangle 93"/>
          <p:cNvSpPr/>
          <p:nvPr/>
        </p:nvSpPr>
        <p:spPr>
          <a:xfrm>
            <a:off x="5760720" y="3246120"/>
            <a:ext cx="1371600" cy="301752"/>
          </a:xfrm>
          <a:prstGeom prst="rect">
            <a:avLst/>
          </a:prstGeom>
          <a:solidFill>
            <a:srgbClr val="F5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5" name="TextBox 94"/>
          <p:cNvSpPr txBox="1"/>
          <p:nvPr/>
        </p:nvSpPr>
        <p:spPr>
          <a:xfrm>
            <a:off x="5806440" y="3264408"/>
            <a:ext cx="1280160" cy="265176"/>
          </a:xfrm>
          <a:prstGeom prst="rect">
            <a:avLst/>
          </a:prstGeom>
          <a:noFill/>
        </p:spPr>
        <p:txBody>
          <a:bodyPr wrap="square">
            <a:spAutoFit/>
          </a:bodyPr>
          <a:lstStyle/>
          <a:p>
            <a:pPr algn="ctr">
              <a:defRPr sz="900" b="0">
                <a:solidFill>
                  <a:srgbClr val="E53E3E"/>
                </a:solidFill>
                <a:latin typeface="Calibri"/>
              </a:defRPr>
            </a:pPr>
            <a:r>
              <a:t>❌</a:t>
            </a:r>
          </a:p>
        </p:txBody>
      </p:sp>
      <p:sp>
        <p:nvSpPr>
          <p:cNvPr id="96" name="Rectangle 95"/>
          <p:cNvSpPr/>
          <p:nvPr/>
        </p:nvSpPr>
        <p:spPr>
          <a:xfrm>
            <a:off x="7132320" y="3246120"/>
            <a:ext cx="1371600" cy="301752"/>
          </a:xfrm>
          <a:prstGeom prst="rect">
            <a:avLst/>
          </a:prstGeom>
          <a:solidFill>
            <a:srgbClr val="F5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 name="TextBox 96"/>
          <p:cNvSpPr txBox="1"/>
          <p:nvPr/>
        </p:nvSpPr>
        <p:spPr>
          <a:xfrm>
            <a:off x="7178040" y="3264408"/>
            <a:ext cx="1280160" cy="265176"/>
          </a:xfrm>
          <a:prstGeom prst="rect">
            <a:avLst/>
          </a:prstGeom>
          <a:noFill/>
        </p:spPr>
        <p:txBody>
          <a:bodyPr wrap="square">
            <a:spAutoFit/>
          </a:bodyPr>
          <a:lstStyle/>
          <a:p>
            <a:pPr algn="ctr">
              <a:defRPr sz="900" b="0">
                <a:solidFill>
                  <a:srgbClr val="E53E3E"/>
                </a:solidFill>
                <a:latin typeface="Calibri"/>
              </a:defRPr>
            </a:pPr>
            <a:r>
              <a:t>❌</a:t>
            </a:r>
          </a:p>
        </p:txBody>
      </p:sp>
      <p:sp>
        <p:nvSpPr>
          <p:cNvPr id="98" name="Rectangle 97"/>
          <p:cNvSpPr/>
          <p:nvPr/>
        </p:nvSpPr>
        <p:spPr>
          <a:xfrm>
            <a:off x="8503920" y="3246120"/>
            <a:ext cx="1188720" cy="301752"/>
          </a:xfrm>
          <a:prstGeom prst="rect">
            <a:avLst/>
          </a:prstGeom>
          <a:solidFill>
            <a:srgbClr val="F5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9" name="TextBox 98"/>
          <p:cNvSpPr txBox="1"/>
          <p:nvPr/>
        </p:nvSpPr>
        <p:spPr>
          <a:xfrm>
            <a:off x="8549640" y="3264408"/>
            <a:ext cx="1097280" cy="265176"/>
          </a:xfrm>
          <a:prstGeom prst="rect">
            <a:avLst/>
          </a:prstGeom>
          <a:noFill/>
        </p:spPr>
        <p:txBody>
          <a:bodyPr wrap="square">
            <a:spAutoFit/>
          </a:bodyPr>
          <a:lstStyle/>
          <a:p>
            <a:pPr algn="ctr">
              <a:defRPr sz="900" b="0">
                <a:solidFill>
                  <a:srgbClr val="E53E3E"/>
                </a:solidFill>
                <a:latin typeface="Calibri"/>
              </a:defRPr>
            </a:pPr>
            <a:r>
              <a:t>❌</a:t>
            </a:r>
          </a:p>
        </p:txBody>
      </p:sp>
      <p:sp>
        <p:nvSpPr>
          <p:cNvPr id="100" name="Rectangle 99"/>
          <p:cNvSpPr/>
          <p:nvPr/>
        </p:nvSpPr>
        <p:spPr>
          <a:xfrm>
            <a:off x="9692640" y="3246120"/>
            <a:ext cx="1645920" cy="301752"/>
          </a:xfrm>
          <a:prstGeom prst="rect">
            <a:avLst/>
          </a:prstGeom>
          <a:solidFill>
            <a:srgbClr val="F5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1" name="TextBox 100"/>
          <p:cNvSpPr txBox="1"/>
          <p:nvPr/>
        </p:nvSpPr>
        <p:spPr>
          <a:xfrm>
            <a:off x="9738360" y="3264408"/>
            <a:ext cx="1554480" cy="265176"/>
          </a:xfrm>
          <a:prstGeom prst="rect">
            <a:avLst/>
          </a:prstGeom>
          <a:noFill/>
        </p:spPr>
        <p:txBody>
          <a:bodyPr wrap="square">
            <a:spAutoFit/>
          </a:bodyPr>
          <a:lstStyle/>
          <a:p>
            <a:pPr algn="ctr">
              <a:defRPr sz="900" b="0">
                <a:solidFill>
                  <a:srgbClr val="E53E3E"/>
                </a:solidFill>
                <a:latin typeface="Calibri"/>
              </a:defRPr>
            </a:pPr>
            <a:r>
              <a:t>❌</a:t>
            </a:r>
          </a:p>
        </p:txBody>
      </p:sp>
      <p:sp>
        <p:nvSpPr>
          <p:cNvPr id="102" name="Rectangle 101"/>
          <p:cNvSpPr/>
          <p:nvPr/>
        </p:nvSpPr>
        <p:spPr>
          <a:xfrm>
            <a:off x="457200" y="3547872"/>
            <a:ext cx="2286000" cy="30175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3" name="TextBox 102"/>
          <p:cNvSpPr txBox="1"/>
          <p:nvPr/>
        </p:nvSpPr>
        <p:spPr>
          <a:xfrm>
            <a:off x="502920" y="3566160"/>
            <a:ext cx="2194560" cy="265176"/>
          </a:xfrm>
          <a:prstGeom prst="rect">
            <a:avLst/>
          </a:prstGeom>
          <a:noFill/>
        </p:spPr>
        <p:txBody>
          <a:bodyPr wrap="square">
            <a:spAutoFit/>
          </a:bodyPr>
          <a:lstStyle/>
          <a:p>
            <a:pPr algn="l">
              <a:defRPr sz="900" b="0">
                <a:solidFill>
                  <a:srgbClr val="333333"/>
                </a:solidFill>
                <a:latin typeface="Calibri"/>
              </a:defRPr>
            </a:pPr>
            <a:r>
              <a:t>ISO 14971 Risk Dashboard</a:t>
            </a:r>
          </a:p>
        </p:txBody>
      </p:sp>
      <p:sp>
        <p:nvSpPr>
          <p:cNvPr id="104" name="Rectangle 103"/>
          <p:cNvSpPr/>
          <p:nvPr/>
        </p:nvSpPr>
        <p:spPr>
          <a:xfrm>
            <a:off x="2743200" y="3547872"/>
            <a:ext cx="1645920" cy="30175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5" name="TextBox 104"/>
          <p:cNvSpPr txBox="1"/>
          <p:nvPr/>
        </p:nvSpPr>
        <p:spPr>
          <a:xfrm>
            <a:off x="2788920" y="3566160"/>
            <a:ext cx="1554480" cy="265176"/>
          </a:xfrm>
          <a:prstGeom prst="rect">
            <a:avLst/>
          </a:prstGeom>
          <a:noFill/>
        </p:spPr>
        <p:txBody>
          <a:bodyPr wrap="square">
            <a:spAutoFit/>
          </a:bodyPr>
          <a:lstStyle/>
          <a:p>
            <a:pPr algn="ctr">
              <a:defRPr sz="900" b="0">
                <a:solidFill>
                  <a:srgbClr val="2E7D32"/>
                </a:solidFill>
                <a:latin typeface="Calibri"/>
              </a:defRPr>
            </a:pPr>
            <a:r>
              <a:t>✅</a:t>
            </a:r>
          </a:p>
        </p:txBody>
      </p:sp>
      <p:sp>
        <p:nvSpPr>
          <p:cNvPr id="106" name="Rectangle 105"/>
          <p:cNvSpPr/>
          <p:nvPr/>
        </p:nvSpPr>
        <p:spPr>
          <a:xfrm>
            <a:off x="4389120" y="3547872"/>
            <a:ext cx="1371600" cy="30175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7" name="TextBox 106"/>
          <p:cNvSpPr txBox="1"/>
          <p:nvPr/>
        </p:nvSpPr>
        <p:spPr>
          <a:xfrm>
            <a:off x="4434840" y="3566160"/>
            <a:ext cx="1280160" cy="265176"/>
          </a:xfrm>
          <a:prstGeom prst="rect">
            <a:avLst/>
          </a:prstGeom>
          <a:noFill/>
        </p:spPr>
        <p:txBody>
          <a:bodyPr wrap="square">
            <a:spAutoFit/>
          </a:bodyPr>
          <a:lstStyle/>
          <a:p>
            <a:pPr algn="ctr">
              <a:defRPr sz="900" b="0">
                <a:solidFill>
                  <a:srgbClr val="2E7D32"/>
                </a:solidFill>
                <a:latin typeface="Calibri"/>
              </a:defRPr>
            </a:pPr>
            <a:r>
              <a:t>✅</a:t>
            </a:r>
          </a:p>
        </p:txBody>
      </p:sp>
      <p:sp>
        <p:nvSpPr>
          <p:cNvPr id="108" name="Rectangle 107"/>
          <p:cNvSpPr/>
          <p:nvPr/>
        </p:nvSpPr>
        <p:spPr>
          <a:xfrm>
            <a:off x="5760720" y="3547872"/>
            <a:ext cx="1371600" cy="30175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9" name="TextBox 108"/>
          <p:cNvSpPr txBox="1"/>
          <p:nvPr/>
        </p:nvSpPr>
        <p:spPr>
          <a:xfrm>
            <a:off x="5806440" y="3566160"/>
            <a:ext cx="1280160" cy="265176"/>
          </a:xfrm>
          <a:prstGeom prst="rect">
            <a:avLst/>
          </a:prstGeom>
          <a:noFill/>
        </p:spPr>
        <p:txBody>
          <a:bodyPr wrap="square">
            <a:spAutoFit/>
          </a:bodyPr>
          <a:lstStyle/>
          <a:p>
            <a:pPr algn="ctr">
              <a:defRPr sz="900" b="0">
                <a:solidFill>
                  <a:srgbClr val="2E7D32"/>
                </a:solidFill>
                <a:latin typeface="Calibri"/>
              </a:defRPr>
            </a:pPr>
            <a:r>
              <a:t>✅</a:t>
            </a:r>
          </a:p>
        </p:txBody>
      </p:sp>
      <p:sp>
        <p:nvSpPr>
          <p:cNvPr id="110" name="Rectangle 109"/>
          <p:cNvSpPr/>
          <p:nvPr/>
        </p:nvSpPr>
        <p:spPr>
          <a:xfrm>
            <a:off x="7132320" y="3547872"/>
            <a:ext cx="1371600" cy="30175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1" name="TextBox 110"/>
          <p:cNvSpPr txBox="1"/>
          <p:nvPr/>
        </p:nvSpPr>
        <p:spPr>
          <a:xfrm>
            <a:off x="7178040" y="3566160"/>
            <a:ext cx="1280160" cy="265176"/>
          </a:xfrm>
          <a:prstGeom prst="rect">
            <a:avLst/>
          </a:prstGeom>
          <a:noFill/>
        </p:spPr>
        <p:txBody>
          <a:bodyPr wrap="square">
            <a:spAutoFit/>
          </a:bodyPr>
          <a:lstStyle/>
          <a:p>
            <a:pPr algn="ctr">
              <a:defRPr sz="900" b="0">
                <a:solidFill>
                  <a:srgbClr val="E53E3E"/>
                </a:solidFill>
                <a:latin typeface="Calibri"/>
              </a:defRPr>
            </a:pPr>
            <a:r>
              <a:t>❌</a:t>
            </a:r>
          </a:p>
        </p:txBody>
      </p:sp>
      <p:sp>
        <p:nvSpPr>
          <p:cNvPr id="112" name="Rectangle 111"/>
          <p:cNvSpPr/>
          <p:nvPr/>
        </p:nvSpPr>
        <p:spPr>
          <a:xfrm>
            <a:off x="8503920" y="3547872"/>
            <a:ext cx="1188720" cy="30175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3" name="TextBox 112"/>
          <p:cNvSpPr txBox="1"/>
          <p:nvPr/>
        </p:nvSpPr>
        <p:spPr>
          <a:xfrm>
            <a:off x="8549640" y="3566160"/>
            <a:ext cx="1097280" cy="265176"/>
          </a:xfrm>
          <a:prstGeom prst="rect">
            <a:avLst/>
          </a:prstGeom>
          <a:noFill/>
        </p:spPr>
        <p:txBody>
          <a:bodyPr wrap="square">
            <a:spAutoFit/>
          </a:bodyPr>
          <a:lstStyle/>
          <a:p>
            <a:pPr algn="ctr">
              <a:defRPr sz="900" b="0">
                <a:solidFill>
                  <a:srgbClr val="E53E3E"/>
                </a:solidFill>
                <a:latin typeface="Calibri"/>
              </a:defRPr>
            </a:pPr>
            <a:r>
              <a:t>❌</a:t>
            </a:r>
          </a:p>
        </p:txBody>
      </p:sp>
      <p:sp>
        <p:nvSpPr>
          <p:cNvPr id="114" name="Rectangle 113"/>
          <p:cNvSpPr/>
          <p:nvPr/>
        </p:nvSpPr>
        <p:spPr>
          <a:xfrm>
            <a:off x="9692640" y="3547872"/>
            <a:ext cx="1645920" cy="30175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5" name="TextBox 114"/>
          <p:cNvSpPr txBox="1"/>
          <p:nvPr/>
        </p:nvSpPr>
        <p:spPr>
          <a:xfrm>
            <a:off x="9738360" y="3566160"/>
            <a:ext cx="1554480" cy="265176"/>
          </a:xfrm>
          <a:prstGeom prst="rect">
            <a:avLst/>
          </a:prstGeom>
          <a:noFill/>
        </p:spPr>
        <p:txBody>
          <a:bodyPr wrap="square">
            <a:spAutoFit/>
          </a:bodyPr>
          <a:lstStyle/>
          <a:p>
            <a:pPr algn="ctr">
              <a:defRPr sz="900" b="0">
                <a:solidFill>
                  <a:srgbClr val="E53E3E"/>
                </a:solidFill>
                <a:latin typeface="Calibri"/>
              </a:defRPr>
            </a:pPr>
            <a:r>
              <a:t>❌</a:t>
            </a:r>
          </a:p>
        </p:txBody>
      </p:sp>
      <p:sp>
        <p:nvSpPr>
          <p:cNvPr id="116" name="Rectangle 115"/>
          <p:cNvSpPr/>
          <p:nvPr/>
        </p:nvSpPr>
        <p:spPr>
          <a:xfrm>
            <a:off x="457200" y="3849624"/>
            <a:ext cx="2286000" cy="301752"/>
          </a:xfrm>
          <a:prstGeom prst="rect">
            <a:avLst/>
          </a:prstGeom>
          <a:solidFill>
            <a:srgbClr val="F5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7" name="TextBox 116"/>
          <p:cNvSpPr txBox="1"/>
          <p:nvPr/>
        </p:nvSpPr>
        <p:spPr>
          <a:xfrm>
            <a:off x="502920" y="3867912"/>
            <a:ext cx="2194560" cy="265176"/>
          </a:xfrm>
          <a:prstGeom prst="rect">
            <a:avLst/>
          </a:prstGeom>
          <a:noFill/>
        </p:spPr>
        <p:txBody>
          <a:bodyPr wrap="square">
            <a:spAutoFit/>
          </a:bodyPr>
          <a:lstStyle/>
          <a:p>
            <a:pPr algn="l">
              <a:defRPr sz="900" b="0">
                <a:solidFill>
                  <a:srgbClr val="333333"/>
                </a:solidFill>
                <a:latin typeface="Calibri"/>
              </a:defRPr>
            </a:pPr>
            <a:r>
              <a:t>DHF/DMR Tracking</a:t>
            </a:r>
          </a:p>
        </p:txBody>
      </p:sp>
      <p:sp>
        <p:nvSpPr>
          <p:cNvPr id="118" name="Rectangle 117"/>
          <p:cNvSpPr/>
          <p:nvPr/>
        </p:nvSpPr>
        <p:spPr>
          <a:xfrm>
            <a:off x="2743200" y="3849624"/>
            <a:ext cx="1645920" cy="301752"/>
          </a:xfrm>
          <a:prstGeom prst="rect">
            <a:avLst/>
          </a:prstGeom>
          <a:solidFill>
            <a:srgbClr val="F5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9" name="TextBox 118"/>
          <p:cNvSpPr txBox="1"/>
          <p:nvPr/>
        </p:nvSpPr>
        <p:spPr>
          <a:xfrm>
            <a:off x="2788920" y="3867912"/>
            <a:ext cx="1554480" cy="265176"/>
          </a:xfrm>
          <a:prstGeom prst="rect">
            <a:avLst/>
          </a:prstGeom>
          <a:noFill/>
        </p:spPr>
        <p:txBody>
          <a:bodyPr wrap="square">
            <a:spAutoFit/>
          </a:bodyPr>
          <a:lstStyle/>
          <a:p>
            <a:pPr algn="ctr">
              <a:defRPr sz="900" b="0">
                <a:solidFill>
                  <a:srgbClr val="2E7D32"/>
                </a:solidFill>
                <a:latin typeface="Calibri"/>
              </a:defRPr>
            </a:pPr>
            <a:r>
              <a:t>✅</a:t>
            </a:r>
          </a:p>
        </p:txBody>
      </p:sp>
      <p:sp>
        <p:nvSpPr>
          <p:cNvPr id="120" name="Rectangle 119"/>
          <p:cNvSpPr/>
          <p:nvPr/>
        </p:nvSpPr>
        <p:spPr>
          <a:xfrm>
            <a:off x="4389120" y="3849624"/>
            <a:ext cx="1371600" cy="301752"/>
          </a:xfrm>
          <a:prstGeom prst="rect">
            <a:avLst/>
          </a:prstGeom>
          <a:solidFill>
            <a:srgbClr val="F5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1" name="TextBox 120"/>
          <p:cNvSpPr txBox="1"/>
          <p:nvPr/>
        </p:nvSpPr>
        <p:spPr>
          <a:xfrm>
            <a:off x="4434840" y="3867912"/>
            <a:ext cx="1280160" cy="265176"/>
          </a:xfrm>
          <a:prstGeom prst="rect">
            <a:avLst/>
          </a:prstGeom>
          <a:noFill/>
        </p:spPr>
        <p:txBody>
          <a:bodyPr wrap="square">
            <a:spAutoFit/>
          </a:bodyPr>
          <a:lstStyle/>
          <a:p>
            <a:pPr algn="ctr">
              <a:defRPr sz="900" b="0">
                <a:solidFill>
                  <a:srgbClr val="2E7D32"/>
                </a:solidFill>
                <a:latin typeface="Calibri"/>
              </a:defRPr>
            </a:pPr>
            <a:r>
              <a:t>✅</a:t>
            </a:r>
          </a:p>
        </p:txBody>
      </p:sp>
      <p:sp>
        <p:nvSpPr>
          <p:cNvPr id="122" name="Rectangle 121"/>
          <p:cNvSpPr/>
          <p:nvPr/>
        </p:nvSpPr>
        <p:spPr>
          <a:xfrm>
            <a:off x="5760720" y="3849624"/>
            <a:ext cx="1371600" cy="301752"/>
          </a:xfrm>
          <a:prstGeom prst="rect">
            <a:avLst/>
          </a:prstGeom>
          <a:solidFill>
            <a:srgbClr val="F5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3" name="TextBox 122"/>
          <p:cNvSpPr txBox="1"/>
          <p:nvPr/>
        </p:nvSpPr>
        <p:spPr>
          <a:xfrm>
            <a:off x="5806440" y="3867912"/>
            <a:ext cx="1280160" cy="265176"/>
          </a:xfrm>
          <a:prstGeom prst="rect">
            <a:avLst/>
          </a:prstGeom>
          <a:noFill/>
        </p:spPr>
        <p:txBody>
          <a:bodyPr wrap="square">
            <a:spAutoFit/>
          </a:bodyPr>
          <a:lstStyle/>
          <a:p>
            <a:pPr algn="ctr">
              <a:defRPr sz="900" b="0">
                <a:solidFill>
                  <a:srgbClr val="2E7D32"/>
                </a:solidFill>
                <a:latin typeface="Calibri"/>
              </a:defRPr>
            </a:pPr>
            <a:r>
              <a:t>✅</a:t>
            </a:r>
          </a:p>
        </p:txBody>
      </p:sp>
      <p:sp>
        <p:nvSpPr>
          <p:cNvPr id="124" name="Rectangle 123"/>
          <p:cNvSpPr/>
          <p:nvPr/>
        </p:nvSpPr>
        <p:spPr>
          <a:xfrm>
            <a:off x="7132320" y="3849624"/>
            <a:ext cx="1371600" cy="301752"/>
          </a:xfrm>
          <a:prstGeom prst="rect">
            <a:avLst/>
          </a:prstGeom>
          <a:solidFill>
            <a:srgbClr val="F5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5" name="TextBox 124"/>
          <p:cNvSpPr txBox="1"/>
          <p:nvPr/>
        </p:nvSpPr>
        <p:spPr>
          <a:xfrm>
            <a:off x="7178040" y="3867912"/>
            <a:ext cx="1280160" cy="265176"/>
          </a:xfrm>
          <a:prstGeom prst="rect">
            <a:avLst/>
          </a:prstGeom>
          <a:noFill/>
        </p:spPr>
        <p:txBody>
          <a:bodyPr wrap="square">
            <a:spAutoFit/>
          </a:bodyPr>
          <a:lstStyle/>
          <a:p>
            <a:pPr algn="ctr">
              <a:defRPr sz="900" b="0">
                <a:solidFill>
                  <a:srgbClr val="E53E3E"/>
                </a:solidFill>
                <a:latin typeface="Calibri"/>
              </a:defRPr>
            </a:pPr>
            <a:r>
              <a:t>❌</a:t>
            </a:r>
          </a:p>
        </p:txBody>
      </p:sp>
      <p:sp>
        <p:nvSpPr>
          <p:cNvPr id="126" name="Rectangle 125"/>
          <p:cNvSpPr/>
          <p:nvPr/>
        </p:nvSpPr>
        <p:spPr>
          <a:xfrm>
            <a:off x="8503920" y="3849624"/>
            <a:ext cx="1188720" cy="301752"/>
          </a:xfrm>
          <a:prstGeom prst="rect">
            <a:avLst/>
          </a:prstGeom>
          <a:solidFill>
            <a:srgbClr val="F5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7" name="TextBox 126"/>
          <p:cNvSpPr txBox="1"/>
          <p:nvPr/>
        </p:nvSpPr>
        <p:spPr>
          <a:xfrm>
            <a:off x="8549640" y="3867912"/>
            <a:ext cx="1097280" cy="265176"/>
          </a:xfrm>
          <a:prstGeom prst="rect">
            <a:avLst/>
          </a:prstGeom>
          <a:noFill/>
        </p:spPr>
        <p:txBody>
          <a:bodyPr wrap="square">
            <a:spAutoFit/>
          </a:bodyPr>
          <a:lstStyle/>
          <a:p>
            <a:pPr algn="ctr">
              <a:defRPr sz="900" b="0">
                <a:solidFill>
                  <a:srgbClr val="2E7D32"/>
                </a:solidFill>
                <a:latin typeface="Calibri"/>
              </a:defRPr>
            </a:pPr>
            <a:r>
              <a:t>✅</a:t>
            </a:r>
          </a:p>
        </p:txBody>
      </p:sp>
      <p:sp>
        <p:nvSpPr>
          <p:cNvPr id="128" name="Rectangle 127"/>
          <p:cNvSpPr/>
          <p:nvPr/>
        </p:nvSpPr>
        <p:spPr>
          <a:xfrm>
            <a:off x="9692640" y="3849624"/>
            <a:ext cx="1645920" cy="301752"/>
          </a:xfrm>
          <a:prstGeom prst="rect">
            <a:avLst/>
          </a:prstGeom>
          <a:solidFill>
            <a:srgbClr val="F5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9" name="TextBox 128"/>
          <p:cNvSpPr txBox="1"/>
          <p:nvPr/>
        </p:nvSpPr>
        <p:spPr>
          <a:xfrm>
            <a:off x="9738360" y="3867912"/>
            <a:ext cx="1554480" cy="265176"/>
          </a:xfrm>
          <a:prstGeom prst="rect">
            <a:avLst/>
          </a:prstGeom>
          <a:noFill/>
        </p:spPr>
        <p:txBody>
          <a:bodyPr wrap="square">
            <a:spAutoFit/>
          </a:bodyPr>
          <a:lstStyle/>
          <a:p>
            <a:pPr algn="ctr">
              <a:defRPr sz="900" b="0">
                <a:solidFill>
                  <a:srgbClr val="E53E3E"/>
                </a:solidFill>
                <a:latin typeface="Calibri"/>
              </a:defRPr>
            </a:pPr>
            <a:r>
              <a:t>❌</a:t>
            </a:r>
          </a:p>
        </p:txBody>
      </p:sp>
      <p:sp>
        <p:nvSpPr>
          <p:cNvPr id="130" name="Rectangle 129"/>
          <p:cNvSpPr/>
          <p:nvPr/>
        </p:nvSpPr>
        <p:spPr>
          <a:xfrm>
            <a:off x="457200" y="4151376"/>
            <a:ext cx="2286000" cy="30175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1" name="TextBox 130"/>
          <p:cNvSpPr txBox="1"/>
          <p:nvPr/>
        </p:nvSpPr>
        <p:spPr>
          <a:xfrm>
            <a:off x="502920" y="4169664"/>
            <a:ext cx="2194560" cy="265176"/>
          </a:xfrm>
          <a:prstGeom prst="rect">
            <a:avLst/>
          </a:prstGeom>
          <a:noFill/>
        </p:spPr>
        <p:txBody>
          <a:bodyPr wrap="square">
            <a:spAutoFit/>
          </a:bodyPr>
          <a:lstStyle/>
          <a:p>
            <a:pPr algn="l">
              <a:defRPr sz="900" b="0">
                <a:solidFill>
                  <a:srgbClr val="333333"/>
                </a:solidFill>
                <a:latin typeface="Calibri"/>
              </a:defRPr>
            </a:pPr>
            <a:r>
              <a:t>CAPA Management</a:t>
            </a:r>
          </a:p>
        </p:txBody>
      </p:sp>
      <p:sp>
        <p:nvSpPr>
          <p:cNvPr id="132" name="Rectangle 131"/>
          <p:cNvSpPr/>
          <p:nvPr/>
        </p:nvSpPr>
        <p:spPr>
          <a:xfrm>
            <a:off x="2743200" y="4151376"/>
            <a:ext cx="1645920" cy="30175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3" name="TextBox 132"/>
          <p:cNvSpPr txBox="1"/>
          <p:nvPr/>
        </p:nvSpPr>
        <p:spPr>
          <a:xfrm>
            <a:off x="2788920" y="4169664"/>
            <a:ext cx="1554480" cy="265176"/>
          </a:xfrm>
          <a:prstGeom prst="rect">
            <a:avLst/>
          </a:prstGeom>
          <a:noFill/>
        </p:spPr>
        <p:txBody>
          <a:bodyPr wrap="square">
            <a:spAutoFit/>
          </a:bodyPr>
          <a:lstStyle/>
          <a:p>
            <a:pPr algn="ctr">
              <a:defRPr sz="900" b="0">
                <a:solidFill>
                  <a:srgbClr val="2E7D32"/>
                </a:solidFill>
                <a:latin typeface="Calibri"/>
              </a:defRPr>
            </a:pPr>
            <a:r>
              <a:t>✅</a:t>
            </a:r>
          </a:p>
        </p:txBody>
      </p:sp>
      <p:sp>
        <p:nvSpPr>
          <p:cNvPr id="134" name="Rectangle 133"/>
          <p:cNvSpPr/>
          <p:nvPr/>
        </p:nvSpPr>
        <p:spPr>
          <a:xfrm>
            <a:off x="4389120" y="4151376"/>
            <a:ext cx="1371600" cy="30175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5" name="TextBox 134"/>
          <p:cNvSpPr txBox="1"/>
          <p:nvPr/>
        </p:nvSpPr>
        <p:spPr>
          <a:xfrm>
            <a:off x="4434840" y="4169664"/>
            <a:ext cx="1280160" cy="265176"/>
          </a:xfrm>
          <a:prstGeom prst="rect">
            <a:avLst/>
          </a:prstGeom>
          <a:noFill/>
        </p:spPr>
        <p:txBody>
          <a:bodyPr wrap="square">
            <a:spAutoFit/>
          </a:bodyPr>
          <a:lstStyle/>
          <a:p>
            <a:pPr algn="ctr">
              <a:defRPr sz="900" b="0">
                <a:solidFill>
                  <a:srgbClr val="2E7D32"/>
                </a:solidFill>
                <a:latin typeface="Calibri"/>
              </a:defRPr>
            </a:pPr>
            <a:r>
              <a:t>✅</a:t>
            </a:r>
          </a:p>
        </p:txBody>
      </p:sp>
      <p:sp>
        <p:nvSpPr>
          <p:cNvPr id="136" name="Rectangle 135"/>
          <p:cNvSpPr/>
          <p:nvPr/>
        </p:nvSpPr>
        <p:spPr>
          <a:xfrm>
            <a:off x="5760720" y="4151376"/>
            <a:ext cx="1371600" cy="30175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7" name="TextBox 136"/>
          <p:cNvSpPr txBox="1"/>
          <p:nvPr/>
        </p:nvSpPr>
        <p:spPr>
          <a:xfrm>
            <a:off x="5806440" y="4169664"/>
            <a:ext cx="1280160" cy="265176"/>
          </a:xfrm>
          <a:prstGeom prst="rect">
            <a:avLst/>
          </a:prstGeom>
          <a:noFill/>
        </p:spPr>
        <p:txBody>
          <a:bodyPr wrap="square">
            <a:spAutoFit/>
          </a:bodyPr>
          <a:lstStyle/>
          <a:p>
            <a:pPr algn="ctr">
              <a:defRPr sz="900" b="0">
                <a:solidFill>
                  <a:srgbClr val="2E7D32"/>
                </a:solidFill>
                <a:latin typeface="Calibri"/>
              </a:defRPr>
            </a:pPr>
            <a:r>
              <a:t>✅</a:t>
            </a:r>
          </a:p>
        </p:txBody>
      </p:sp>
      <p:sp>
        <p:nvSpPr>
          <p:cNvPr id="138" name="Rectangle 137"/>
          <p:cNvSpPr/>
          <p:nvPr/>
        </p:nvSpPr>
        <p:spPr>
          <a:xfrm>
            <a:off x="7132320" y="4151376"/>
            <a:ext cx="1371600" cy="30175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9" name="TextBox 138"/>
          <p:cNvSpPr txBox="1"/>
          <p:nvPr/>
        </p:nvSpPr>
        <p:spPr>
          <a:xfrm>
            <a:off x="7178040" y="4169664"/>
            <a:ext cx="1280160" cy="265176"/>
          </a:xfrm>
          <a:prstGeom prst="rect">
            <a:avLst/>
          </a:prstGeom>
          <a:noFill/>
        </p:spPr>
        <p:txBody>
          <a:bodyPr wrap="square">
            <a:spAutoFit/>
          </a:bodyPr>
          <a:lstStyle/>
          <a:p>
            <a:pPr algn="ctr">
              <a:defRPr sz="900" b="0">
                <a:solidFill>
                  <a:srgbClr val="E53E3E"/>
                </a:solidFill>
                <a:latin typeface="Calibri"/>
              </a:defRPr>
            </a:pPr>
            <a:r>
              <a:t>❌</a:t>
            </a:r>
          </a:p>
        </p:txBody>
      </p:sp>
      <p:sp>
        <p:nvSpPr>
          <p:cNvPr id="140" name="Rectangle 139"/>
          <p:cNvSpPr/>
          <p:nvPr/>
        </p:nvSpPr>
        <p:spPr>
          <a:xfrm>
            <a:off x="8503920" y="4151376"/>
            <a:ext cx="1188720" cy="30175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1" name="TextBox 140"/>
          <p:cNvSpPr txBox="1"/>
          <p:nvPr/>
        </p:nvSpPr>
        <p:spPr>
          <a:xfrm>
            <a:off x="8549640" y="4169664"/>
            <a:ext cx="1097280" cy="265176"/>
          </a:xfrm>
          <a:prstGeom prst="rect">
            <a:avLst/>
          </a:prstGeom>
          <a:noFill/>
        </p:spPr>
        <p:txBody>
          <a:bodyPr wrap="square">
            <a:spAutoFit/>
          </a:bodyPr>
          <a:lstStyle/>
          <a:p>
            <a:pPr algn="ctr">
              <a:defRPr sz="900" b="0">
                <a:solidFill>
                  <a:srgbClr val="2E7D32"/>
                </a:solidFill>
                <a:latin typeface="Calibri"/>
              </a:defRPr>
            </a:pPr>
            <a:r>
              <a:t>✅</a:t>
            </a:r>
          </a:p>
        </p:txBody>
      </p:sp>
      <p:sp>
        <p:nvSpPr>
          <p:cNvPr id="142" name="Rectangle 141"/>
          <p:cNvSpPr/>
          <p:nvPr/>
        </p:nvSpPr>
        <p:spPr>
          <a:xfrm>
            <a:off x="9692640" y="4151376"/>
            <a:ext cx="1645920" cy="30175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3" name="TextBox 142"/>
          <p:cNvSpPr txBox="1"/>
          <p:nvPr/>
        </p:nvSpPr>
        <p:spPr>
          <a:xfrm>
            <a:off x="9738360" y="4169664"/>
            <a:ext cx="1554480" cy="265176"/>
          </a:xfrm>
          <a:prstGeom prst="rect">
            <a:avLst/>
          </a:prstGeom>
          <a:noFill/>
        </p:spPr>
        <p:txBody>
          <a:bodyPr wrap="square">
            <a:spAutoFit/>
          </a:bodyPr>
          <a:lstStyle/>
          <a:p>
            <a:pPr algn="ctr">
              <a:defRPr sz="900" b="0">
                <a:solidFill>
                  <a:srgbClr val="E53E3E"/>
                </a:solidFill>
                <a:latin typeface="Calibri"/>
              </a:defRPr>
            </a:pPr>
            <a:r>
              <a:t>❌</a:t>
            </a:r>
          </a:p>
        </p:txBody>
      </p:sp>
      <p:sp>
        <p:nvSpPr>
          <p:cNvPr id="144" name="Rectangle 143"/>
          <p:cNvSpPr/>
          <p:nvPr/>
        </p:nvSpPr>
        <p:spPr>
          <a:xfrm>
            <a:off x="457200" y="4453128"/>
            <a:ext cx="2286000" cy="301752"/>
          </a:xfrm>
          <a:prstGeom prst="rect">
            <a:avLst/>
          </a:prstGeom>
          <a:solidFill>
            <a:srgbClr val="F5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5" name="TextBox 144"/>
          <p:cNvSpPr txBox="1"/>
          <p:nvPr/>
        </p:nvSpPr>
        <p:spPr>
          <a:xfrm>
            <a:off x="502920" y="4471416"/>
            <a:ext cx="2194560" cy="265176"/>
          </a:xfrm>
          <a:prstGeom prst="rect">
            <a:avLst/>
          </a:prstGeom>
          <a:noFill/>
        </p:spPr>
        <p:txBody>
          <a:bodyPr wrap="square">
            <a:spAutoFit/>
          </a:bodyPr>
          <a:lstStyle/>
          <a:p>
            <a:pPr algn="l">
              <a:defRPr sz="900" b="0">
                <a:solidFill>
                  <a:srgbClr val="333333"/>
                </a:solidFill>
                <a:latin typeface="Calibri"/>
              </a:defRPr>
            </a:pPr>
            <a:r>
              <a:t>Stakeholder Gate Inputs</a:t>
            </a:r>
          </a:p>
        </p:txBody>
      </p:sp>
      <p:sp>
        <p:nvSpPr>
          <p:cNvPr id="146" name="Rectangle 145"/>
          <p:cNvSpPr/>
          <p:nvPr/>
        </p:nvSpPr>
        <p:spPr>
          <a:xfrm>
            <a:off x="2743200" y="4453128"/>
            <a:ext cx="1645920" cy="301752"/>
          </a:xfrm>
          <a:prstGeom prst="rect">
            <a:avLst/>
          </a:prstGeom>
          <a:solidFill>
            <a:srgbClr val="F5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7" name="TextBox 146"/>
          <p:cNvSpPr txBox="1"/>
          <p:nvPr/>
        </p:nvSpPr>
        <p:spPr>
          <a:xfrm>
            <a:off x="2788920" y="4471416"/>
            <a:ext cx="1554480" cy="265176"/>
          </a:xfrm>
          <a:prstGeom prst="rect">
            <a:avLst/>
          </a:prstGeom>
          <a:noFill/>
        </p:spPr>
        <p:txBody>
          <a:bodyPr wrap="square">
            <a:spAutoFit/>
          </a:bodyPr>
          <a:lstStyle/>
          <a:p>
            <a:pPr algn="ctr">
              <a:defRPr sz="900" b="0">
                <a:solidFill>
                  <a:srgbClr val="2E7D32"/>
                </a:solidFill>
                <a:latin typeface="Calibri"/>
              </a:defRPr>
            </a:pPr>
            <a:r>
              <a:t>✅</a:t>
            </a:r>
          </a:p>
        </p:txBody>
      </p:sp>
      <p:sp>
        <p:nvSpPr>
          <p:cNvPr id="148" name="Rectangle 147"/>
          <p:cNvSpPr/>
          <p:nvPr/>
        </p:nvSpPr>
        <p:spPr>
          <a:xfrm>
            <a:off x="4389120" y="4453128"/>
            <a:ext cx="1371600" cy="301752"/>
          </a:xfrm>
          <a:prstGeom prst="rect">
            <a:avLst/>
          </a:prstGeom>
          <a:solidFill>
            <a:srgbClr val="F5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9" name="TextBox 148"/>
          <p:cNvSpPr txBox="1"/>
          <p:nvPr/>
        </p:nvSpPr>
        <p:spPr>
          <a:xfrm>
            <a:off x="4434840" y="4471416"/>
            <a:ext cx="1280160" cy="265176"/>
          </a:xfrm>
          <a:prstGeom prst="rect">
            <a:avLst/>
          </a:prstGeom>
          <a:noFill/>
        </p:spPr>
        <p:txBody>
          <a:bodyPr wrap="square">
            <a:spAutoFit/>
          </a:bodyPr>
          <a:lstStyle/>
          <a:p>
            <a:pPr algn="ctr">
              <a:defRPr sz="900" b="0">
                <a:solidFill>
                  <a:srgbClr val="E53E3E"/>
                </a:solidFill>
                <a:latin typeface="Calibri"/>
              </a:defRPr>
            </a:pPr>
            <a:r>
              <a:t>❌</a:t>
            </a:r>
          </a:p>
        </p:txBody>
      </p:sp>
      <p:sp>
        <p:nvSpPr>
          <p:cNvPr id="150" name="Rectangle 149"/>
          <p:cNvSpPr/>
          <p:nvPr/>
        </p:nvSpPr>
        <p:spPr>
          <a:xfrm>
            <a:off x="5760720" y="4453128"/>
            <a:ext cx="1371600" cy="301752"/>
          </a:xfrm>
          <a:prstGeom prst="rect">
            <a:avLst/>
          </a:prstGeom>
          <a:solidFill>
            <a:srgbClr val="F5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1" name="TextBox 150"/>
          <p:cNvSpPr txBox="1"/>
          <p:nvPr/>
        </p:nvSpPr>
        <p:spPr>
          <a:xfrm>
            <a:off x="5806440" y="4471416"/>
            <a:ext cx="1280160" cy="265176"/>
          </a:xfrm>
          <a:prstGeom prst="rect">
            <a:avLst/>
          </a:prstGeom>
          <a:noFill/>
        </p:spPr>
        <p:txBody>
          <a:bodyPr wrap="square">
            <a:spAutoFit/>
          </a:bodyPr>
          <a:lstStyle/>
          <a:p>
            <a:pPr algn="ctr">
              <a:defRPr sz="900" b="0">
                <a:solidFill>
                  <a:srgbClr val="E53E3E"/>
                </a:solidFill>
                <a:latin typeface="Calibri"/>
              </a:defRPr>
            </a:pPr>
            <a:r>
              <a:t>❌</a:t>
            </a:r>
          </a:p>
        </p:txBody>
      </p:sp>
      <p:sp>
        <p:nvSpPr>
          <p:cNvPr id="152" name="Rectangle 151"/>
          <p:cNvSpPr/>
          <p:nvPr/>
        </p:nvSpPr>
        <p:spPr>
          <a:xfrm>
            <a:off x="7132320" y="4453128"/>
            <a:ext cx="1371600" cy="301752"/>
          </a:xfrm>
          <a:prstGeom prst="rect">
            <a:avLst/>
          </a:prstGeom>
          <a:solidFill>
            <a:srgbClr val="F5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3" name="TextBox 152"/>
          <p:cNvSpPr txBox="1"/>
          <p:nvPr/>
        </p:nvSpPr>
        <p:spPr>
          <a:xfrm>
            <a:off x="7178040" y="4471416"/>
            <a:ext cx="1280160" cy="265176"/>
          </a:xfrm>
          <a:prstGeom prst="rect">
            <a:avLst/>
          </a:prstGeom>
          <a:noFill/>
        </p:spPr>
        <p:txBody>
          <a:bodyPr wrap="square">
            <a:spAutoFit/>
          </a:bodyPr>
          <a:lstStyle/>
          <a:p>
            <a:pPr algn="ctr">
              <a:defRPr sz="900" b="0">
                <a:solidFill>
                  <a:srgbClr val="E53E3E"/>
                </a:solidFill>
                <a:latin typeface="Calibri"/>
              </a:defRPr>
            </a:pPr>
            <a:r>
              <a:t>❌</a:t>
            </a:r>
          </a:p>
        </p:txBody>
      </p:sp>
      <p:sp>
        <p:nvSpPr>
          <p:cNvPr id="154" name="Rectangle 153"/>
          <p:cNvSpPr/>
          <p:nvPr/>
        </p:nvSpPr>
        <p:spPr>
          <a:xfrm>
            <a:off x="8503920" y="4453128"/>
            <a:ext cx="1188720" cy="301752"/>
          </a:xfrm>
          <a:prstGeom prst="rect">
            <a:avLst/>
          </a:prstGeom>
          <a:solidFill>
            <a:srgbClr val="F5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5" name="TextBox 154"/>
          <p:cNvSpPr txBox="1"/>
          <p:nvPr/>
        </p:nvSpPr>
        <p:spPr>
          <a:xfrm>
            <a:off x="8549640" y="4471416"/>
            <a:ext cx="1097280" cy="265176"/>
          </a:xfrm>
          <a:prstGeom prst="rect">
            <a:avLst/>
          </a:prstGeom>
          <a:noFill/>
        </p:spPr>
        <p:txBody>
          <a:bodyPr wrap="square">
            <a:spAutoFit/>
          </a:bodyPr>
          <a:lstStyle/>
          <a:p>
            <a:pPr algn="ctr">
              <a:defRPr sz="900" b="0">
                <a:solidFill>
                  <a:srgbClr val="E53E3E"/>
                </a:solidFill>
                <a:latin typeface="Calibri"/>
              </a:defRPr>
            </a:pPr>
            <a:r>
              <a:t>❌</a:t>
            </a:r>
          </a:p>
        </p:txBody>
      </p:sp>
      <p:sp>
        <p:nvSpPr>
          <p:cNvPr id="156" name="Rectangle 155"/>
          <p:cNvSpPr/>
          <p:nvPr/>
        </p:nvSpPr>
        <p:spPr>
          <a:xfrm>
            <a:off x="9692640" y="4453128"/>
            <a:ext cx="1645920" cy="301752"/>
          </a:xfrm>
          <a:prstGeom prst="rect">
            <a:avLst/>
          </a:prstGeom>
          <a:solidFill>
            <a:srgbClr val="F5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7" name="TextBox 156"/>
          <p:cNvSpPr txBox="1"/>
          <p:nvPr/>
        </p:nvSpPr>
        <p:spPr>
          <a:xfrm>
            <a:off x="9738360" y="4471416"/>
            <a:ext cx="1554480" cy="265176"/>
          </a:xfrm>
          <a:prstGeom prst="rect">
            <a:avLst/>
          </a:prstGeom>
          <a:noFill/>
        </p:spPr>
        <p:txBody>
          <a:bodyPr wrap="square">
            <a:spAutoFit/>
          </a:bodyPr>
          <a:lstStyle/>
          <a:p>
            <a:pPr algn="ctr">
              <a:defRPr sz="900" b="0">
                <a:solidFill>
                  <a:srgbClr val="E53E3E"/>
                </a:solidFill>
                <a:latin typeface="Calibri"/>
              </a:defRPr>
            </a:pPr>
            <a:r>
              <a:t>❌</a:t>
            </a:r>
          </a:p>
        </p:txBody>
      </p:sp>
      <p:sp>
        <p:nvSpPr>
          <p:cNvPr id="158" name="Rectangle 157"/>
          <p:cNvSpPr/>
          <p:nvPr/>
        </p:nvSpPr>
        <p:spPr>
          <a:xfrm>
            <a:off x="457200" y="4754880"/>
            <a:ext cx="2286000" cy="30175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9" name="TextBox 158"/>
          <p:cNvSpPr txBox="1"/>
          <p:nvPr/>
        </p:nvSpPr>
        <p:spPr>
          <a:xfrm>
            <a:off x="502920" y="4773168"/>
            <a:ext cx="2194560" cy="265176"/>
          </a:xfrm>
          <a:prstGeom prst="rect">
            <a:avLst/>
          </a:prstGeom>
          <a:noFill/>
        </p:spPr>
        <p:txBody>
          <a:bodyPr wrap="square">
            <a:spAutoFit/>
          </a:bodyPr>
          <a:lstStyle/>
          <a:p>
            <a:pPr algn="l">
              <a:defRPr sz="900" b="0">
                <a:solidFill>
                  <a:srgbClr val="333333"/>
                </a:solidFill>
                <a:latin typeface="Calibri"/>
              </a:defRPr>
            </a:pPr>
            <a:r>
              <a:t>Budget &amp; Cash Runway</a:t>
            </a:r>
          </a:p>
        </p:txBody>
      </p:sp>
      <p:sp>
        <p:nvSpPr>
          <p:cNvPr id="160" name="Rectangle 159"/>
          <p:cNvSpPr/>
          <p:nvPr/>
        </p:nvSpPr>
        <p:spPr>
          <a:xfrm>
            <a:off x="2743200" y="4754880"/>
            <a:ext cx="1645920" cy="30175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1" name="TextBox 160"/>
          <p:cNvSpPr txBox="1"/>
          <p:nvPr/>
        </p:nvSpPr>
        <p:spPr>
          <a:xfrm>
            <a:off x="2788920" y="4773168"/>
            <a:ext cx="1554480" cy="265176"/>
          </a:xfrm>
          <a:prstGeom prst="rect">
            <a:avLst/>
          </a:prstGeom>
          <a:noFill/>
        </p:spPr>
        <p:txBody>
          <a:bodyPr wrap="square">
            <a:spAutoFit/>
          </a:bodyPr>
          <a:lstStyle/>
          <a:p>
            <a:pPr algn="ctr">
              <a:defRPr sz="900" b="0">
                <a:solidFill>
                  <a:srgbClr val="2E7D32"/>
                </a:solidFill>
                <a:latin typeface="Calibri"/>
              </a:defRPr>
            </a:pPr>
            <a:r>
              <a:t>✅</a:t>
            </a:r>
          </a:p>
        </p:txBody>
      </p:sp>
      <p:sp>
        <p:nvSpPr>
          <p:cNvPr id="162" name="Rectangle 161"/>
          <p:cNvSpPr/>
          <p:nvPr/>
        </p:nvSpPr>
        <p:spPr>
          <a:xfrm>
            <a:off x="4389120" y="4754880"/>
            <a:ext cx="1371600" cy="30175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3" name="TextBox 162"/>
          <p:cNvSpPr txBox="1"/>
          <p:nvPr/>
        </p:nvSpPr>
        <p:spPr>
          <a:xfrm>
            <a:off x="4434840" y="4773168"/>
            <a:ext cx="1280160" cy="265176"/>
          </a:xfrm>
          <a:prstGeom prst="rect">
            <a:avLst/>
          </a:prstGeom>
          <a:noFill/>
        </p:spPr>
        <p:txBody>
          <a:bodyPr wrap="square">
            <a:spAutoFit/>
          </a:bodyPr>
          <a:lstStyle/>
          <a:p>
            <a:pPr algn="ctr">
              <a:defRPr sz="900" b="0">
                <a:solidFill>
                  <a:srgbClr val="E53E3E"/>
                </a:solidFill>
                <a:latin typeface="Calibri"/>
              </a:defRPr>
            </a:pPr>
            <a:r>
              <a:t>❌</a:t>
            </a:r>
          </a:p>
        </p:txBody>
      </p:sp>
      <p:sp>
        <p:nvSpPr>
          <p:cNvPr id="164" name="Rectangle 163"/>
          <p:cNvSpPr/>
          <p:nvPr/>
        </p:nvSpPr>
        <p:spPr>
          <a:xfrm>
            <a:off x="5760720" y="4754880"/>
            <a:ext cx="1371600" cy="30175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5" name="TextBox 164"/>
          <p:cNvSpPr txBox="1"/>
          <p:nvPr/>
        </p:nvSpPr>
        <p:spPr>
          <a:xfrm>
            <a:off x="5806440" y="4773168"/>
            <a:ext cx="1280160" cy="265176"/>
          </a:xfrm>
          <a:prstGeom prst="rect">
            <a:avLst/>
          </a:prstGeom>
          <a:noFill/>
        </p:spPr>
        <p:txBody>
          <a:bodyPr wrap="square">
            <a:spAutoFit/>
          </a:bodyPr>
          <a:lstStyle/>
          <a:p>
            <a:pPr algn="ctr">
              <a:defRPr sz="900" b="0">
                <a:solidFill>
                  <a:srgbClr val="E53E3E"/>
                </a:solidFill>
                <a:latin typeface="Calibri"/>
              </a:defRPr>
            </a:pPr>
            <a:r>
              <a:t>❌</a:t>
            </a:r>
          </a:p>
        </p:txBody>
      </p:sp>
      <p:sp>
        <p:nvSpPr>
          <p:cNvPr id="166" name="Rectangle 165"/>
          <p:cNvSpPr/>
          <p:nvPr/>
        </p:nvSpPr>
        <p:spPr>
          <a:xfrm>
            <a:off x="7132320" y="4754880"/>
            <a:ext cx="1371600" cy="30175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7" name="TextBox 166"/>
          <p:cNvSpPr txBox="1"/>
          <p:nvPr/>
        </p:nvSpPr>
        <p:spPr>
          <a:xfrm>
            <a:off x="7178040" y="4773168"/>
            <a:ext cx="1280160" cy="265176"/>
          </a:xfrm>
          <a:prstGeom prst="rect">
            <a:avLst/>
          </a:prstGeom>
          <a:noFill/>
        </p:spPr>
        <p:txBody>
          <a:bodyPr wrap="square">
            <a:spAutoFit/>
          </a:bodyPr>
          <a:lstStyle/>
          <a:p>
            <a:pPr algn="ctr">
              <a:defRPr sz="900" b="0">
                <a:solidFill>
                  <a:srgbClr val="E53E3E"/>
                </a:solidFill>
                <a:latin typeface="Calibri"/>
              </a:defRPr>
            </a:pPr>
            <a:r>
              <a:t>❌</a:t>
            </a:r>
          </a:p>
        </p:txBody>
      </p:sp>
      <p:sp>
        <p:nvSpPr>
          <p:cNvPr id="168" name="Rectangle 167"/>
          <p:cNvSpPr/>
          <p:nvPr/>
        </p:nvSpPr>
        <p:spPr>
          <a:xfrm>
            <a:off x="8503920" y="4754880"/>
            <a:ext cx="1188720" cy="30175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9" name="TextBox 168"/>
          <p:cNvSpPr txBox="1"/>
          <p:nvPr/>
        </p:nvSpPr>
        <p:spPr>
          <a:xfrm>
            <a:off x="8549640" y="4773168"/>
            <a:ext cx="1097280" cy="265176"/>
          </a:xfrm>
          <a:prstGeom prst="rect">
            <a:avLst/>
          </a:prstGeom>
          <a:noFill/>
        </p:spPr>
        <p:txBody>
          <a:bodyPr wrap="square">
            <a:spAutoFit/>
          </a:bodyPr>
          <a:lstStyle/>
          <a:p>
            <a:pPr algn="ctr">
              <a:defRPr sz="900" b="0">
                <a:solidFill>
                  <a:srgbClr val="E53E3E"/>
                </a:solidFill>
                <a:latin typeface="Calibri"/>
              </a:defRPr>
            </a:pPr>
            <a:r>
              <a:t>❌</a:t>
            </a:r>
          </a:p>
        </p:txBody>
      </p:sp>
      <p:sp>
        <p:nvSpPr>
          <p:cNvPr id="170" name="Rectangle 169"/>
          <p:cNvSpPr/>
          <p:nvPr/>
        </p:nvSpPr>
        <p:spPr>
          <a:xfrm>
            <a:off x="9692640" y="4754880"/>
            <a:ext cx="1645920" cy="30175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1" name="TextBox 170"/>
          <p:cNvSpPr txBox="1"/>
          <p:nvPr/>
        </p:nvSpPr>
        <p:spPr>
          <a:xfrm>
            <a:off x="9738360" y="4773168"/>
            <a:ext cx="1554480" cy="265176"/>
          </a:xfrm>
          <a:prstGeom prst="rect">
            <a:avLst/>
          </a:prstGeom>
          <a:noFill/>
        </p:spPr>
        <p:txBody>
          <a:bodyPr wrap="square">
            <a:spAutoFit/>
          </a:bodyPr>
          <a:lstStyle/>
          <a:p>
            <a:pPr algn="ctr">
              <a:defRPr sz="900" b="0">
                <a:solidFill>
                  <a:srgbClr val="E53E3E"/>
                </a:solidFill>
                <a:latin typeface="Calibri"/>
              </a:defRPr>
            </a:pPr>
            <a:r>
              <a:t>❌</a:t>
            </a:r>
          </a:p>
        </p:txBody>
      </p:sp>
      <p:sp>
        <p:nvSpPr>
          <p:cNvPr id="172" name="Rectangle 171"/>
          <p:cNvSpPr/>
          <p:nvPr/>
        </p:nvSpPr>
        <p:spPr>
          <a:xfrm>
            <a:off x="457200" y="5056632"/>
            <a:ext cx="2286000" cy="301752"/>
          </a:xfrm>
          <a:prstGeom prst="rect">
            <a:avLst/>
          </a:prstGeom>
          <a:solidFill>
            <a:srgbClr val="F5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3" name="TextBox 172"/>
          <p:cNvSpPr txBox="1"/>
          <p:nvPr/>
        </p:nvSpPr>
        <p:spPr>
          <a:xfrm>
            <a:off x="502920" y="5074920"/>
            <a:ext cx="2194560" cy="265176"/>
          </a:xfrm>
          <a:prstGeom prst="rect">
            <a:avLst/>
          </a:prstGeom>
          <a:noFill/>
        </p:spPr>
        <p:txBody>
          <a:bodyPr wrap="square">
            <a:spAutoFit/>
          </a:bodyPr>
          <a:lstStyle/>
          <a:p>
            <a:pPr algn="l">
              <a:defRPr sz="900" b="0">
                <a:solidFill>
                  <a:srgbClr val="333333"/>
                </a:solidFill>
                <a:latin typeface="Calibri"/>
              </a:defRPr>
            </a:pPr>
            <a:r>
              <a:t>Investor Pipeline</a:t>
            </a:r>
          </a:p>
        </p:txBody>
      </p:sp>
      <p:sp>
        <p:nvSpPr>
          <p:cNvPr id="174" name="Rectangle 173"/>
          <p:cNvSpPr/>
          <p:nvPr/>
        </p:nvSpPr>
        <p:spPr>
          <a:xfrm>
            <a:off x="2743200" y="5056632"/>
            <a:ext cx="1645920" cy="301752"/>
          </a:xfrm>
          <a:prstGeom prst="rect">
            <a:avLst/>
          </a:prstGeom>
          <a:solidFill>
            <a:srgbClr val="F5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5" name="TextBox 174"/>
          <p:cNvSpPr txBox="1"/>
          <p:nvPr/>
        </p:nvSpPr>
        <p:spPr>
          <a:xfrm>
            <a:off x="2788920" y="5074920"/>
            <a:ext cx="1554480" cy="265176"/>
          </a:xfrm>
          <a:prstGeom prst="rect">
            <a:avLst/>
          </a:prstGeom>
          <a:noFill/>
        </p:spPr>
        <p:txBody>
          <a:bodyPr wrap="square">
            <a:spAutoFit/>
          </a:bodyPr>
          <a:lstStyle/>
          <a:p>
            <a:pPr algn="ctr">
              <a:defRPr sz="900" b="0">
                <a:solidFill>
                  <a:srgbClr val="2E7D32"/>
                </a:solidFill>
                <a:latin typeface="Calibri"/>
              </a:defRPr>
            </a:pPr>
            <a:r>
              <a:t>✅</a:t>
            </a:r>
          </a:p>
        </p:txBody>
      </p:sp>
      <p:sp>
        <p:nvSpPr>
          <p:cNvPr id="176" name="Rectangle 175"/>
          <p:cNvSpPr/>
          <p:nvPr/>
        </p:nvSpPr>
        <p:spPr>
          <a:xfrm>
            <a:off x="4389120" y="5056632"/>
            <a:ext cx="1371600" cy="301752"/>
          </a:xfrm>
          <a:prstGeom prst="rect">
            <a:avLst/>
          </a:prstGeom>
          <a:solidFill>
            <a:srgbClr val="F5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7" name="TextBox 176"/>
          <p:cNvSpPr txBox="1"/>
          <p:nvPr/>
        </p:nvSpPr>
        <p:spPr>
          <a:xfrm>
            <a:off x="4434840" y="5074920"/>
            <a:ext cx="1280160" cy="265176"/>
          </a:xfrm>
          <a:prstGeom prst="rect">
            <a:avLst/>
          </a:prstGeom>
          <a:noFill/>
        </p:spPr>
        <p:txBody>
          <a:bodyPr wrap="square">
            <a:spAutoFit/>
          </a:bodyPr>
          <a:lstStyle/>
          <a:p>
            <a:pPr algn="ctr">
              <a:defRPr sz="900" b="0">
                <a:solidFill>
                  <a:srgbClr val="E53E3E"/>
                </a:solidFill>
                <a:latin typeface="Calibri"/>
              </a:defRPr>
            </a:pPr>
            <a:r>
              <a:t>❌</a:t>
            </a:r>
          </a:p>
        </p:txBody>
      </p:sp>
      <p:sp>
        <p:nvSpPr>
          <p:cNvPr id="178" name="Rectangle 177"/>
          <p:cNvSpPr/>
          <p:nvPr/>
        </p:nvSpPr>
        <p:spPr>
          <a:xfrm>
            <a:off x="5760720" y="5056632"/>
            <a:ext cx="1371600" cy="301752"/>
          </a:xfrm>
          <a:prstGeom prst="rect">
            <a:avLst/>
          </a:prstGeom>
          <a:solidFill>
            <a:srgbClr val="F5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9" name="TextBox 178"/>
          <p:cNvSpPr txBox="1"/>
          <p:nvPr/>
        </p:nvSpPr>
        <p:spPr>
          <a:xfrm>
            <a:off x="5806440" y="5074920"/>
            <a:ext cx="1280160" cy="265176"/>
          </a:xfrm>
          <a:prstGeom prst="rect">
            <a:avLst/>
          </a:prstGeom>
          <a:noFill/>
        </p:spPr>
        <p:txBody>
          <a:bodyPr wrap="square">
            <a:spAutoFit/>
          </a:bodyPr>
          <a:lstStyle/>
          <a:p>
            <a:pPr algn="ctr">
              <a:defRPr sz="900" b="0">
                <a:solidFill>
                  <a:srgbClr val="E53E3E"/>
                </a:solidFill>
                <a:latin typeface="Calibri"/>
              </a:defRPr>
            </a:pPr>
            <a:r>
              <a:t>❌</a:t>
            </a:r>
          </a:p>
        </p:txBody>
      </p:sp>
      <p:sp>
        <p:nvSpPr>
          <p:cNvPr id="180" name="Rectangle 179"/>
          <p:cNvSpPr/>
          <p:nvPr/>
        </p:nvSpPr>
        <p:spPr>
          <a:xfrm>
            <a:off x="7132320" y="5056632"/>
            <a:ext cx="1371600" cy="301752"/>
          </a:xfrm>
          <a:prstGeom prst="rect">
            <a:avLst/>
          </a:prstGeom>
          <a:solidFill>
            <a:srgbClr val="F5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1" name="TextBox 180"/>
          <p:cNvSpPr txBox="1"/>
          <p:nvPr/>
        </p:nvSpPr>
        <p:spPr>
          <a:xfrm>
            <a:off x="7178040" y="5074920"/>
            <a:ext cx="1280160" cy="265176"/>
          </a:xfrm>
          <a:prstGeom prst="rect">
            <a:avLst/>
          </a:prstGeom>
          <a:noFill/>
        </p:spPr>
        <p:txBody>
          <a:bodyPr wrap="square">
            <a:spAutoFit/>
          </a:bodyPr>
          <a:lstStyle/>
          <a:p>
            <a:pPr algn="ctr">
              <a:defRPr sz="900" b="0">
                <a:solidFill>
                  <a:srgbClr val="E53E3E"/>
                </a:solidFill>
                <a:latin typeface="Calibri"/>
              </a:defRPr>
            </a:pPr>
            <a:r>
              <a:t>❌</a:t>
            </a:r>
          </a:p>
        </p:txBody>
      </p:sp>
      <p:sp>
        <p:nvSpPr>
          <p:cNvPr id="182" name="Rectangle 181"/>
          <p:cNvSpPr/>
          <p:nvPr/>
        </p:nvSpPr>
        <p:spPr>
          <a:xfrm>
            <a:off x="8503920" y="5056632"/>
            <a:ext cx="1188720" cy="301752"/>
          </a:xfrm>
          <a:prstGeom prst="rect">
            <a:avLst/>
          </a:prstGeom>
          <a:solidFill>
            <a:srgbClr val="F5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3" name="TextBox 182"/>
          <p:cNvSpPr txBox="1"/>
          <p:nvPr/>
        </p:nvSpPr>
        <p:spPr>
          <a:xfrm>
            <a:off x="8549640" y="5074920"/>
            <a:ext cx="1097280" cy="265176"/>
          </a:xfrm>
          <a:prstGeom prst="rect">
            <a:avLst/>
          </a:prstGeom>
          <a:noFill/>
        </p:spPr>
        <p:txBody>
          <a:bodyPr wrap="square">
            <a:spAutoFit/>
          </a:bodyPr>
          <a:lstStyle/>
          <a:p>
            <a:pPr algn="ctr">
              <a:defRPr sz="900" b="0">
                <a:solidFill>
                  <a:srgbClr val="E53E3E"/>
                </a:solidFill>
                <a:latin typeface="Calibri"/>
              </a:defRPr>
            </a:pPr>
            <a:r>
              <a:t>❌</a:t>
            </a:r>
          </a:p>
        </p:txBody>
      </p:sp>
      <p:sp>
        <p:nvSpPr>
          <p:cNvPr id="184" name="Rectangle 183"/>
          <p:cNvSpPr/>
          <p:nvPr/>
        </p:nvSpPr>
        <p:spPr>
          <a:xfrm>
            <a:off x="9692640" y="5056632"/>
            <a:ext cx="1645920" cy="301752"/>
          </a:xfrm>
          <a:prstGeom prst="rect">
            <a:avLst/>
          </a:prstGeom>
          <a:solidFill>
            <a:srgbClr val="F5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5" name="TextBox 184"/>
          <p:cNvSpPr txBox="1"/>
          <p:nvPr/>
        </p:nvSpPr>
        <p:spPr>
          <a:xfrm>
            <a:off x="9738360" y="5074920"/>
            <a:ext cx="1554480" cy="265176"/>
          </a:xfrm>
          <a:prstGeom prst="rect">
            <a:avLst/>
          </a:prstGeom>
          <a:noFill/>
        </p:spPr>
        <p:txBody>
          <a:bodyPr wrap="square">
            <a:spAutoFit/>
          </a:bodyPr>
          <a:lstStyle/>
          <a:p>
            <a:pPr algn="ctr">
              <a:defRPr sz="900" b="0">
                <a:solidFill>
                  <a:srgbClr val="E53E3E"/>
                </a:solidFill>
                <a:latin typeface="Calibri"/>
              </a:defRPr>
            </a:pPr>
            <a:r>
              <a:t>❌</a:t>
            </a:r>
          </a:p>
        </p:txBody>
      </p:sp>
      <p:sp>
        <p:nvSpPr>
          <p:cNvPr id="186" name="Rectangle 185"/>
          <p:cNvSpPr/>
          <p:nvPr/>
        </p:nvSpPr>
        <p:spPr>
          <a:xfrm>
            <a:off x="457200" y="5358384"/>
            <a:ext cx="2286000" cy="30175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7" name="TextBox 186"/>
          <p:cNvSpPr txBox="1"/>
          <p:nvPr/>
        </p:nvSpPr>
        <p:spPr>
          <a:xfrm>
            <a:off x="502920" y="5376672"/>
            <a:ext cx="2194560" cy="265176"/>
          </a:xfrm>
          <a:prstGeom prst="rect">
            <a:avLst/>
          </a:prstGeom>
          <a:noFill/>
        </p:spPr>
        <p:txBody>
          <a:bodyPr wrap="square">
            <a:spAutoFit/>
          </a:bodyPr>
          <a:lstStyle/>
          <a:p>
            <a:pPr algn="l">
              <a:defRPr sz="900" b="0">
                <a:solidFill>
                  <a:srgbClr val="333333"/>
                </a:solidFill>
                <a:latin typeface="Calibri"/>
              </a:defRPr>
            </a:pPr>
            <a:r>
              <a:t>QMS-Lite (9 requirements)</a:t>
            </a:r>
          </a:p>
        </p:txBody>
      </p:sp>
      <p:sp>
        <p:nvSpPr>
          <p:cNvPr id="188" name="Rectangle 187"/>
          <p:cNvSpPr/>
          <p:nvPr/>
        </p:nvSpPr>
        <p:spPr>
          <a:xfrm>
            <a:off x="2743200" y="5358384"/>
            <a:ext cx="1645920" cy="30175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9" name="TextBox 188"/>
          <p:cNvSpPr txBox="1"/>
          <p:nvPr/>
        </p:nvSpPr>
        <p:spPr>
          <a:xfrm>
            <a:off x="2788920" y="5376672"/>
            <a:ext cx="1554480" cy="265176"/>
          </a:xfrm>
          <a:prstGeom prst="rect">
            <a:avLst/>
          </a:prstGeom>
          <a:noFill/>
        </p:spPr>
        <p:txBody>
          <a:bodyPr wrap="square">
            <a:spAutoFit/>
          </a:bodyPr>
          <a:lstStyle/>
          <a:p>
            <a:pPr algn="ctr">
              <a:defRPr sz="900" b="0">
                <a:solidFill>
                  <a:srgbClr val="2E7D32"/>
                </a:solidFill>
                <a:latin typeface="Calibri"/>
              </a:defRPr>
            </a:pPr>
            <a:r>
              <a:t>✅</a:t>
            </a:r>
          </a:p>
        </p:txBody>
      </p:sp>
      <p:sp>
        <p:nvSpPr>
          <p:cNvPr id="190" name="Rectangle 189"/>
          <p:cNvSpPr/>
          <p:nvPr/>
        </p:nvSpPr>
        <p:spPr>
          <a:xfrm>
            <a:off x="4389120" y="5358384"/>
            <a:ext cx="1371600" cy="30175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1" name="TextBox 190"/>
          <p:cNvSpPr txBox="1"/>
          <p:nvPr/>
        </p:nvSpPr>
        <p:spPr>
          <a:xfrm>
            <a:off x="4434840" y="5376672"/>
            <a:ext cx="1280160" cy="265176"/>
          </a:xfrm>
          <a:prstGeom prst="rect">
            <a:avLst/>
          </a:prstGeom>
          <a:noFill/>
        </p:spPr>
        <p:txBody>
          <a:bodyPr wrap="square">
            <a:spAutoFit/>
          </a:bodyPr>
          <a:lstStyle/>
          <a:p>
            <a:pPr algn="ctr">
              <a:defRPr sz="900" b="0">
                <a:solidFill>
                  <a:srgbClr val="2E7D32"/>
                </a:solidFill>
                <a:latin typeface="Calibri"/>
              </a:defRPr>
            </a:pPr>
            <a:r>
              <a:t>✅</a:t>
            </a:r>
          </a:p>
        </p:txBody>
      </p:sp>
      <p:sp>
        <p:nvSpPr>
          <p:cNvPr id="192" name="Rectangle 191"/>
          <p:cNvSpPr/>
          <p:nvPr/>
        </p:nvSpPr>
        <p:spPr>
          <a:xfrm>
            <a:off x="5760720" y="5358384"/>
            <a:ext cx="1371600" cy="30175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3" name="TextBox 192"/>
          <p:cNvSpPr txBox="1"/>
          <p:nvPr/>
        </p:nvSpPr>
        <p:spPr>
          <a:xfrm>
            <a:off x="5806440" y="5376672"/>
            <a:ext cx="1280160" cy="265176"/>
          </a:xfrm>
          <a:prstGeom prst="rect">
            <a:avLst/>
          </a:prstGeom>
          <a:noFill/>
        </p:spPr>
        <p:txBody>
          <a:bodyPr wrap="square">
            <a:spAutoFit/>
          </a:bodyPr>
          <a:lstStyle/>
          <a:p>
            <a:pPr algn="ctr">
              <a:defRPr sz="900" b="0">
                <a:solidFill>
                  <a:srgbClr val="2E7D32"/>
                </a:solidFill>
                <a:latin typeface="Calibri"/>
              </a:defRPr>
            </a:pPr>
            <a:r>
              <a:t>✅</a:t>
            </a:r>
          </a:p>
        </p:txBody>
      </p:sp>
      <p:sp>
        <p:nvSpPr>
          <p:cNvPr id="194" name="Rectangle 193"/>
          <p:cNvSpPr/>
          <p:nvPr/>
        </p:nvSpPr>
        <p:spPr>
          <a:xfrm>
            <a:off x="7132320" y="5358384"/>
            <a:ext cx="1371600" cy="30175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5" name="TextBox 194"/>
          <p:cNvSpPr txBox="1"/>
          <p:nvPr/>
        </p:nvSpPr>
        <p:spPr>
          <a:xfrm>
            <a:off x="7178040" y="5376672"/>
            <a:ext cx="1280160" cy="265176"/>
          </a:xfrm>
          <a:prstGeom prst="rect">
            <a:avLst/>
          </a:prstGeom>
          <a:noFill/>
        </p:spPr>
        <p:txBody>
          <a:bodyPr wrap="square">
            <a:spAutoFit/>
          </a:bodyPr>
          <a:lstStyle/>
          <a:p>
            <a:pPr algn="ctr">
              <a:defRPr sz="900" b="0">
                <a:solidFill>
                  <a:srgbClr val="E53E3E"/>
                </a:solidFill>
                <a:latin typeface="Calibri"/>
              </a:defRPr>
            </a:pPr>
            <a:r>
              <a:t>❌</a:t>
            </a:r>
          </a:p>
        </p:txBody>
      </p:sp>
      <p:sp>
        <p:nvSpPr>
          <p:cNvPr id="196" name="Rectangle 195"/>
          <p:cNvSpPr/>
          <p:nvPr/>
        </p:nvSpPr>
        <p:spPr>
          <a:xfrm>
            <a:off x="8503920" y="5358384"/>
            <a:ext cx="1188720" cy="30175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7" name="TextBox 196"/>
          <p:cNvSpPr txBox="1"/>
          <p:nvPr/>
        </p:nvSpPr>
        <p:spPr>
          <a:xfrm>
            <a:off x="8549640" y="5376672"/>
            <a:ext cx="1097280" cy="265176"/>
          </a:xfrm>
          <a:prstGeom prst="rect">
            <a:avLst/>
          </a:prstGeom>
          <a:noFill/>
        </p:spPr>
        <p:txBody>
          <a:bodyPr wrap="square">
            <a:spAutoFit/>
          </a:bodyPr>
          <a:lstStyle/>
          <a:p>
            <a:pPr algn="ctr">
              <a:defRPr sz="900" b="0">
                <a:solidFill>
                  <a:srgbClr val="2E7D32"/>
                </a:solidFill>
                <a:latin typeface="Calibri"/>
              </a:defRPr>
            </a:pPr>
            <a:r>
              <a:t>✅</a:t>
            </a:r>
          </a:p>
        </p:txBody>
      </p:sp>
      <p:sp>
        <p:nvSpPr>
          <p:cNvPr id="198" name="Rectangle 197"/>
          <p:cNvSpPr/>
          <p:nvPr/>
        </p:nvSpPr>
        <p:spPr>
          <a:xfrm>
            <a:off x="9692640" y="5358384"/>
            <a:ext cx="1645920" cy="30175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9" name="TextBox 198"/>
          <p:cNvSpPr txBox="1"/>
          <p:nvPr/>
        </p:nvSpPr>
        <p:spPr>
          <a:xfrm>
            <a:off x="9738360" y="5376672"/>
            <a:ext cx="1554480" cy="265176"/>
          </a:xfrm>
          <a:prstGeom prst="rect">
            <a:avLst/>
          </a:prstGeom>
          <a:noFill/>
        </p:spPr>
        <p:txBody>
          <a:bodyPr wrap="square">
            <a:spAutoFit/>
          </a:bodyPr>
          <a:lstStyle/>
          <a:p>
            <a:pPr algn="ctr">
              <a:defRPr sz="900" b="0">
                <a:solidFill>
                  <a:srgbClr val="E53E3E"/>
                </a:solidFill>
                <a:latin typeface="Calibri"/>
              </a:defRPr>
            </a:pPr>
            <a:r>
              <a:t>❌</a:t>
            </a:r>
          </a:p>
        </p:txBody>
      </p:sp>
      <p:sp>
        <p:nvSpPr>
          <p:cNvPr id="200" name="Rectangle 199"/>
          <p:cNvSpPr/>
          <p:nvPr/>
        </p:nvSpPr>
        <p:spPr>
          <a:xfrm>
            <a:off x="457200" y="5660136"/>
            <a:ext cx="2286000" cy="301752"/>
          </a:xfrm>
          <a:prstGeom prst="rect">
            <a:avLst/>
          </a:prstGeom>
          <a:solidFill>
            <a:srgbClr val="F5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1" name="TextBox 200"/>
          <p:cNvSpPr txBox="1"/>
          <p:nvPr/>
        </p:nvSpPr>
        <p:spPr>
          <a:xfrm>
            <a:off x="502920" y="5678424"/>
            <a:ext cx="2194560" cy="265176"/>
          </a:xfrm>
          <a:prstGeom prst="rect">
            <a:avLst/>
          </a:prstGeom>
          <a:noFill/>
        </p:spPr>
        <p:txBody>
          <a:bodyPr wrap="square">
            <a:spAutoFit/>
          </a:bodyPr>
          <a:lstStyle/>
          <a:p>
            <a:pPr algn="l">
              <a:defRPr sz="900" b="0">
                <a:solidFill>
                  <a:srgbClr val="333333"/>
                </a:solidFill>
                <a:latin typeface="Calibri"/>
              </a:defRPr>
            </a:pPr>
            <a:r>
              <a:t>Trilingual (EN/CN/KO)</a:t>
            </a:r>
          </a:p>
        </p:txBody>
      </p:sp>
      <p:sp>
        <p:nvSpPr>
          <p:cNvPr id="202" name="Rectangle 201"/>
          <p:cNvSpPr/>
          <p:nvPr/>
        </p:nvSpPr>
        <p:spPr>
          <a:xfrm>
            <a:off x="2743200" y="5660136"/>
            <a:ext cx="1645920" cy="301752"/>
          </a:xfrm>
          <a:prstGeom prst="rect">
            <a:avLst/>
          </a:prstGeom>
          <a:solidFill>
            <a:srgbClr val="F5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3" name="TextBox 202"/>
          <p:cNvSpPr txBox="1"/>
          <p:nvPr/>
        </p:nvSpPr>
        <p:spPr>
          <a:xfrm>
            <a:off x="2788920" y="5678424"/>
            <a:ext cx="1554480" cy="265176"/>
          </a:xfrm>
          <a:prstGeom prst="rect">
            <a:avLst/>
          </a:prstGeom>
          <a:noFill/>
        </p:spPr>
        <p:txBody>
          <a:bodyPr wrap="square">
            <a:spAutoFit/>
          </a:bodyPr>
          <a:lstStyle/>
          <a:p>
            <a:pPr algn="ctr">
              <a:defRPr sz="900" b="0">
                <a:solidFill>
                  <a:srgbClr val="2E7D32"/>
                </a:solidFill>
                <a:latin typeface="Calibri"/>
              </a:defRPr>
            </a:pPr>
            <a:r>
              <a:t>✅</a:t>
            </a:r>
          </a:p>
        </p:txBody>
      </p:sp>
      <p:sp>
        <p:nvSpPr>
          <p:cNvPr id="204" name="Rectangle 203"/>
          <p:cNvSpPr/>
          <p:nvPr/>
        </p:nvSpPr>
        <p:spPr>
          <a:xfrm>
            <a:off x="4389120" y="5660136"/>
            <a:ext cx="1371600" cy="301752"/>
          </a:xfrm>
          <a:prstGeom prst="rect">
            <a:avLst/>
          </a:prstGeom>
          <a:solidFill>
            <a:srgbClr val="F5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5" name="TextBox 204"/>
          <p:cNvSpPr txBox="1"/>
          <p:nvPr/>
        </p:nvSpPr>
        <p:spPr>
          <a:xfrm>
            <a:off x="4434840" y="5678424"/>
            <a:ext cx="1280160" cy="265176"/>
          </a:xfrm>
          <a:prstGeom prst="rect">
            <a:avLst/>
          </a:prstGeom>
          <a:noFill/>
        </p:spPr>
        <p:txBody>
          <a:bodyPr wrap="square">
            <a:spAutoFit/>
          </a:bodyPr>
          <a:lstStyle/>
          <a:p>
            <a:pPr algn="ctr">
              <a:defRPr sz="900" b="0">
                <a:solidFill>
                  <a:srgbClr val="E53E3E"/>
                </a:solidFill>
                <a:latin typeface="Calibri"/>
              </a:defRPr>
            </a:pPr>
            <a:r>
              <a:t>❌</a:t>
            </a:r>
          </a:p>
        </p:txBody>
      </p:sp>
      <p:sp>
        <p:nvSpPr>
          <p:cNvPr id="206" name="Rectangle 205"/>
          <p:cNvSpPr/>
          <p:nvPr/>
        </p:nvSpPr>
        <p:spPr>
          <a:xfrm>
            <a:off x="5760720" y="5660136"/>
            <a:ext cx="1371600" cy="301752"/>
          </a:xfrm>
          <a:prstGeom prst="rect">
            <a:avLst/>
          </a:prstGeom>
          <a:solidFill>
            <a:srgbClr val="F5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7" name="TextBox 206"/>
          <p:cNvSpPr txBox="1"/>
          <p:nvPr/>
        </p:nvSpPr>
        <p:spPr>
          <a:xfrm>
            <a:off x="5806440" y="5678424"/>
            <a:ext cx="1280160" cy="265176"/>
          </a:xfrm>
          <a:prstGeom prst="rect">
            <a:avLst/>
          </a:prstGeom>
          <a:noFill/>
        </p:spPr>
        <p:txBody>
          <a:bodyPr wrap="square">
            <a:spAutoFit/>
          </a:bodyPr>
          <a:lstStyle/>
          <a:p>
            <a:pPr algn="ctr">
              <a:defRPr sz="900" b="0">
                <a:solidFill>
                  <a:srgbClr val="E53E3E"/>
                </a:solidFill>
                <a:latin typeface="Calibri"/>
              </a:defRPr>
            </a:pPr>
            <a:r>
              <a:t>❌</a:t>
            </a:r>
          </a:p>
        </p:txBody>
      </p:sp>
      <p:sp>
        <p:nvSpPr>
          <p:cNvPr id="208" name="Rectangle 207"/>
          <p:cNvSpPr/>
          <p:nvPr/>
        </p:nvSpPr>
        <p:spPr>
          <a:xfrm>
            <a:off x="7132320" y="5660136"/>
            <a:ext cx="1371600" cy="301752"/>
          </a:xfrm>
          <a:prstGeom prst="rect">
            <a:avLst/>
          </a:prstGeom>
          <a:solidFill>
            <a:srgbClr val="F5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9" name="TextBox 208"/>
          <p:cNvSpPr txBox="1"/>
          <p:nvPr/>
        </p:nvSpPr>
        <p:spPr>
          <a:xfrm>
            <a:off x="7178040" y="5678424"/>
            <a:ext cx="1280160" cy="265176"/>
          </a:xfrm>
          <a:prstGeom prst="rect">
            <a:avLst/>
          </a:prstGeom>
          <a:noFill/>
        </p:spPr>
        <p:txBody>
          <a:bodyPr wrap="square">
            <a:spAutoFit/>
          </a:bodyPr>
          <a:lstStyle/>
          <a:p>
            <a:pPr algn="ctr">
              <a:defRPr sz="900" b="0">
                <a:solidFill>
                  <a:srgbClr val="E53E3E"/>
                </a:solidFill>
                <a:latin typeface="Calibri"/>
              </a:defRPr>
            </a:pPr>
            <a:r>
              <a:t>❌</a:t>
            </a:r>
          </a:p>
        </p:txBody>
      </p:sp>
      <p:sp>
        <p:nvSpPr>
          <p:cNvPr id="210" name="Rectangle 209"/>
          <p:cNvSpPr/>
          <p:nvPr/>
        </p:nvSpPr>
        <p:spPr>
          <a:xfrm>
            <a:off x="8503920" y="5660136"/>
            <a:ext cx="1188720" cy="301752"/>
          </a:xfrm>
          <a:prstGeom prst="rect">
            <a:avLst/>
          </a:prstGeom>
          <a:solidFill>
            <a:srgbClr val="F5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1" name="TextBox 210"/>
          <p:cNvSpPr txBox="1"/>
          <p:nvPr/>
        </p:nvSpPr>
        <p:spPr>
          <a:xfrm>
            <a:off x="8549640" y="5678424"/>
            <a:ext cx="1097280" cy="265176"/>
          </a:xfrm>
          <a:prstGeom prst="rect">
            <a:avLst/>
          </a:prstGeom>
          <a:noFill/>
        </p:spPr>
        <p:txBody>
          <a:bodyPr wrap="square">
            <a:spAutoFit/>
          </a:bodyPr>
          <a:lstStyle/>
          <a:p>
            <a:pPr algn="ctr">
              <a:defRPr sz="900" b="0">
                <a:solidFill>
                  <a:srgbClr val="E53E3E"/>
                </a:solidFill>
                <a:latin typeface="Calibri"/>
              </a:defRPr>
            </a:pPr>
            <a:r>
              <a:t>❌</a:t>
            </a:r>
          </a:p>
        </p:txBody>
      </p:sp>
      <p:sp>
        <p:nvSpPr>
          <p:cNvPr id="212" name="Rectangle 211"/>
          <p:cNvSpPr/>
          <p:nvPr/>
        </p:nvSpPr>
        <p:spPr>
          <a:xfrm>
            <a:off x="9692640" y="5660136"/>
            <a:ext cx="1645920" cy="301752"/>
          </a:xfrm>
          <a:prstGeom prst="rect">
            <a:avLst/>
          </a:prstGeom>
          <a:solidFill>
            <a:srgbClr val="F5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3" name="TextBox 212"/>
          <p:cNvSpPr txBox="1"/>
          <p:nvPr/>
        </p:nvSpPr>
        <p:spPr>
          <a:xfrm>
            <a:off x="9738360" y="5678424"/>
            <a:ext cx="1554480" cy="265176"/>
          </a:xfrm>
          <a:prstGeom prst="rect">
            <a:avLst/>
          </a:prstGeom>
          <a:noFill/>
        </p:spPr>
        <p:txBody>
          <a:bodyPr wrap="square">
            <a:spAutoFit/>
          </a:bodyPr>
          <a:lstStyle/>
          <a:p>
            <a:pPr algn="ctr">
              <a:defRPr sz="900" b="0">
                <a:solidFill>
                  <a:srgbClr val="E53E3E"/>
                </a:solidFill>
                <a:latin typeface="Calibri"/>
              </a:defRPr>
            </a:pPr>
            <a:r>
              <a:t>❌</a:t>
            </a:r>
          </a:p>
        </p:txBody>
      </p:sp>
      <p:sp>
        <p:nvSpPr>
          <p:cNvPr id="214" name="Rectangle 213"/>
          <p:cNvSpPr/>
          <p:nvPr/>
        </p:nvSpPr>
        <p:spPr>
          <a:xfrm>
            <a:off x="457200" y="5961888"/>
            <a:ext cx="2286000" cy="30175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5" name="TextBox 214"/>
          <p:cNvSpPr txBox="1"/>
          <p:nvPr/>
        </p:nvSpPr>
        <p:spPr>
          <a:xfrm>
            <a:off x="502920" y="5980176"/>
            <a:ext cx="2194560" cy="265176"/>
          </a:xfrm>
          <a:prstGeom prst="rect">
            <a:avLst/>
          </a:prstGeom>
          <a:noFill/>
        </p:spPr>
        <p:txBody>
          <a:bodyPr wrap="square">
            <a:spAutoFit/>
          </a:bodyPr>
          <a:lstStyle/>
          <a:p>
            <a:pPr algn="l">
              <a:defRPr sz="900" b="0">
                <a:solidFill>
                  <a:srgbClr val="333333"/>
                </a:solidFill>
                <a:latin typeface="Calibri"/>
              </a:defRPr>
            </a:pPr>
            <a:r>
              <a:t>21 CFR Part 11 Audit Trail</a:t>
            </a:r>
          </a:p>
        </p:txBody>
      </p:sp>
      <p:sp>
        <p:nvSpPr>
          <p:cNvPr id="216" name="Rectangle 215"/>
          <p:cNvSpPr/>
          <p:nvPr/>
        </p:nvSpPr>
        <p:spPr>
          <a:xfrm>
            <a:off x="2743200" y="5961888"/>
            <a:ext cx="1645920" cy="30175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7" name="TextBox 216"/>
          <p:cNvSpPr txBox="1"/>
          <p:nvPr/>
        </p:nvSpPr>
        <p:spPr>
          <a:xfrm>
            <a:off x="2788920" y="5980176"/>
            <a:ext cx="1554480" cy="265176"/>
          </a:xfrm>
          <a:prstGeom prst="rect">
            <a:avLst/>
          </a:prstGeom>
          <a:noFill/>
        </p:spPr>
        <p:txBody>
          <a:bodyPr wrap="square">
            <a:spAutoFit/>
          </a:bodyPr>
          <a:lstStyle/>
          <a:p>
            <a:pPr algn="ctr">
              <a:defRPr sz="900" b="0">
                <a:solidFill>
                  <a:srgbClr val="2E7D32"/>
                </a:solidFill>
                <a:latin typeface="Calibri"/>
              </a:defRPr>
            </a:pPr>
            <a:r>
              <a:t>✅</a:t>
            </a:r>
          </a:p>
        </p:txBody>
      </p:sp>
      <p:sp>
        <p:nvSpPr>
          <p:cNvPr id="218" name="Rectangle 217"/>
          <p:cNvSpPr/>
          <p:nvPr/>
        </p:nvSpPr>
        <p:spPr>
          <a:xfrm>
            <a:off x="4389120" y="5961888"/>
            <a:ext cx="1371600" cy="30175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9" name="TextBox 218"/>
          <p:cNvSpPr txBox="1"/>
          <p:nvPr/>
        </p:nvSpPr>
        <p:spPr>
          <a:xfrm>
            <a:off x="4434840" y="5980176"/>
            <a:ext cx="1280160" cy="265176"/>
          </a:xfrm>
          <a:prstGeom prst="rect">
            <a:avLst/>
          </a:prstGeom>
          <a:noFill/>
        </p:spPr>
        <p:txBody>
          <a:bodyPr wrap="square">
            <a:spAutoFit/>
          </a:bodyPr>
          <a:lstStyle/>
          <a:p>
            <a:pPr algn="ctr">
              <a:defRPr sz="900" b="0">
                <a:solidFill>
                  <a:srgbClr val="2E7D32"/>
                </a:solidFill>
                <a:latin typeface="Calibri"/>
              </a:defRPr>
            </a:pPr>
            <a:r>
              <a:t>✅</a:t>
            </a:r>
          </a:p>
        </p:txBody>
      </p:sp>
      <p:sp>
        <p:nvSpPr>
          <p:cNvPr id="220" name="Rectangle 219"/>
          <p:cNvSpPr/>
          <p:nvPr/>
        </p:nvSpPr>
        <p:spPr>
          <a:xfrm>
            <a:off x="5760720" y="5961888"/>
            <a:ext cx="1371600" cy="30175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1" name="TextBox 220"/>
          <p:cNvSpPr txBox="1"/>
          <p:nvPr/>
        </p:nvSpPr>
        <p:spPr>
          <a:xfrm>
            <a:off x="5806440" y="5980176"/>
            <a:ext cx="1280160" cy="265176"/>
          </a:xfrm>
          <a:prstGeom prst="rect">
            <a:avLst/>
          </a:prstGeom>
          <a:noFill/>
        </p:spPr>
        <p:txBody>
          <a:bodyPr wrap="square">
            <a:spAutoFit/>
          </a:bodyPr>
          <a:lstStyle/>
          <a:p>
            <a:pPr algn="ctr">
              <a:defRPr sz="900" b="0">
                <a:solidFill>
                  <a:srgbClr val="2E7D32"/>
                </a:solidFill>
                <a:latin typeface="Calibri"/>
              </a:defRPr>
            </a:pPr>
            <a:r>
              <a:t>✅</a:t>
            </a:r>
          </a:p>
        </p:txBody>
      </p:sp>
      <p:sp>
        <p:nvSpPr>
          <p:cNvPr id="222" name="Rectangle 221"/>
          <p:cNvSpPr/>
          <p:nvPr/>
        </p:nvSpPr>
        <p:spPr>
          <a:xfrm>
            <a:off x="7132320" y="5961888"/>
            <a:ext cx="1371600" cy="30175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3" name="TextBox 222"/>
          <p:cNvSpPr txBox="1"/>
          <p:nvPr/>
        </p:nvSpPr>
        <p:spPr>
          <a:xfrm>
            <a:off x="7178040" y="5980176"/>
            <a:ext cx="1280160" cy="265176"/>
          </a:xfrm>
          <a:prstGeom prst="rect">
            <a:avLst/>
          </a:prstGeom>
          <a:noFill/>
        </p:spPr>
        <p:txBody>
          <a:bodyPr wrap="square">
            <a:spAutoFit/>
          </a:bodyPr>
          <a:lstStyle/>
          <a:p>
            <a:pPr algn="ctr">
              <a:defRPr sz="900" b="0">
                <a:solidFill>
                  <a:srgbClr val="333333"/>
                </a:solidFill>
                <a:latin typeface="Calibri"/>
              </a:defRPr>
            </a:pPr>
            <a:r>
              <a:t>⚠️</a:t>
            </a:r>
          </a:p>
        </p:txBody>
      </p:sp>
      <p:sp>
        <p:nvSpPr>
          <p:cNvPr id="224" name="Rectangle 223"/>
          <p:cNvSpPr/>
          <p:nvPr/>
        </p:nvSpPr>
        <p:spPr>
          <a:xfrm>
            <a:off x="8503920" y="5961888"/>
            <a:ext cx="1188720" cy="30175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5" name="TextBox 224"/>
          <p:cNvSpPr txBox="1"/>
          <p:nvPr/>
        </p:nvSpPr>
        <p:spPr>
          <a:xfrm>
            <a:off x="8549640" y="5980176"/>
            <a:ext cx="1097280" cy="265176"/>
          </a:xfrm>
          <a:prstGeom prst="rect">
            <a:avLst/>
          </a:prstGeom>
          <a:noFill/>
        </p:spPr>
        <p:txBody>
          <a:bodyPr wrap="square">
            <a:spAutoFit/>
          </a:bodyPr>
          <a:lstStyle/>
          <a:p>
            <a:pPr algn="ctr">
              <a:defRPr sz="900" b="0">
                <a:solidFill>
                  <a:srgbClr val="2E7D32"/>
                </a:solidFill>
                <a:latin typeface="Calibri"/>
              </a:defRPr>
            </a:pPr>
            <a:r>
              <a:t>✅</a:t>
            </a:r>
          </a:p>
        </p:txBody>
      </p:sp>
      <p:sp>
        <p:nvSpPr>
          <p:cNvPr id="226" name="Rectangle 225"/>
          <p:cNvSpPr/>
          <p:nvPr/>
        </p:nvSpPr>
        <p:spPr>
          <a:xfrm>
            <a:off x="9692640" y="5961888"/>
            <a:ext cx="1645920" cy="30175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7" name="TextBox 226"/>
          <p:cNvSpPr txBox="1"/>
          <p:nvPr/>
        </p:nvSpPr>
        <p:spPr>
          <a:xfrm>
            <a:off x="9738360" y="5980176"/>
            <a:ext cx="1554480" cy="265176"/>
          </a:xfrm>
          <a:prstGeom prst="rect">
            <a:avLst/>
          </a:prstGeom>
          <a:noFill/>
        </p:spPr>
        <p:txBody>
          <a:bodyPr wrap="square">
            <a:spAutoFit/>
          </a:bodyPr>
          <a:lstStyle/>
          <a:p>
            <a:pPr algn="ctr">
              <a:defRPr sz="900" b="0">
                <a:solidFill>
                  <a:srgbClr val="E53E3E"/>
                </a:solidFill>
                <a:latin typeface="Calibri"/>
              </a:defRPr>
            </a:pPr>
            <a:r>
              <a:t>❌</a:t>
            </a:r>
          </a:p>
        </p:txBody>
      </p:sp>
      <p:sp>
        <p:nvSpPr>
          <p:cNvPr id="228" name="Rectangle 227"/>
          <p:cNvSpPr/>
          <p:nvPr/>
        </p:nvSpPr>
        <p:spPr>
          <a:xfrm>
            <a:off x="457200" y="6263640"/>
            <a:ext cx="2286000" cy="301752"/>
          </a:xfrm>
          <a:prstGeom prst="rect">
            <a:avLst/>
          </a:prstGeom>
          <a:solidFill>
            <a:srgbClr val="F5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9" name="TextBox 228"/>
          <p:cNvSpPr txBox="1"/>
          <p:nvPr/>
        </p:nvSpPr>
        <p:spPr>
          <a:xfrm>
            <a:off x="502920" y="6281928"/>
            <a:ext cx="2194560" cy="265176"/>
          </a:xfrm>
          <a:prstGeom prst="rect">
            <a:avLst/>
          </a:prstGeom>
          <a:noFill/>
        </p:spPr>
        <p:txBody>
          <a:bodyPr wrap="square">
            <a:spAutoFit/>
          </a:bodyPr>
          <a:lstStyle/>
          <a:p>
            <a:pPr algn="l">
              <a:defRPr sz="900" b="0">
                <a:solidFill>
                  <a:srgbClr val="333333"/>
                </a:solidFill>
                <a:latin typeface="Calibri"/>
              </a:defRPr>
            </a:pPr>
            <a:r>
              <a:t>Starting Price</a:t>
            </a:r>
          </a:p>
        </p:txBody>
      </p:sp>
      <p:sp>
        <p:nvSpPr>
          <p:cNvPr id="230" name="Rectangle 229"/>
          <p:cNvSpPr/>
          <p:nvPr/>
        </p:nvSpPr>
        <p:spPr>
          <a:xfrm>
            <a:off x="2743200" y="6263640"/>
            <a:ext cx="1645920" cy="301752"/>
          </a:xfrm>
          <a:prstGeom prst="rect">
            <a:avLst/>
          </a:prstGeom>
          <a:solidFill>
            <a:srgbClr val="F5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1" name="TextBox 230"/>
          <p:cNvSpPr txBox="1"/>
          <p:nvPr/>
        </p:nvSpPr>
        <p:spPr>
          <a:xfrm>
            <a:off x="2788920" y="6281928"/>
            <a:ext cx="1554480" cy="265176"/>
          </a:xfrm>
          <a:prstGeom prst="rect">
            <a:avLst/>
          </a:prstGeom>
          <a:noFill/>
        </p:spPr>
        <p:txBody>
          <a:bodyPr wrap="square">
            <a:spAutoFit/>
          </a:bodyPr>
          <a:lstStyle/>
          <a:p>
            <a:pPr algn="ctr">
              <a:defRPr sz="900" b="0">
                <a:solidFill>
                  <a:srgbClr val="333333"/>
                </a:solidFill>
                <a:latin typeface="Calibri"/>
              </a:defRPr>
            </a:pPr>
            <a:r>
              <a:t>$500/mo</a:t>
            </a:r>
          </a:p>
        </p:txBody>
      </p:sp>
      <p:sp>
        <p:nvSpPr>
          <p:cNvPr id="232" name="Rectangle 231"/>
          <p:cNvSpPr/>
          <p:nvPr/>
        </p:nvSpPr>
        <p:spPr>
          <a:xfrm>
            <a:off x="4389120" y="6263640"/>
            <a:ext cx="1371600" cy="301752"/>
          </a:xfrm>
          <a:prstGeom prst="rect">
            <a:avLst/>
          </a:prstGeom>
          <a:solidFill>
            <a:srgbClr val="F5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3" name="TextBox 232"/>
          <p:cNvSpPr txBox="1"/>
          <p:nvPr/>
        </p:nvSpPr>
        <p:spPr>
          <a:xfrm>
            <a:off x="4434840" y="6281928"/>
            <a:ext cx="1280160" cy="265176"/>
          </a:xfrm>
          <a:prstGeom prst="rect">
            <a:avLst/>
          </a:prstGeom>
          <a:noFill/>
        </p:spPr>
        <p:txBody>
          <a:bodyPr wrap="square">
            <a:spAutoFit/>
          </a:bodyPr>
          <a:lstStyle/>
          <a:p>
            <a:pPr algn="ctr">
              <a:defRPr sz="900" b="0">
                <a:solidFill>
                  <a:srgbClr val="333333"/>
                </a:solidFill>
                <a:latin typeface="Calibri"/>
              </a:defRPr>
            </a:pPr>
            <a:r>
              <a:t>~$1K/mo</a:t>
            </a:r>
          </a:p>
        </p:txBody>
      </p:sp>
      <p:sp>
        <p:nvSpPr>
          <p:cNvPr id="234" name="Rectangle 233"/>
          <p:cNvSpPr/>
          <p:nvPr/>
        </p:nvSpPr>
        <p:spPr>
          <a:xfrm>
            <a:off x="5760720" y="6263640"/>
            <a:ext cx="1371600" cy="301752"/>
          </a:xfrm>
          <a:prstGeom prst="rect">
            <a:avLst/>
          </a:prstGeom>
          <a:solidFill>
            <a:srgbClr val="F5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5" name="TextBox 234"/>
          <p:cNvSpPr txBox="1"/>
          <p:nvPr/>
        </p:nvSpPr>
        <p:spPr>
          <a:xfrm>
            <a:off x="5806440" y="6281928"/>
            <a:ext cx="1280160" cy="265176"/>
          </a:xfrm>
          <a:prstGeom prst="rect">
            <a:avLst/>
          </a:prstGeom>
          <a:noFill/>
        </p:spPr>
        <p:txBody>
          <a:bodyPr wrap="square">
            <a:spAutoFit/>
          </a:bodyPr>
          <a:lstStyle/>
          <a:p>
            <a:pPr algn="ctr">
              <a:defRPr sz="900" b="0">
                <a:solidFill>
                  <a:srgbClr val="333333"/>
                </a:solidFill>
                <a:latin typeface="Calibri"/>
              </a:defRPr>
            </a:pPr>
            <a:r>
              <a:t>~$4K/mo</a:t>
            </a:r>
          </a:p>
        </p:txBody>
      </p:sp>
      <p:sp>
        <p:nvSpPr>
          <p:cNvPr id="236" name="Rectangle 235"/>
          <p:cNvSpPr/>
          <p:nvPr/>
        </p:nvSpPr>
        <p:spPr>
          <a:xfrm>
            <a:off x="7132320" y="6263640"/>
            <a:ext cx="1371600" cy="301752"/>
          </a:xfrm>
          <a:prstGeom prst="rect">
            <a:avLst/>
          </a:prstGeom>
          <a:solidFill>
            <a:srgbClr val="F5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7" name="TextBox 236"/>
          <p:cNvSpPr txBox="1"/>
          <p:nvPr/>
        </p:nvSpPr>
        <p:spPr>
          <a:xfrm>
            <a:off x="7178040" y="6281928"/>
            <a:ext cx="1280160" cy="265176"/>
          </a:xfrm>
          <a:prstGeom prst="rect">
            <a:avLst/>
          </a:prstGeom>
          <a:noFill/>
        </p:spPr>
        <p:txBody>
          <a:bodyPr wrap="square">
            <a:spAutoFit/>
          </a:bodyPr>
          <a:lstStyle/>
          <a:p>
            <a:pPr algn="ctr">
              <a:defRPr sz="900" b="0">
                <a:solidFill>
                  <a:srgbClr val="333333"/>
                </a:solidFill>
                <a:latin typeface="Calibri"/>
              </a:defRPr>
            </a:pPr>
            <a:r>
              <a:t>~$3K/mo</a:t>
            </a:r>
          </a:p>
        </p:txBody>
      </p:sp>
      <p:sp>
        <p:nvSpPr>
          <p:cNvPr id="238" name="Rectangle 237"/>
          <p:cNvSpPr/>
          <p:nvPr/>
        </p:nvSpPr>
        <p:spPr>
          <a:xfrm>
            <a:off x="8503920" y="6263640"/>
            <a:ext cx="1188720" cy="301752"/>
          </a:xfrm>
          <a:prstGeom prst="rect">
            <a:avLst/>
          </a:prstGeom>
          <a:solidFill>
            <a:srgbClr val="F5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9" name="TextBox 238"/>
          <p:cNvSpPr txBox="1"/>
          <p:nvPr/>
        </p:nvSpPr>
        <p:spPr>
          <a:xfrm>
            <a:off x="8549640" y="6281928"/>
            <a:ext cx="1097280" cy="265176"/>
          </a:xfrm>
          <a:prstGeom prst="rect">
            <a:avLst/>
          </a:prstGeom>
          <a:noFill/>
        </p:spPr>
        <p:txBody>
          <a:bodyPr wrap="square">
            <a:spAutoFit/>
          </a:bodyPr>
          <a:lstStyle/>
          <a:p>
            <a:pPr algn="ctr">
              <a:defRPr sz="900" b="0">
                <a:solidFill>
                  <a:srgbClr val="333333"/>
                </a:solidFill>
                <a:latin typeface="Calibri"/>
              </a:defRPr>
            </a:pPr>
            <a:r>
              <a:t>~$1K/mo</a:t>
            </a:r>
          </a:p>
        </p:txBody>
      </p:sp>
      <p:sp>
        <p:nvSpPr>
          <p:cNvPr id="240" name="Rectangle 239"/>
          <p:cNvSpPr/>
          <p:nvPr/>
        </p:nvSpPr>
        <p:spPr>
          <a:xfrm>
            <a:off x="9692640" y="6263640"/>
            <a:ext cx="1645920" cy="301752"/>
          </a:xfrm>
          <a:prstGeom prst="rect">
            <a:avLst/>
          </a:prstGeom>
          <a:solidFill>
            <a:srgbClr val="F5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1" name="TextBox 240"/>
          <p:cNvSpPr txBox="1"/>
          <p:nvPr/>
        </p:nvSpPr>
        <p:spPr>
          <a:xfrm>
            <a:off x="9738360" y="6281928"/>
            <a:ext cx="1554480" cy="265176"/>
          </a:xfrm>
          <a:prstGeom prst="rect">
            <a:avLst/>
          </a:prstGeom>
          <a:noFill/>
        </p:spPr>
        <p:txBody>
          <a:bodyPr wrap="square">
            <a:spAutoFit/>
          </a:bodyPr>
          <a:lstStyle/>
          <a:p>
            <a:pPr algn="ctr">
              <a:defRPr sz="900" b="0">
                <a:solidFill>
                  <a:srgbClr val="333333"/>
                </a:solidFill>
                <a:latin typeface="Calibri"/>
              </a:defRPr>
            </a:pPr>
            <a:r>
              <a:t>$10/seat</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0B233A"/>
        </a:solidFill>
        <a:effectLst/>
      </p:bgPr>
    </p:bg>
    <p:spTree>
      <p:nvGrpSpPr>
        <p:cNvPr id="1" name=""/>
        <p:cNvGrpSpPr/>
        <p:nvPr/>
      </p:nvGrpSpPr>
      <p:grpSpPr/>
      <p:sp>
        <p:nvSpPr>
          <p:cNvPr id="2" name="TextBox 1"/>
          <p:cNvSpPr txBox="1"/>
          <p:nvPr/>
        </p:nvSpPr>
        <p:spPr>
          <a:xfrm>
            <a:off x="914400" y="731520"/>
            <a:ext cx="10058400" cy="914400"/>
          </a:xfrm>
          <a:prstGeom prst="rect">
            <a:avLst/>
          </a:prstGeom>
          <a:noFill/>
        </p:spPr>
        <p:txBody>
          <a:bodyPr wrap="square">
            <a:spAutoFit/>
          </a:bodyPr>
          <a:lstStyle/>
          <a:p>
            <a:pPr algn="ctr">
              <a:defRPr sz="4200" b="1">
                <a:solidFill>
                  <a:srgbClr val="FFFFFF"/>
                </a:solidFill>
                <a:latin typeface="Calibri"/>
              </a:defRPr>
            </a:pPr>
            <a:r>
              <a:t>Why Control Tower?</a:t>
            </a:r>
          </a:p>
        </p:txBody>
      </p:sp>
      <p:sp>
        <p:nvSpPr>
          <p:cNvPr id="3" name="TextBox 2"/>
          <p:cNvSpPr txBox="1"/>
          <p:nvPr/>
        </p:nvSpPr>
        <p:spPr>
          <a:xfrm>
            <a:off x="1371600" y="1737360"/>
            <a:ext cx="9144000" cy="3840480"/>
          </a:xfrm>
          <a:prstGeom prst="rect">
            <a:avLst/>
          </a:prstGeom>
          <a:noFill/>
        </p:spPr>
        <p:txBody>
          <a:bodyPr wrap="square">
            <a:spAutoFit/>
          </a:bodyPr>
          <a:lstStyle/>
          <a:p>
            <a:pPr algn="ctr">
              <a:defRPr sz="1500" b="0">
                <a:solidFill>
                  <a:srgbClr val="FFFFFF"/>
                </a:solidFill>
                <a:latin typeface="Calibri"/>
              </a:defRPr>
            </a:pPr>
            <a:r>
              <a:t>The only platform purpose-built for FDA 510(k) medical device development.</a:t>
            </a:r>
            <a:br/>
            <a:br/>
            <a:r>
              <a:t>✓  Replaces 6+ standalone tools (PM, QMS, risk, finance, investor, comms)</a:t>
            </a:r>
            <a:br/>
            <a:r>
              <a:t>✓  18 integrated tabs including Predicate Finder &amp; FDA Guidance Doc Search</a:t>
            </a:r>
            <a:br/>
            <a:r>
              <a:t>✓  Automates FDA Q-Sub generation, RTA pre-checks, and MDUFA timeline tracking</a:t>
            </a:r>
            <a:br/>
            <a:r>
              <a:t>✓  Stakeholder Inputs, Change Requests &amp; Regulatory Readiness Guardrails</a:t>
            </a:r>
            <a:br/>
            <a:r>
              <a:t>✓  QMS-Lite maps 9 core quality requirements — 80% QMS at startup pricing</a:t>
            </a:r>
            <a:br/>
            <a:r>
              <a:t>✓  Trilingual for US-China and US-Korea market corridors</a:t>
            </a:r>
            <a:br/>
            <a:r>
              <a:t>✓  21 CFR Part 11 audit trail from Day 1  •  7 device templates</a:t>
            </a:r>
            <a:br/>
            <a:r>
              <a:t>✓  Starting at $500/month — 10× cheaper than enterprise QMS platforms</a:t>
            </a:r>
            <a:br/>
            <a:br/>
            <a:r>
              <a:t>From Pre-Submission to FDA Clearance — one platform, one team, one source of truth.</a:t>
            </a:r>
          </a:p>
        </p:txBody>
      </p:sp>
      <p:sp>
        <p:nvSpPr>
          <p:cNvPr id="4" name="Rectangle 3"/>
          <p:cNvSpPr/>
          <p:nvPr/>
        </p:nvSpPr>
        <p:spPr>
          <a:xfrm>
            <a:off x="3657600" y="5669280"/>
            <a:ext cx="4846320" cy="27432"/>
          </a:xfrm>
          <a:prstGeom prst="rect">
            <a:avLst/>
          </a:prstGeom>
          <a:solidFill>
            <a:srgbClr val="0096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5897880"/>
            <a:ext cx="10058400" cy="731520"/>
          </a:xfrm>
          <a:prstGeom prst="rect">
            <a:avLst/>
          </a:prstGeom>
          <a:noFill/>
        </p:spPr>
        <p:txBody>
          <a:bodyPr wrap="square">
            <a:spAutoFit/>
          </a:bodyPr>
          <a:lstStyle/>
          <a:p>
            <a:pPr algn="ctr">
              <a:defRPr sz="1600" b="0">
                <a:solidFill>
                  <a:srgbClr val="009688"/>
                </a:solidFill>
                <a:latin typeface="Calibri"/>
              </a:defRPr>
            </a:pPr>
            <a:r>
              <a:t>510(k) Bridge  •  Gresham, Oregon  •  www.510kbridge.com</a:t>
            </a:r>
            <a:br/>
            <a:r>
              <a:t>Schedule a Demo  •  info@510kbridge.com</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